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74" r:id="rId3"/>
    <p:sldId id="257" r:id="rId4"/>
    <p:sldId id="258" r:id="rId5"/>
    <p:sldId id="271" r:id="rId6"/>
    <p:sldId id="272" r:id="rId7"/>
    <p:sldId id="273"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CA72E9C1-1D60-864C-74E1-ADBA353CA26F}">
          <p14:sldIdLst>
            <p14:sldId id="256"/>
            <p14:sldId id="274"/>
            <p14:sldId id="257"/>
            <p14:sldId id="258"/>
          </p14:sldIdLst>
        </p14:section>
        <p14:section name="User interface" id="{8A0D3027-E531-45DA-8458-07A76DE06822}">
          <p14:sldIdLst>
            <p14:sldId id="271"/>
            <p14:sldId id="272"/>
            <p14:sldId id="273"/>
          </p14:sldIdLst>
        </p14:section>
        <p14:section name="Design" id="{644E8959-92DD-CEC8-D217-AAAC8BC083A9}">
          <p14:sldIdLst>
            <p14:sldId id="259"/>
            <p14:sldId id="260"/>
            <p14:sldId id="261"/>
            <p14:sldId id="262"/>
          </p14:sldIdLst>
        </p14:section>
        <p14:section name="Implementation" id="{3F8B2162-A3B9-B60E-DFCA-09704D54EDA0}">
          <p14:sldIdLst>
            <p14:sldId id="263"/>
            <p14:sldId id="264"/>
            <p14:sldId id="265"/>
            <p14:sldId id="266"/>
            <p14:sldId id="267"/>
          </p14:sldIdLst>
        </p14:section>
        <p14:section name="Wrap-up" id="{5C24EB3A-7E08-423B-9C47-FCD194417377}">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5A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19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99363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FitPro is a full-stack Java web application where trainers publish workout programs and members enrol, log sessions and track calories. It is built with Servlets, JSP, JDBC and MySQL.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Start by explaining what FitPro is in one or two sentences: an online fitness platform where trainers publish programs and members enrol, log sessions and track calories. Then walk through the five parts of the presentation using the agenda: the problem and features, the technology and design, the core Java implementation, the application screens, and finally the rubric coverage, demo and future scope.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gap: people want structured training and progress tracking without expensive gym memberships, and independent trainers lack a simple place to publish programs. FitPro solves both with one platform.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roles share one login system. Members train and track; trainers publish programs. Role checks are enforced on the server, not only hidden in the interface.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entry point of the application. The form is validated in the browser by app.js and again on the server. LoginServlet asks AuthService to verify the password against the salted PBKDF2 hash. A wrong email or password shows one generic message so attackers learn nothing. On success the old session is discarded and a new one is created, which prevents session fixation, and the user is redirected to the dashboard.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After login the member lands here. The totals are calculated by ProgressService from the logged sessions, so a new member sees zeros. The enrolled list comes from the enrollments table. The calories chart stays empty until the member logs a session on the My Progress page. A trainer sees a different dashboard with publishing tools instead of these statistics, because the welcome message and role behaviour are overridden per subclass.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catalogue. Each card is one Workout object; the type badge reflects the subclass (Cardio, Strength or Yoga). The chips filter with a type parameter handled by the servlet. Enroll Now posts to the same servlet, which checks that the user is a member and not already enrolled before saving. Trainers see a publish form on this page instead of the Enroll buttons.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layer uses a standard, industry-relevant technology. JSP with JSTL for the views, Java 11 servlets for control, MySQL accessed through plain JDBC, Maven for the build and Tomcat 9 as the server.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request flows left to right: the browser calls a servlet (controller), which delegates to a service (business rules), which uses a DAO (JDBC) to talk to MySQL. JSP pages render the response. Keeping layers separate makes the code modular and easy to test.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repository is organised by responsibility. Model holds entities, dao holds JDBC code, service holds logic, servlet holds controllers. This clean structure is what the README documents for anyone cloning the project from GitHub.</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tables. users stores both roles. workouts are optionally owned by a trainer. enrollments is a join table between members and workouts with a unique constraint. progress_logs stores each session with the calories calculated by the workout object.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is abstract with two subclasses that override getRole and getWelcomeMessage. Workout is abstract and implements the CalorieCalculable interface. Each workout type has its own formula, so the same method call gives different results. The numbers shown come from running the actual code.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BaseDAO is a generic interface reused by every DAO. Sets give constant-time enrolment checks, TreeMap with streams groups calories by workout. A single checked AppException wraps low-level SQL errors so the user only ever sees a friendly message.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Sending a welcome or enrolment notification is slow in real life, so it runs on a two-thread pool and the web request returns immediately. Several pool threads update one shared counter, so the increment is synchronized to avoid race conditions.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DBConnection loads the driver once and reads db.properties, with environment variables overriding it. All SQL uses PreparedStatement. On the web side, six servlets cover the whole application and AuthFilter protects every URL under /app.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built in at several levels: salted PBKDF2 password hashing, prepared statements against SQL injection, escaped output against XSS, and session handling plus server-side role checks. CSRF tokens are listed as future work.</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maps the Java Web Based Projects rubric to what was built. The GUI rubric topics, collections and generics, multithreading and synchronization, and database classes, are covered as well.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demo in this order: it shows both roles and every layer. Then mention the planned improvements: CSRF tokens, admin approval for trainers, video lessons, chat and a REST API.</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thanking the audience and inviting questions. Share the GitHub link so they can clone and run the project.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6949440" cy="1371600"/>
          </a:xfrm>
          <a:prstGeom prst="rect">
            <a:avLst/>
          </a:prstGeom>
          <a:noFill/>
          <a:ln/>
        </p:spPr>
        <p:txBody>
          <a:bodyPr wrap="square" rtlCol="0"/>
          <a:lstStyle>
            <a:lvl1pPr marL="0" indent="0" algn="l">
              <a:buNone/>
              <a:defRPr lang="en-US" sz="6000" b="1" dirty="0">
                <a:solidFill>
                  <a:schemeClr val="bg1"/>
                </a:solidFill>
              </a:defRPr>
            </a:lvl1pPr>
          </a:lstStyle>
          <a:p>
            <a:pPr marL="0" indent="0" algn="l">
              <a:buNone/>
            </a:pPr>
            <a:endParaRPr lang="en-US" sz="6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6B7280"/>
                </a:solidFill>
              </a:rPr>
              <a:t>FitPro  |  Online Fitness Training Platform</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9CA3AF"/>
                </a:solidFill>
              </a:rPr>
              <a:t>FitPro  |  Online Fitness Training Platform</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CA3AF"/>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6949440" cy="1371600"/>
          </a:xfrm>
          <a:prstGeom prst="rect">
            <a:avLst/>
          </a:prstGeom>
          <a:noFill/>
          <a:ln/>
        </p:spPr>
        <p:txBody>
          <a:bodyPr wrap="square" lIns="0" tIns="0" rIns="0" bIns="0" rtlCol="0" anchor="b"/>
          <a:lstStyle/>
          <a:p>
            <a:pPr marL="0" indent="0" algn="l">
              <a:buNone/>
            </a:pPr>
            <a:r>
              <a:rPr lang="en-US" sz="6000" b="1" dirty="0">
                <a:solidFill>
                  <a:schemeClr val="bg1"/>
                </a:solidFill>
              </a:rPr>
              <a:t>FitPro</a:t>
            </a:r>
            <a:endParaRPr lang="en-US" sz="6000" dirty="0"/>
          </a:p>
        </p:txBody>
      </p:sp>
      <p:sp>
        <p:nvSpPr>
          <p:cNvPr id="3" name="Text 1"/>
          <p:cNvSpPr txBox="1"/>
          <p:nvPr/>
        </p:nvSpPr>
        <p:spPr>
          <a:xfrm>
            <a:off x="731520" y="3566160"/>
            <a:ext cx="6949440" cy="548640"/>
          </a:xfrm>
          <a:prstGeom prst="rect">
            <a:avLst/>
          </a:prstGeom>
          <a:noFill/>
          <a:ln/>
        </p:spPr>
        <p:txBody>
          <a:bodyPr wrap="square" lIns="0" tIns="0" rIns="0" bIns="0" rtlCol="0" anchor="t"/>
          <a:lstStyle/>
          <a:p>
            <a:pPr marL="0" indent="0">
              <a:buNone/>
            </a:pPr>
            <a:r>
              <a:rPr lang="en-US" sz="2600" b="1" dirty="0">
                <a:solidFill>
                  <a:schemeClr val="accent1"/>
                </a:solidFill>
              </a:rPr>
              <a:t>Online Fitness Training Platform</a:t>
            </a:r>
            <a:endParaRPr lang="en-US" sz="2600" dirty="0"/>
          </a:p>
        </p:txBody>
      </p:sp>
      <p:sp>
        <p:nvSpPr>
          <p:cNvPr id="4" name="Text 2"/>
          <p:cNvSpPr txBox="1"/>
          <p:nvPr/>
        </p:nvSpPr>
        <p:spPr>
          <a:xfrm>
            <a:off x="731520" y="4206240"/>
            <a:ext cx="6949440" cy="365760"/>
          </a:xfrm>
          <a:prstGeom prst="rect">
            <a:avLst/>
          </a:prstGeom>
          <a:noFill/>
          <a:ln/>
        </p:spPr>
        <p:txBody>
          <a:bodyPr wrap="square" lIns="0" tIns="0" rIns="0" bIns="0" rtlCol="0" anchor="t"/>
          <a:lstStyle/>
          <a:p>
            <a:pPr marL="0" indent="0">
              <a:buNone/>
            </a:pPr>
            <a:r>
              <a:rPr lang="en-US" sz="1800" dirty="0">
                <a:solidFill>
                  <a:schemeClr val="bg1"/>
                </a:solidFill>
              </a:rPr>
              <a:t>Java Servlets  |  JSP  |  JDBC  |  MySQL</a:t>
            </a:r>
            <a:endParaRPr lang="en-US" sz="1800" dirty="0"/>
          </a:p>
        </p:txBody>
      </p:sp>
      <p:sp>
        <p:nvSpPr>
          <p:cNvPr id="6" name="hero-circle"/>
          <p:cNvSpPr/>
          <p:nvPr/>
        </p:nvSpPr>
        <p:spPr>
          <a:xfrm>
            <a:off x="8229600" y="1554480"/>
            <a:ext cx="3474720" cy="3474720"/>
          </a:xfrm>
          <a:prstGeom prst="ellipse">
            <a:avLst/>
          </a:prstGeom>
          <a:solidFill>
            <a:schemeClr val="accent1"/>
          </a:solidFill>
          <a:ln/>
        </p:spPr>
      </p:sp>
      <p:pic>
        <p:nvPicPr>
          <p:cNvPr id="7" name="hero-icon" descr="preencoded.png"/>
          <p:cNvPicPr>
            <a:picLocks noChangeAspect="1"/>
          </p:cNvPicPr>
          <p:nvPr/>
        </p:nvPicPr>
        <p:blipFill>
          <a:blip r:embed="rId3"/>
          <a:stretch>
            <a:fillRect/>
          </a:stretch>
        </p:blipFill>
        <p:spPr>
          <a:xfrm>
            <a:off x="8961120" y="2286000"/>
            <a:ext cx="2011680" cy="2011680"/>
          </a:xfrm>
          <a:prstGeom prst="rect">
            <a:avLst/>
          </a:prstGeom>
        </p:spPr>
      </p:pic>
      <p:sp>
        <p:nvSpPr>
          <p:cNvPr id="8" name="TextBox 7"/>
          <p:cNvSpPr txBox="1"/>
          <p:nvPr/>
        </p:nvSpPr>
        <p:spPr>
          <a:xfrm>
            <a:off x="731520" y="4663440"/>
            <a:ext cx="4274820" cy="2123658"/>
          </a:xfrm>
          <a:prstGeom prst="rect">
            <a:avLst/>
          </a:prstGeom>
          <a:solidFill>
            <a:schemeClr val="accent1"/>
          </a:solidFill>
        </p:spPr>
        <p:txBody>
          <a:bodyPr wrap="square" rtlCol="0">
            <a:spAutoFit/>
          </a:bodyPr>
          <a:lstStyle/>
          <a:p>
            <a:pPr lvl="3"/>
            <a:r>
              <a:rPr lang="en-US" dirty="0" smtClean="0">
                <a:solidFill>
                  <a:schemeClr val="bg2">
                    <a:lumMod val="10000"/>
                  </a:schemeClr>
                </a:solidFill>
                <a:latin typeface="Arial Black" panose="020B0A04020102020204" pitchFamily="34" charset="0"/>
              </a:rPr>
              <a:t>Team Info</a:t>
            </a:r>
          </a:p>
          <a:p>
            <a:r>
              <a:rPr lang="en-US" dirty="0" smtClean="0"/>
              <a:t/>
            </a:r>
            <a:br>
              <a:rPr lang="en-US" dirty="0" smtClean="0"/>
            </a:br>
            <a:r>
              <a:rPr lang="en-US" sz="1200" b="1" dirty="0" smtClean="0">
                <a:solidFill>
                  <a:srgbClr val="000000"/>
                </a:solidFill>
                <a:latin typeface="Arial Rounded MT Bold" panose="020F0704030504030204" pitchFamily="34" charset="0"/>
              </a:rPr>
              <a:t>Aditya Singh</a:t>
            </a:r>
            <a:br>
              <a:rPr lang="en-US" sz="1200" b="1" dirty="0" smtClean="0">
                <a:solidFill>
                  <a:srgbClr val="000000"/>
                </a:solidFill>
                <a:latin typeface="Arial Rounded MT Bold" panose="020F0704030504030204" pitchFamily="34" charset="0"/>
              </a:rPr>
            </a:br>
            <a:r>
              <a:rPr lang="en-US" sz="1200" b="1" dirty="0" smtClean="0">
                <a:solidFill>
                  <a:srgbClr val="000000"/>
                </a:solidFill>
                <a:latin typeface="Arial Rounded MT Bold" panose="020F0704030504030204" pitchFamily="34" charset="0"/>
              </a:rPr>
              <a:t>25scse1180171</a:t>
            </a:r>
          </a:p>
          <a:p>
            <a:pPr marL="285750" indent="-285750">
              <a:buFont typeface="Arial" panose="020B0604020202020204" pitchFamily="34" charset="0"/>
              <a:buChar char="•"/>
            </a:pPr>
            <a:endParaRPr lang="en-US" sz="1200" b="1" dirty="0" smtClean="0">
              <a:solidFill>
                <a:srgbClr val="000000"/>
              </a:solidFill>
              <a:latin typeface="Arial Rounded MT Bold" panose="020F0704030504030204" pitchFamily="34" charset="0"/>
            </a:endParaRPr>
          </a:p>
          <a:p>
            <a:r>
              <a:rPr lang="en-US" sz="1200" b="1" dirty="0" err="1" smtClean="0">
                <a:solidFill>
                  <a:srgbClr val="000000"/>
                </a:solidFill>
                <a:latin typeface="Arial Rounded MT Bold" panose="020F0704030504030204" pitchFamily="34" charset="0"/>
              </a:rPr>
              <a:t>Manik</a:t>
            </a:r>
            <a:r>
              <a:rPr lang="en-US" sz="1200" b="1" dirty="0" smtClean="0">
                <a:solidFill>
                  <a:srgbClr val="000000"/>
                </a:solidFill>
                <a:latin typeface="Arial Rounded MT Bold" panose="020F0704030504030204" pitchFamily="34" charset="0"/>
              </a:rPr>
              <a:t/>
            </a:r>
            <a:br>
              <a:rPr lang="en-US" sz="1200" b="1" dirty="0" smtClean="0">
                <a:solidFill>
                  <a:srgbClr val="000000"/>
                </a:solidFill>
                <a:latin typeface="Arial Rounded MT Bold" panose="020F0704030504030204" pitchFamily="34" charset="0"/>
              </a:rPr>
            </a:br>
            <a:r>
              <a:rPr lang="en-US" sz="1200" b="1" dirty="0" smtClean="0">
                <a:solidFill>
                  <a:srgbClr val="000000"/>
                </a:solidFill>
                <a:latin typeface="Arial Rounded MT Bold" panose="020F0704030504030204" pitchFamily="34" charset="0"/>
              </a:rPr>
              <a:t>25scse1180216</a:t>
            </a:r>
          </a:p>
          <a:p>
            <a:r>
              <a:rPr lang="en-US" sz="1200" b="1" dirty="0" smtClean="0">
                <a:solidFill>
                  <a:srgbClr val="000000"/>
                </a:solidFill>
                <a:latin typeface="Arial Rounded MT Bold" panose="020F0704030504030204" pitchFamily="34" charset="0"/>
              </a:rPr>
              <a:t/>
            </a:r>
            <a:br>
              <a:rPr lang="en-US" sz="1200" b="1" dirty="0" smtClean="0">
                <a:solidFill>
                  <a:srgbClr val="000000"/>
                </a:solidFill>
                <a:latin typeface="Arial Rounded MT Bold" panose="020F0704030504030204" pitchFamily="34" charset="0"/>
              </a:rPr>
            </a:br>
            <a:r>
              <a:rPr lang="en-US" sz="1200" b="1" dirty="0" err="1">
                <a:solidFill>
                  <a:srgbClr val="000000"/>
                </a:solidFill>
                <a:latin typeface="Arial Rounded MT Bold" panose="020F0704030504030204" pitchFamily="34" charset="0"/>
              </a:rPr>
              <a:t>H</a:t>
            </a:r>
            <a:r>
              <a:rPr lang="en-US" sz="1200" b="1" dirty="0" err="1" smtClean="0">
                <a:solidFill>
                  <a:srgbClr val="000000"/>
                </a:solidFill>
                <a:latin typeface="Arial Rounded MT Bold" panose="020F0704030504030204" pitchFamily="34" charset="0"/>
              </a:rPr>
              <a:t>arshit</a:t>
            </a:r>
            <a:r>
              <a:rPr lang="en-US" sz="1200" b="1" dirty="0" smtClean="0">
                <a:solidFill>
                  <a:srgbClr val="000000"/>
                </a:solidFill>
                <a:latin typeface="Arial Rounded MT Bold" panose="020F0704030504030204" pitchFamily="34" charset="0"/>
              </a:rPr>
              <a:t> vats</a:t>
            </a:r>
          </a:p>
          <a:p>
            <a:r>
              <a:rPr lang="en-US" sz="1200" b="1" dirty="0" smtClean="0">
                <a:solidFill>
                  <a:srgbClr val="000000"/>
                </a:solidFill>
                <a:latin typeface="Arial Rounded MT Bold" panose="020F0704030504030204" pitchFamily="34" charset="0"/>
              </a:rPr>
              <a:t>25scse1180097</a:t>
            </a:r>
            <a:endParaRPr lang="en-US" sz="1200" b="1" dirty="0">
              <a:solidFill>
                <a:srgbClr val="000000"/>
              </a:solidFill>
              <a:latin typeface="Arial Rounded MT Bold" panose="020F07040305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agenda-row"/>
          <p:cNvSpPr/>
          <p:nvPr/>
        </p:nvSpPr>
        <p:spPr>
          <a:xfrm>
            <a:off x="6309360" y="4279392"/>
            <a:ext cx="5577840" cy="822960"/>
          </a:xfrm>
          <a:prstGeom prst="roundRect">
            <a:avLst>
              <a:gd name="adj" fmla="val 12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idx="100"/>
          </p:nvPr>
        </p:nvSpPr>
        <p:spPr/>
        <p:txBody>
          <a:bodyPr/>
          <a:lstStyle/>
          <a:p>
            <a:r>
              <a:t>What this presentation covers</a:t>
            </a:r>
          </a:p>
        </p:txBody>
      </p:sp>
      <p:sp>
        <p:nvSpPr>
          <p:cNvPr id="3" name="about-card"/>
          <p:cNvSpPr/>
          <p:nvPr/>
        </p:nvSpPr>
        <p:spPr>
          <a:xfrm>
            <a:off x="548640" y="1463040"/>
            <a:ext cx="5212080" cy="45720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about-heading"/>
          <p:cNvSpPr txBox="1"/>
          <p:nvPr/>
        </p:nvSpPr>
        <p:spPr>
          <a:xfrm>
            <a:off x="868680" y="1691640"/>
            <a:ext cx="4572000" cy="411480"/>
          </a:xfrm>
          <a:prstGeom prst="rect">
            <a:avLst/>
          </a:prstGeom>
          <a:noFill/>
        </p:spPr>
        <p:txBody>
          <a:bodyPr wrap="square" lIns="0" tIns="0" rIns="0" bIns="0">
            <a:spAutoFit/>
          </a:bodyPr>
          <a:lstStyle/>
          <a:p>
            <a:r>
              <a:rPr sz="2000" b="1">
                <a:solidFill>
                  <a:schemeClr val="tx1"/>
                </a:solidFill>
              </a:rPr>
              <a:t>About FitPro</a:t>
            </a:r>
          </a:p>
        </p:txBody>
      </p:sp>
      <p:sp>
        <p:nvSpPr>
          <p:cNvPr id="5" name="about-text"/>
          <p:cNvSpPr txBox="1"/>
          <p:nvPr/>
        </p:nvSpPr>
        <p:spPr>
          <a:xfrm>
            <a:off x="868680" y="2240280"/>
            <a:ext cx="4572000" cy="2468880"/>
          </a:xfrm>
          <a:prstGeom prst="rect">
            <a:avLst/>
          </a:prstGeom>
          <a:noFill/>
        </p:spPr>
        <p:txBody>
          <a:bodyPr wrap="square" lIns="0" tIns="0" rIns="0" bIns="0">
            <a:spAutoFit/>
          </a:bodyPr>
          <a:lstStyle/>
          <a:p>
            <a:pPr>
              <a:spcAft>
                <a:spcPts val="1000"/>
              </a:spcAft>
            </a:pPr>
            <a:r>
              <a:rPr sz="1600" b="0">
                <a:solidFill>
                  <a:schemeClr val="tx1"/>
                </a:solidFill>
              </a:rPr>
              <a:t>FitPro is an online fitness training platform built in Java. Trainers publish workout programs, and members enrol, log their sessions and track the calories they burn.</a:t>
            </a:r>
          </a:p>
          <a:p>
            <a:pPr>
              <a:spcAft>
                <a:spcPts val="1000"/>
              </a:spcAft>
            </a:pPr>
            <a:r>
              <a:rPr sz="1600" b="0">
                <a:solidFill>
                  <a:schemeClr val="tx1"/>
                </a:solidFill>
              </a:rPr>
              <a:t>This presentation explains the problem, the design, how the code is built, and a walkthrough of the working screens.</a:t>
            </a:r>
          </a:p>
        </p:txBody>
      </p:sp>
      <p:sp>
        <p:nvSpPr>
          <p:cNvPr id="6" name="fact-tile"/>
          <p:cNvSpPr/>
          <p:nvPr/>
        </p:nvSpPr>
        <p:spPr>
          <a:xfrm>
            <a:off x="868680" y="4846320"/>
            <a:ext cx="1417320" cy="914400"/>
          </a:xfrm>
          <a:prstGeom prst="roundRect">
            <a:avLst>
              <a:gd name="adj" fmla="val 1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act-number"/>
          <p:cNvSpPr txBox="1"/>
          <p:nvPr/>
        </p:nvSpPr>
        <p:spPr>
          <a:xfrm>
            <a:off x="868680" y="4919472"/>
            <a:ext cx="1417320" cy="502920"/>
          </a:xfrm>
          <a:prstGeom prst="rect">
            <a:avLst/>
          </a:prstGeom>
          <a:noFill/>
        </p:spPr>
        <p:txBody>
          <a:bodyPr wrap="square" lIns="0" tIns="0" rIns="0" bIns="0">
            <a:spAutoFit/>
          </a:bodyPr>
          <a:lstStyle/>
          <a:p>
            <a:pPr algn="ctr"/>
            <a:r>
              <a:rPr sz="2800" b="1">
                <a:solidFill>
                  <a:schemeClr val="accent1"/>
                </a:solidFill>
              </a:rPr>
              <a:t>2</a:t>
            </a:r>
          </a:p>
        </p:txBody>
      </p:sp>
      <p:sp>
        <p:nvSpPr>
          <p:cNvPr id="8" name="fact-label"/>
          <p:cNvSpPr txBox="1"/>
          <p:nvPr/>
        </p:nvSpPr>
        <p:spPr>
          <a:xfrm>
            <a:off x="868680" y="5422392"/>
            <a:ext cx="1417320" cy="274320"/>
          </a:xfrm>
          <a:prstGeom prst="rect">
            <a:avLst/>
          </a:prstGeom>
          <a:noFill/>
        </p:spPr>
        <p:txBody>
          <a:bodyPr wrap="square" lIns="0" tIns="0" rIns="0" bIns="0">
            <a:spAutoFit/>
          </a:bodyPr>
          <a:lstStyle/>
          <a:p>
            <a:pPr algn="ctr"/>
            <a:r>
              <a:rPr sz="1200" b="0">
                <a:solidFill>
                  <a:schemeClr val="bg1"/>
                </a:solidFill>
              </a:rPr>
              <a:t>user roles</a:t>
            </a:r>
          </a:p>
        </p:txBody>
      </p:sp>
      <p:sp>
        <p:nvSpPr>
          <p:cNvPr id="9" name="fact-tile"/>
          <p:cNvSpPr/>
          <p:nvPr/>
        </p:nvSpPr>
        <p:spPr>
          <a:xfrm>
            <a:off x="2441448" y="4846320"/>
            <a:ext cx="1417320" cy="914400"/>
          </a:xfrm>
          <a:prstGeom prst="roundRect">
            <a:avLst>
              <a:gd name="adj" fmla="val 1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fact-number"/>
          <p:cNvSpPr txBox="1"/>
          <p:nvPr/>
        </p:nvSpPr>
        <p:spPr>
          <a:xfrm>
            <a:off x="2441448" y="4919472"/>
            <a:ext cx="1417320" cy="502920"/>
          </a:xfrm>
          <a:prstGeom prst="rect">
            <a:avLst/>
          </a:prstGeom>
          <a:noFill/>
        </p:spPr>
        <p:txBody>
          <a:bodyPr wrap="square" lIns="0" tIns="0" rIns="0" bIns="0">
            <a:spAutoFit/>
          </a:bodyPr>
          <a:lstStyle/>
          <a:p>
            <a:pPr algn="ctr"/>
            <a:r>
              <a:rPr sz="2800" b="1">
                <a:solidFill>
                  <a:schemeClr val="accent1"/>
                </a:solidFill>
              </a:rPr>
              <a:t>4</a:t>
            </a:r>
          </a:p>
        </p:txBody>
      </p:sp>
      <p:sp>
        <p:nvSpPr>
          <p:cNvPr id="11" name="fact-label"/>
          <p:cNvSpPr txBox="1"/>
          <p:nvPr/>
        </p:nvSpPr>
        <p:spPr>
          <a:xfrm>
            <a:off x="2441448" y="5422392"/>
            <a:ext cx="1417320" cy="274320"/>
          </a:xfrm>
          <a:prstGeom prst="rect">
            <a:avLst/>
          </a:prstGeom>
          <a:noFill/>
        </p:spPr>
        <p:txBody>
          <a:bodyPr wrap="square" lIns="0" tIns="0" rIns="0" bIns="0">
            <a:spAutoFit/>
          </a:bodyPr>
          <a:lstStyle/>
          <a:p>
            <a:pPr algn="ctr"/>
            <a:r>
              <a:rPr sz="1200" b="0">
                <a:solidFill>
                  <a:schemeClr val="bg1"/>
                </a:solidFill>
              </a:rPr>
              <a:t>database tables</a:t>
            </a:r>
          </a:p>
        </p:txBody>
      </p:sp>
      <p:sp>
        <p:nvSpPr>
          <p:cNvPr id="12" name="fact-tile"/>
          <p:cNvSpPr/>
          <p:nvPr/>
        </p:nvSpPr>
        <p:spPr>
          <a:xfrm>
            <a:off x="4014215" y="4846320"/>
            <a:ext cx="1417320" cy="914400"/>
          </a:xfrm>
          <a:prstGeom prst="roundRect">
            <a:avLst>
              <a:gd name="adj" fmla="val 1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fact-number"/>
          <p:cNvSpPr txBox="1"/>
          <p:nvPr/>
        </p:nvSpPr>
        <p:spPr>
          <a:xfrm>
            <a:off x="4014215" y="4919472"/>
            <a:ext cx="1417320" cy="502920"/>
          </a:xfrm>
          <a:prstGeom prst="rect">
            <a:avLst/>
          </a:prstGeom>
          <a:noFill/>
        </p:spPr>
        <p:txBody>
          <a:bodyPr wrap="square" lIns="0" tIns="0" rIns="0" bIns="0">
            <a:spAutoFit/>
          </a:bodyPr>
          <a:lstStyle/>
          <a:p>
            <a:pPr algn="ctr"/>
            <a:r>
              <a:rPr sz="2800" b="1">
                <a:solidFill>
                  <a:schemeClr val="accent1"/>
                </a:solidFill>
              </a:rPr>
              <a:t>6</a:t>
            </a:r>
          </a:p>
        </p:txBody>
      </p:sp>
      <p:sp>
        <p:nvSpPr>
          <p:cNvPr id="14" name="fact-label"/>
          <p:cNvSpPr txBox="1"/>
          <p:nvPr/>
        </p:nvSpPr>
        <p:spPr>
          <a:xfrm>
            <a:off x="4014215" y="5422392"/>
            <a:ext cx="1417320" cy="274320"/>
          </a:xfrm>
          <a:prstGeom prst="rect">
            <a:avLst/>
          </a:prstGeom>
          <a:noFill/>
        </p:spPr>
        <p:txBody>
          <a:bodyPr wrap="square" lIns="0" tIns="0" rIns="0" bIns="0">
            <a:spAutoFit/>
          </a:bodyPr>
          <a:lstStyle/>
          <a:p>
            <a:pPr algn="ctr"/>
            <a:r>
              <a:rPr sz="1200" b="0">
                <a:solidFill>
                  <a:schemeClr val="bg1"/>
                </a:solidFill>
              </a:rPr>
              <a:t>servlets</a:t>
            </a:r>
          </a:p>
        </p:txBody>
      </p:sp>
      <p:sp>
        <p:nvSpPr>
          <p:cNvPr id="15" name="agenda-row"/>
          <p:cNvSpPr/>
          <p:nvPr/>
        </p:nvSpPr>
        <p:spPr>
          <a:xfrm>
            <a:off x="6126480" y="1463040"/>
            <a:ext cx="5577840" cy="822960"/>
          </a:xfrm>
          <a:prstGeom prst="roundRect">
            <a:avLst>
              <a:gd name="adj" fmla="val 12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agenda-number"/>
          <p:cNvSpPr/>
          <p:nvPr/>
        </p:nvSpPr>
        <p:spPr>
          <a:xfrm>
            <a:off x="6309360" y="160020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chemeClr val="bg1"/>
                </a:solidFill>
              </a:rPr>
              <a:t>1</a:t>
            </a:r>
          </a:p>
        </p:txBody>
      </p:sp>
      <p:sp>
        <p:nvSpPr>
          <p:cNvPr id="17" name="agenda-title"/>
          <p:cNvSpPr txBox="1"/>
          <p:nvPr/>
        </p:nvSpPr>
        <p:spPr>
          <a:xfrm>
            <a:off x="7040880" y="1554480"/>
            <a:ext cx="3291840" cy="320040"/>
          </a:xfrm>
          <a:prstGeom prst="rect">
            <a:avLst/>
          </a:prstGeom>
          <a:noFill/>
        </p:spPr>
        <p:txBody>
          <a:bodyPr wrap="square" lIns="0" tIns="0" rIns="0" bIns="0">
            <a:spAutoFit/>
          </a:bodyPr>
          <a:lstStyle/>
          <a:p>
            <a:r>
              <a:rPr sz="1600" b="1">
                <a:solidFill>
                  <a:schemeClr val="tx1"/>
                </a:solidFill>
              </a:rPr>
              <a:t>Problem and features</a:t>
            </a:r>
          </a:p>
        </p:txBody>
      </p:sp>
      <p:sp>
        <p:nvSpPr>
          <p:cNvPr id="18" name="agenda-desc"/>
          <p:cNvSpPr txBox="1"/>
          <p:nvPr/>
        </p:nvSpPr>
        <p:spPr>
          <a:xfrm>
            <a:off x="7040880" y="1892808"/>
            <a:ext cx="3291840" cy="274320"/>
          </a:xfrm>
          <a:prstGeom prst="rect">
            <a:avLst/>
          </a:prstGeom>
          <a:noFill/>
        </p:spPr>
        <p:txBody>
          <a:bodyPr wrap="square" lIns="0" tIns="0" rIns="0" bIns="0">
            <a:spAutoFit/>
          </a:bodyPr>
          <a:lstStyle/>
          <a:p>
            <a:r>
              <a:rPr sz="1200" b="0">
                <a:solidFill>
                  <a:schemeClr val="tx1"/>
                </a:solidFill>
              </a:rPr>
              <a:t>Why FitPro exists and what each role can do</a:t>
            </a:r>
          </a:p>
        </p:txBody>
      </p:sp>
      <p:sp>
        <p:nvSpPr>
          <p:cNvPr id="19" name="agenda-slides"/>
          <p:cNvSpPr txBox="1"/>
          <p:nvPr/>
        </p:nvSpPr>
        <p:spPr>
          <a:xfrm>
            <a:off x="10332720" y="1554480"/>
            <a:ext cx="1234440" cy="320040"/>
          </a:xfrm>
          <a:prstGeom prst="rect">
            <a:avLst/>
          </a:prstGeom>
          <a:noFill/>
        </p:spPr>
        <p:txBody>
          <a:bodyPr wrap="square" lIns="0" tIns="0" rIns="0" bIns="0">
            <a:spAutoFit/>
          </a:bodyPr>
          <a:lstStyle/>
          <a:p>
            <a:pPr algn="r"/>
            <a:r>
              <a:rPr sz="1300" b="1">
                <a:solidFill>
                  <a:schemeClr val="accent5"/>
                </a:solidFill>
              </a:rPr>
              <a:t>Slides 3-4</a:t>
            </a:r>
          </a:p>
        </p:txBody>
      </p:sp>
      <p:sp>
        <p:nvSpPr>
          <p:cNvPr id="20" name="agenda-row"/>
          <p:cNvSpPr/>
          <p:nvPr/>
        </p:nvSpPr>
        <p:spPr>
          <a:xfrm>
            <a:off x="5989320" y="3382137"/>
            <a:ext cx="5577840" cy="822960"/>
          </a:xfrm>
          <a:prstGeom prst="roundRect">
            <a:avLst>
              <a:gd name="adj" fmla="val 12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agenda-number"/>
          <p:cNvSpPr/>
          <p:nvPr/>
        </p:nvSpPr>
        <p:spPr>
          <a:xfrm>
            <a:off x="6309360" y="2532888"/>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chemeClr val="bg1"/>
                </a:solidFill>
              </a:rPr>
              <a:t>2</a:t>
            </a:r>
          </a:p>
        </p:txBody>
      </p:sp>
      <p:sp>
        <p:nvSpPr>
          <p:cNvPr id="22" name="agenda-title"/>
          <p:cNvSpPr txBox="1"/>
          <p:nvPr/>
        </p:nvSpPr>
        <p:spPr>
          <a:xfrm>
            <a:off x="7040880" y="4418838"/>
            <a:ext cx="3291840" cy="320040"/>
          </a:xfrm>
          <a:prstGeom prst="rect">
            <a:avLst/>
          </a:prstGeom>
          <a:noFill/>
        </p:spPr>
        <p:txBody>
          <a:bodyPr wrap="square" lIns="0" tIns="0" rIns="0" bIns="0">
            <a:spAutoFit/>
          </a:bodyPr>
          <a:lstStyle/>
          <a:p>
            <a:r>
              <a:rPr sz="1600" b="1" dirty="0">
                <a:solidFill>
                  <a:schemeClr val="tx1"/>
                </a:solidFill>
              </a:rPr>
              <a:t>Technology and design</a:t>
            </a:r>
          </a:p>
        </p:txBody>
      </p:sp>
      <p:sp>
        <p:nvSpPr>
          <p:cNvPr id="23" name="agenda-desc"/>
          <p:cNvSpPr txBox="1"/>
          <p:nvPr/>
        </p:nvSpPr>
        <p:spPr>
          <a:xfrm>
            <a:off x="7040880" y="4690872"/>
            <a:ext cx="3291840" cy="274320"/>
          </a:xfrm>
          <a:prstGeom prst="rect">
            <a:avLst/>
          </a:prstGeom>
          <a:noFill/>
        </p:spPr>
        <p:txBody>
          <a:bodyPr wrap="square" lIns="0" tIns="0" rIns="0" bIns="0">
            <a:spAutoFit/>
          </a:bodyPr>
          <a:lstStyle/>
          <a:p>
            <a:r>
              <a:rPr sz="1200" b="0" dirty="0">
                <a:solidFill>
                  <a:schemeClr val="tx1"/>
                </a:solidFill>
              </a:rPr>
              <a:t>Stack, MVC architecture, project structure, database</a:t>
            </a:r>
          </a:p>
        </p:txBody>
      </p:sp>
      <p:sp>
        <p:nvSpPr>
          <p:cNvPr id="24" name="agenda-slides"/>
          <p:cNvSpPr txBox="1"/>
          <p:nvPr/>
        </p:nvSpPr>
        <p:spPr>
          <a:xfrm>
            <a:off x="10332720" y="2487168"/>
            <a:ext cx="1234440" cy="200055"/>
          </a:xfrm>
          <a:prstGeom prst="rect">
            <a:avLst/>
          </a:prstGeom>
          <a:noFill/>
        </p:spPr>
        <p:txBody>
          <a:bodyPr wrap="square" lIns="0" tIns="0" rIns="0" bIns="0">
            <a:spAutoFit/>
          </a:bodyPr>
          <a:lstStyle/>
          <a:p>
            <a:pPr algn="r"/>
            <a:r>
              <a:rPr sz="1300" b="1" dirty="0">
                <a:solidFill>
                  <a:schemeClr val="accent5"/>
                </a:solidFill>
              </a:rPr>
              <a:t>Slides </a:t>
            </a:r>
            <a:r>
              <a:rPr sz="1300" b="1" dirty="0" smtClean="0">
                <a:solidFill>
                  <a:schemeClr val="accent5"/>
                </a:solidFill>
              </a:rPr>
              <a:t>5-</a:t>
            </a:r>
            <a:r>
              <a:rPr lang="en-US" sz="1300" b="1" dirty="0" smtClean="0">
                <a:solidFill>
                  <a:schemeClr val="accent5"/>
                </a:solidFill>
              </a:rPr>
              <a:t>7</a:t>
            </a:r>
            <a:endParaRPr sz="1300" b="1" dirty="0">
              <a:solidFill>
                <a:schemeClr val="accent5"/>
              </a:solidFill>
            </a:endParaRPr>
          </a:p>
        </p:txBody>
      </p:sp>
      <p:sp>
        <p:nvSpPr>
          <p:cNvPr id="25" name="agenda-row"/>
          <p:cNvSpPr/>
          <p:nvPr/>
        </p:nvSpPr>
        <p:spPr>
          <a:xfrm>
            <a:off x="6126480" y="3328416"/>
            <a:ext cx="5577840" cy="822960"/>
          </a:xfrm>
          <a:prstGeom prst="roundRect">
            <a:avLst>
              <a:gd name="adj" fmla="val 12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agenda-number"/>
          <p:cNvSpPr/>
          <p:nvPr/>
        </p:nvSpPr>
        <p:spPr>
          <a:xfrm>
            <a:off x="6309360" y="3465576"/>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chemeClr val="bg1"/>
                </a:solidFill>
              </a:rPr>
              <a:t>3</a:t>
            </a:r>
          </a:p>
        </p:txBody>
      </p:sp>
      <p:sp>
        <p:nvSpPr>
          <p:cNvPr id="27" name="agenda-title"/>
          <p:cNvSpPr txBox="1"/>
          <p:nvPr/>
        </p:nvSpPr>
        <p:spPr>
          <a:xfrm>
            <a:off x="7040880" y="3419856"/>
            <a:ext cx="3291840" cy="320040"/>
          </a:xfrm>
          <a:prstGeom prst="rect">
            <a:avLst/>
          </a:prstGeom>
          <a:noFill/>
        </p:spPr>
        <p:txBody>
          <a:bodyPr wrap="square" lIns="0" tIns="0" rIns="0" bIns="0">
            <a:spAutoFit/>
          </a:bodyPr>
          <a:lstStyle/>
          <a:p>
            <a:r>
              <a:rPr sz="1600" b="1">
                <a:solidFill>
                  <a:schemeClr val="tx1"/>
                </a:solidFill>
              </a:rPr>
              <a:t>Core Java implementation</a:t>
            </a:r>
          </a:p>
        </p:txBody>
      </p:sp>
      <p:sp>
        <p:nvSpPr>
          <p:cNvPr id="28" name="agenda-desc"/>
          <p:cNvSpPr txBox="1"/>
          <p:nvPr/>
        </p:nvSpPr>
        <p:spPr>
          <a:xfrm>
            <a:off x="7040880" y="3758184"/>
            <a:ext cx="3291840" cy="274320"/>
          </a:xfrm>
          <a:prstGeom prst="rect">
            <a:avLst/>
          </a:prstGeom>
          <a:noFill/>
        </p:spPr>
        <p:txBody>
          <a:bodyPr wrap="square" lIns="0" tIns="0" rIns="0" bIns="0">
            <a:spAutoFit/>
          </a:bodyPr>
          <a:lstStyle/>
          <a:p>
            <a:r>
              <a:rPr sz="1200" b="0">
                <a:solidFill>
                  <a:schemeClr val="tx1"/>
                </a:solidFill>
              </a:rPr>
              <a:t>OOP, collections, threads, JDBC, servlets, security</a:t>
            </a:r>
          </a:p>
        </p:txBody>
      </p:sp>
      <p:sp>
        <p:nvSpPr>
          <p:cNvPr id="29" name="agenda-slides"/>
          <p:cNvSpPr txBox="1"/>
          <p:nvPr/>
        </p:nvSpPr>
        <p:spPr>
          <a:xfrm>
            <a:off x="10332720" y="3419856"/>
            <a:ext cx="1234440" cy="200055"/>
          </a:xfrm>
          <a:prstGeom prst="rect">
            <a:avLst/>
          </a:prstGeom>
          <a:noFill/>
        </p:spPr>
        <p:txBody>
          <a:bodyPr wrap="square" lIns="0" tIns="0" rIns="0" bIns="0">
            <a:spAutoFit/>
          </a:bodyPr>
          <a:lstStyle/>
          <a:p>
            <a:pPr algn="r"/>
            <a:r>
              <a:rPr sz="1300" b="1" dirty="0">
                <a:solidFill>
                  <a:schemeClr val="accent5"/>
                </a:solidFill>
              </a:rPr>
              <a:t>Slides </a:t>
            </a:r>
            <a:r>
              <a:rPr lang="en-US" sz="1300" b="1" dirty="0" smtClean="0">
                <a:solidFill>
                  <a:schemeClr val="accent5"/>
                </a:solidFill>
              </a:rPr>
              <a:t>8</a:t>
            </a:r>
            <a:r>
              <a:rPr sz="1300" b="1" dirty="0" smtClean="0">
                <a:solidFill>
                  <a:schemeClr val="accent5"/>
                </a:solidFill>
              </a:rPr>
              <a:t>-1</a:t>
            </a:r>
            <a:r>
              <a:rPr lang="en-US" sz="1300" b="1" dirty="0">
                <a:solidFill>
                  <a:schemeClr val="accent5"/>
                </a:solidFill>
              </a:rPr>
              <a:t>1</a:t>
            </a:r>
            <a:endParaRPr sz="1300" b="1" dirty="0">
              <a:solidFill>
                <a:schemeClr val="accent5"/>
              </a:solidFill>
            </a:endParaRPr>
          </a:p>
        </p:txBody>
      </p:sp>
      <p:sp>
        <p:nvSpPr>
          <p:cNvPr id="31" name="agenda-number"/>
          <p:cNvSpPr/>
          <p:nvPr/>
        </p:nvSpPr>
        <p:spPr>
          <a:xfrm>
            <a:off x="6309360" y="4398264"/>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chemeClr val="bg1"/>
                </a:solidFill>
              </a:rPr>
              <a:t>4</a:t>
            </a:r>
          </a:p>
        </p:txBody>
      </p:sp>
      <p:sp>
        <p:nvSpPr>
          <p:cNvPr id="32" name="agenda-title"/>
          <p:cNvSpPr txBox="1"/>
          <p:nvPr/>
        </p:nvSpPr>
        <p:spPr>
          <a:xfrm>
            <a:off x="7040880" y="2445449"/>
            <a:ext cx="3291840" cy="320040"/>
          </a:xfrm>
          <a:prstGeom prst="rect">
            <a:avLst/>
          </a:prstGeom>
          <a:noFill/>
        </p:spPr>
        <p:txBody>
          <a:bodyPr wrap="square" lIns="0" tIns="0" rIns="0" bIns="0">
            <a:spAutoFit/>
          </a:bodyPr>
          <a:lstStyle/>
          <a:p>
            <a:r>
              <a:rPr sz="1600" b="1" dirty="0">
                <a:solidFill>
                  <a:schemeClr val="tx1"/>
                </a:solidFill>
              </a:rPr>
              <a:t>Application screens</a:t>
            </a:r>
          </a:p>
        </p:txBody>
      </p:sp>
      <p:sp>
        <p:nvSpPr>
          <p:cNvPr id="33" name="agenda-desc"/>
          <p:cNvSpPr txBox="1"/>
          <p:nvPr/>
        </p:nvSpPr>
        <p:spPr>
          <a:xfrm>
            <a:off x="7040880" y="2775204"/>
            <a:ext cx="3291840" cy="274320"/>
          </a:xfrm>
          <a:prstGeom prst="rect">
            <a:avLst/>
          </a:prstGeom>
          <a:noFill/>
        </p:spPr>
        <p:txBody>
          <a:bodyPr wrap="square" lIns="0" tIns="0" rIns="0" bIns="0">
            <a:spAutoFit/>
          </a:bodyPr>
          <a:lstStyle/>
          <a:p>
            <a:r>
              <a:rPr sz="1200" b="0" dirty="0">
                <a:solidFill>
                  <a:schemeClr val="tx1"/>
                </a:solidFill>
              </a:rPr>
              <a:t>Login, dashboard and workout catalogue</a:t>
            </a:r>
          </a:p>
        </p:txBody>
      </p:sp>
      <p:sp>
        <p:nvSpPr>
          <p:cNvPr id="34" name="agenda-slides"/>
          <p:cNvSpPr txBox="1"/>
          <p:nvPr/>
        </p:nvSpPr>
        <p:spPr>
          <a:xfrm>
            <a:off x="10332720" y="4352544"/>
            <a:ext cx="1234440" cy="200055"/>
          </a:xfrm>
          <a:prstGeom prst="rect">
            <a:avLst/>
          </a:prstGeom>
          <a:noFill/>
        </p:spPr>
        <p:txBody>
          <a:bodyPr wrap="square" lIns="0" tIns="0" rIns="0" bIns="0">
            <a:spAutoFit/>
          </a:bodyPr>
          <a:lstStyle/>
          <a:p>
            <a:pPr algn="r"/>
            <a:r>
              <a:rPr sz="1300" b="1" dirty="0">
                <a:solidFill>
                  <a:schemeClr val="accent5"/>
                </a:solidFill>
              </a:rPr>
              <a:t>Slides </a:t>
            </a:r>
            <a:r>
              <a:rPr sz="1300" b="1" dirty="0" smtClean="0">
                <a:solidFill>
                  <a:schemeClr val="accent5"/>
                </a:solidFill>
              </a:rPr>
              <a:t>1</a:t>
            </a:r>
            <a:r>
              <a:rPr lang="en-US" sz="1300" b="1" dirty="0" smtClean="0">
                <a:solidFill>
                  <a:schemeClr val="accent5"/>
                </a:solidFill>
              </a:rPr>
              <a:t>2</a:t>
            </a:r>
            <a:r>
              <a:rPr sz="1300" b="1" dirty="0" smtClean="0">
                <a:solidFill>
                  <a:schemeClr val="accent5"/>
                </a:solidFill>
              </a:rPr>
              <a:t>-16</a:t>
            </a:r>
            <a:endParaRPr sz="1300" b="1" dirty="0">
              <a:solidFill>
                <a:schemeClr val="accent5"/>
              </a:solidFill>
            </a:endParaRPr>
          </a:p>
        </p:txBody>
      </p:sp>
      <p:sp>
        <p:nvSpPr>
          <p:cNvPr id="35" name="agenda-row"/>
          <p:cNvSpPr/>
          <p:nvPr/>
        </p:nvSpPr>
        <p:spPr>
          <a:xfrm>
            <a:off x="6126480" y="5193792"/>
            <a:ext cx="5577840" cy="822960"/>
          </a:xfrm>
          <a:prstGeom prst="roundRect">
            <a:avLst>
              <a:gd name="adj" fmla="val 12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agenda-number"/>
          <p:cNvSpPr/>
          <p:nvPr/>
        </p:nvSpPr>
        <p:spPr>
          <a:xfrm>
            <a:off x="6309360" y="5330952"/>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chemeClr val="bg1"/>
                </a:solidFill>
              </a:rPr>
              <a:t>5</a:t>
            </a:r>
          </a:p>
        </p:txBody>
      </p:sp>
      <p:sp>
        <p:nvSpPr>
          <p:cNvPr id="37" name="agenda-title"/>
          <p:cNvSpPr txBox="1"/>
          <p:nvPr/>
        </p:nvSpPr>
        <p:spPr>
          <a:xfrm>
            <a:off x="7040880" y="5285231"/>
            <a:ext cx="3291840" cy="320040"/>
          </a:xfrm>
          <a:prstGeom prst="rect">
            <a:avLst/>
          </a:prstGeom>
          <a:noFill/>
        </p:spPr>
        <p:txBody>
          <a:bodyPr wrap="square" lIns="0" tIns="0" rIns="0" bIns="0">
            <a:spAutoFit/>
          </a:bodyPr>
          <a:lstStyle/>
          <a:p>
            <a:r>
              <a:rPr sz="1600" b="1">
                <a:solidFill>
                  <a:schemeClr val="tx1"/>
                </a:solidFill>
              </a:rPr>
              <a:t>Rubric, demo and future scope</a:t>
            </a:r>
          </a:p>
        </p:txBody>
      </p:sp>
      <p:sp>
        <p:nvSpPr>
          <p:cNvPr id="38" name="agenda-desc"/>
          <p:cNvSpPr txBox="1"/>
          <p:nvPr/>
        </p:nvSpPr>
        <p:spPr>
          <a:xfrm>
            <a:off x="7040880" y="5623559"/>
            <a:ext cx="3291840" cy="274320"/>
          </a:xfrm>
          <a:prstGeom prst="rect">
            <a:avLst/>
          </a:prstGeom>
          <a:noFill/>
        </p:spPr>
        <p:txBody>
          <a:bodyPr wrap="square" lIns="0" tIns="0" rIns="0" bIns="0">
            <a:spAutoFit/>
          </a:bodyPr>
          <a:lstStyle/>
          <a:p>
            <a:r>
              <a:rPr sz="1200" b="0">
                <a:solidFill>
                  <a:schemeClr val="tx1"/>
                </a:solidFill>
              </a:rPr>
              <a:t>Marks coverage, demo order and next steps</a:t>
            </a:r>
          </a:p>
        </p:txBody>
      </p:sp>
      <p:sp>
        <p:nvSpPr>
          <p:cNvPr id="39" name="agenda-slides"/>
          <p:cNvSpPr txBox="1"/>
          <p:nvPr/>
        </p:nvSpPr>
        <p:spPr>
          <a:xfrm>
            <a:off x="10332720" y="5285231"/>
            <a:ext cx="1234440" cy="320040"/>
          </a:xfrm>
          <a:prstGeom prst="rect">
            <a:avLst/>
          </a:prstGeom>
          <a:noFill/>
        </p:spPr>
        <p:txBody>
          <a:bodyPr wrap="square" lIns="0" tIns="0" rIns="0" bIns="0">
            <a:spAutoFit/>
          </a:bodyPr>
          <a:lstStyle/>
          <a:p>
            <a:pPr algn="r"/>
            <a:r>
              <a:rPr sz="1300" b="1">
                <a:solidFill>
                  <a:schemeClr val="accent5"/>
                </a:solidFill>
              </a:rPr>
              <a:t>Slides 17-18</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The problem and our solution</a:t>
            </a:r>
            <a:endParaRPr lang="en-US" sz="3400" dirty="0"/>
          </a:p>
        </p:txBody>
      </p:sp>
      <p:sp>
        <p:nvSpPr>
          <p:cNvPr id="4" name="problem-card"/>
          <p:cNvSpPr/>
          <p:nvPr/>
        </p:nvSpPr>
        <p:spPr>
          <a:xfrm>
            <a:off x="548640" y="1463040"/>
            <a:ext cx="5394960" cy="4572000"/>
          </a:xfrm>
          <a:prstGeom prst="roundRect">
            <a:avLst>
              <a:gd name="adj" fmla="val 2400"/>
            </a:avLst>
          </a:prstGeom>
          <a:solidFill>
            <a:schemeClr val="bg2"/>
          </a:solidFill>
          <a:ln/>
        </p:spPr>
      </p:sp>
      <p:sp>
        <p:nvSpPr>
          <p:cNvPr id="5" name="icon-circle"/>
          <p:cNvSpPr/>
          <p:nvPr/>
        </p:nvSpPr>
        <p:spPr>
          <a:xfrm>
            <a:off x="868680" y="1783080"/>
            <a:ext cx="685800" cy="685800"/>
          </a:xfrm>
          <a:prstGeom prst="ellipse">
            <a:avLst/>
          </a:prstGeom>
          <a:solidFill>
            <a:schemeClr val="accent6"/>
          </a:solidFill>
          <a:ln/>
        </p:spPr>
      </p:sp>
      <p:pic>
        <p:nvPicPr>
          <p:cNvPr id="6" name="icon" descr="preencoded.png"/>
          <p:cNvPicPr>
            <a:picLocks noChangeAspect="1"/>
          </p:cNvPicPr>
          <p:nvPr/>
        </p:nvPicPr>
        <p:blipFill>
          <a:blip r:embed="rId3"/>
          <a:stretch>
            <a:fillRect/>
          </a:stretch>
        </p:blipFill>
        <p:spPr>
          <a:xfrm>
            <a:off x="1019556" y="1933956"/>
            <a:ext cx="384048" cy="384048"/>
          </a:xfrm>
          <a:prstGeom prst="rect">
            <a:avLst/>
          </a:prstGeom>
        </p:spPr>
      </p:pic>
      <p:sp>
        <p:nvSpPr>
          <p:cNvPr id="7" name="Text 3"/>
          <p:cNvSpPr txBox="1"/>
          <p:nvPr/>
        </p:nvSpPr>
        <p:spPr>
          <a:xfrm>
            <a:off x="1783080" y="1920240"/>
            <a:ext cx="3657600" cy="457200"/>
          </a:xfrm>
          <a:prstGeom prst="rect">
            <a:avLst/>
          </a:prstGeom>
          <a:noFill/>
          <a:ln/>
        </p:spPr>
        <p:txBody>
          <a:bodyPr wrap="square" lIns="0" tIns="0" rIns="0" bIns="0" rtlCol="0" anchor="t"/>
          <a:lstStyle/>
          <a:p>
            <a:pPr marL="0" indent="0">
              <a:buNone/>
            </a:pPr>
            <a:r>
              <a:rPr lang="en-US" sz="2400" b="1" dirty="0">
                <a:solidFill>
                  <a:schemeClr val="tx1"/>
                </a:solidFill>
              </a:rPr>
              <a:t>The problem</a:t>
            </a:r>
            <a:endParaRPr lang="en-US" sz="2400" dirty="0"/>
          </a:p>
        </p:txBody>
      </p:sp>
      <p:sp>
        <p:nvSpPr>
          <p:cNvPr id="8" name="Text 4"/>
          <p:cNvSpPr txBox="1"/>
          <p:nvPr/>
        </p:nvSpPr>
        <p:spPr>
          <a:xfrm>
            <a:off x="914400" y="2834640"/>
            <a:ext cx="4663440" cy="30175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Gym memberships are costly and time-bound</a:t>
            </a:r>
            <a:endParaRPr lang="en-US" sz="1800" dirty="0"/>
          </a:p>
          <a:p>
            <a:pPr marL="342900" indent="-342900">
              <a:spcAft>
                <a:spcPts val="800"/>
              </a:spcAft>
              <a:buSzPct val="100000"/>
              <a:buChar char="•"/>
            </a:pPr>
            <a:r>
              <a:rPr lang="en-US" sz="1800" dirty="0">
                <a:solidFill>
                  <a:schemeClr val="tx1"/>
                </a:solidFill>
              </a:rPr>
              <a:t>Workouts are rarely tracked, so progress is invisible</a:t>
            </a:r>
            <a:endParaRPr lang="en-US" sz="1800" dirty="0"/>
          </a:p>
          <a:p>
            <a:pPr marL="342900" indent="-342900">
              <a:spcAft>
                <a:spcPts val="800"/>
              </a:spcAft>
              <a:buSzPct val="100000"/>
              <a:buChar char="•"/>
            </a:pPr>
            <a:r>
              <a:rPr lang="en-US" sz="1800" dirty="0">
                <a:solidFill>
                  <a:schemeClr val="tx1"/>
                </a:solidFill>
              </a:rPr>
              <a:t>Trainers have no simple way to publish structured programs</a:t>
            </a:r>
            <a:endParaRPr lang="en-US" sz="1800" dirty="0"/>
          </a:p>
          <a:p>
            <a:pPr marL="342900" indent="-342900">
              <a:spcAft>
                <a:spcPts val="800"/>
              </a:spcAft>
              <a:buSzPct val="100000"/>
              <a:buChar char="•"/>
            </a:pPr>
            <a:r>
              <a:rPr lang="en-US" sz="1800" dirty="0">
                <a:solidFill>
                  <a:schemeClr val="tx1"/>
                </a:solidFill>
              </a:rPr>
              <a:t>Members cannot see calories or trends in one place</a:t>
            </a:r>
            <a:endParaRPr lang="en-US" sz="1800" dirty="0"/>
          </a:p>
        </p:txBody>
      </p:sp>
      <p:sp>
        <p:nvSpPr>
          <p:cNvPr id="9" name="solution-card"/>
          <p:cNvSpPr/>
          <p:nvPr/>
        </p:nvSpPr>
        <p:spPr>
          <a:xfrm>
            <a:off x="6263640" y="1463040"/>
            <a:ext cx="5394960" cy="4572000"/>
          </a:xfrm>
          <a:prstGeom prst="roundRect">
            <a:avLst>
              <a:gd name="adj" fmla="val 2400"/>
            </a:avLst>
          </a:prstGeom>
          <a:solidFill>
            <a:schemeClr val="tx1"/>
          </a:solidFill>
          <a:ln/>
        </p:spPr>
      </p:sp>
      <p:sp>
        <p:nvSpPr>
          <p:cNvPr id="10" name="icon-circle"/>
          <p:cNvSpPr/>
          <p:nvPr/>
        </p:nvSpPr>
        <p:spPr>
          <a:xfrm>
            <a:off x="6583680" y="1783080"/>
            <a:ext cx="685800" cy="685800"/>
          </a:xfrm>
          <a:prstGeom prst="ellipse">
            <a:avLst/>
          </a:prstGeom>
          <a:solidFill>
            <a:schemeClr val="accent3"/>
          </a:solidFill>
          <a:ln/>
        </p:spPr>
      </p:sp>
      <p:pic>
        <p:nvPicPr>
          <p:cNvPr id="11" name="icon" descr="preencoded.png"/>
          <p:cNvPicPr>
            <a:picLocks noChangeAspect="1"/>
          </p:cNvPicPr>
          <p:nvPr/>
        </p:nvPicPr>
        <p:blipFill>
          <a:blip r:embed="rId4"/>
          <a:stretch>
            <a:fillRect/>
          </a:stretch>
        </p:blipFill>
        <p:spPr>
          <a:xfrm>
            <a:off x="6734556" y="1933956"/>
            <a:ext cx="384048" cy="384048"/>
          </a:xfrm>
          <a:prstGeom prst="rect">
            <a:avLst/>
          </a:prstGeom>
        </p:spPr>
      </p:pic>
      <p:sp>
        <p:nvSpPr>
          <p:cNvPr id="12" name="Text 7"/>
          <p:cNvSpPr txBox="1"/>
          <p:nvPr/>
        </p:nvSpPr>
        <p:spPr>
          <a:xfrm>
            <a:off x="7498080" y="1920240"/>
            <a:ext cx="3657600" cy="457200"/>
          </a:xfrm>
          <a:prstGeom prst="rect">
            <a:avLst/>
          </a:prstGeom>
          <a:noFill/>
          <a:ln/>
        </p:spPr>
        <p:txBody>
          <a:bodyPr wrap="square" lIns="0" tIns="0" rIns="0" bIns="0" rtlCol="0" anchor="t"/>
          <a:lstStyle/>
          <a:p>
            <a:pPr marL="0" indent="0">
              <a:buNone/>
            </a:pPr>
            <a:r>
              <a:rPr lang="en-US" sz="2400" b="1" dirty="0">
                <a:solidFill>
                  <a:schemeClr val="bg1"/>
                </a:solidFill>
              </a:rPr>
              <a:t>Our solution</a:t>
            </a:r>
            <a:endParaRPr lang="en-US" sz="2400" dirty="0"/>
          </a:p>
        </p:txBody>
      </p:sp>
      <p:sp>
        <p:nvSpPr>
          <p:cNvPr id="13" name="Text 8"/>
          <p:cNvSpPr txBox="1"/>
          <p:nvPr/>
        </p:nvSpPr>
        <p:spPr>
          <a:xfrm>
            <a:off x="6629400" y="2834640"/>
            <a:ext cx="4663440" cy="30175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bg1"/>
                </a:solidFill>
              </a:rPr>
              <a:t>One web platform for members and trainers</a:t>
            </a:r>
            <a:endParaRPr lang="en-US" sz="1800" dirty="0"/>
          </a:p>
          <a:p>
            <a:pPr marL="342900" indent="-342900">
              <a:spcAft>
                <a:spcPts val="800"/>
              </a:spcAft>
              <a:buSzPct val="100000"/>
              <a:buChar char="•"/>
            </a:pPr>
            <a:r>
              <a:rPr lang="en-US" sz="1800" dirty="0">
                <a:solidFill>
                  <a:schemeClr val="bg1"/>
                </a:solidFill>
              </a:rPr>
              <a:t>Trainers publish Cardio, Strength and Yoga programs</a:t>
            </a:r>
            <a:endParaRPr lang="en-US" sz="1800" dirty="0"/>
          </a:p>
          <a:p>
            <a:pPr marL="342900" indent="-342900">
              <a:spcAft>
                <a:spcPts val="800"/>
              </a:spcAft>
              <a:buSzPct val="100000"/>
              <a:buChar char="•"/>
            </a:pPr>
            <a:r>
              <a:rPr lang="en-US" sz="1800" dirty="0">
                <a:solidFill>
                  <a:schemeClr val="bg1"/>
                </a:solidFill>
              </a:rPr>
              <a:t>Members enrol, log sessions and see calories burned</a:t>
            </a:r>
            <a:endParaRPr lang="en-US" sz="1800" dirty="0"/>
          </a:p>
          <a:p>
            <a:pPr marL="342900" indent="-342900">
              <a:spcAft>
                <a:spcPts val="800"/>
              </a:spcAft>
              <a:buSzPct val="100000"/>
              <a:buChar char="•"/>
            </a:pPr>
            <a:r>
              <a:rPr lang="en-US" sz="1800" dirty="0">
                <a:solidFill>
                  <a:schemeClr val="bg1"/>
                </a:solidFill>
              </a:rPr>
              <a:t>Dashboard turns raw logs into clear statistics</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Key features by role</a:t>
            </a:r>
            <a:endParaRPr lang="en-US" sz="3400" dirty="0"/>
          </a:p>
        </p:txBody>
      </p:sp>
      <p:sp>
        <p:nvSpPr>
          <p:cNvPr id="4" name="Member-card"/>
          <p:cNvSpPr/>
          <p:nvPr/>
        </p:nvSpPr>
        <p:spPr>
          <a:xfrm>
            <a:off x="548640" y="1463040"/>
            <a:ext cx="5394960" cy="4206240"/>
          </a:xfrm>
          <a:prstGeom prst="roundRect">
            <a:avLst>
              <a:gd name="adj" fmla="val 2609"/>
            </a:avLst>
          </a:prstGeom>
          <a:solidFill>
            <a:schemeClr val="bg2"/>
          </a:solidFill>
          <a:ln/>
        </p:spPr>
      </p:sp>
      <p:sp>
        <p:nvSpPr>
          <p:cNvPr id="5" name="icon-circle"/>
          <p:cNvSpPr/>
          <p:nvPr/>
        </p:nvSpPr>
        <p:spPr>
          <a:xfrm>
            <a:off x="868680" y="1783080"/>
            <a:ext cx="731520" cy="731520"/>
          </a:xfrm>
          <a:prstGeom prst="ellipse">
            <a:avLst/>
          </a:prstGeom>
          <a:solidFill>
            <a:schemeClr val="accent1"/>
          </a:solidFill>
          <a:ln/>
        </p:spPr>
      </p:sp>
      <p:pic>
        <p:nvPicPr>
          <p:cNvPr id="6" name="icon" descr="preencoded.png"/>
          <p:cNvPicPr>
            <a:picLocks noChangeAspect="1"/>
          </p:cNvPicPr>
          <p:nvPr/>
        </p:nvPicPr>
        <p:blipFill>
          <a:blip r:embed="rId3"/>
          <a:stretch>
            <a:fillRect/>
          </a:stretch>
        </p:blipFill>
        <p:spPr>
          <a:xfrm>
            <a:off x="1029614" y="1944014"/>
            <a:ext cx="409651" cy="409651"/>
          </a:xfrm>
          <a:prstGeom prst="rect">
            <a:avLst/>
          </a:prstGeom>
        </p:spPr>
      </p:pic>
      <p:sp>
        <p:nvSpPr>
          <p:cNvPr id="7" name="Text 3"/>
          <p:cNvSpPr txBox="1"/>
          <p:nvPr/>
        </p:nvSpPr>
        <p:spPr>
          <a:xfrm>
            <a:off x="1828800" y="1965960"/>
            <a:ext cx="3657600" cy="457200"/>
          </a:xfrm>
          <a:prstGeom prst="rect">
            <a:avLst/>
          </a:prstGeom>
          <a:noFill/>
          <a:ln/>
        </p:spPr>
        <p:txBody>
          <a:bodyPr wrap="square" lIns="0" tIns="0" rIns="0" bIns="0" rtlCol="0" anchor="t"/>
          <a:lstStyle/>
          <a:p>
            <a:pPr marL="0" indent="0">
              <a:buNone/>
            </a:pPr>
            <a:r>
              <a:rPr lang="en-US" sz="2400" b="1" dirty="0">
                <a:solidFill>
                  <a:schemeClr val="tx1"/>
                </a:solidFill>
              </a:rPr>
              <a:t>Member</a:t>
            </a:r>
            <a:endParaRPr lang="en-US" sz="2400" dirty="0"/>
          </a:p>
        </p:txBody>
      </p:sp>
      <p:sp>
        <p:nvSpPr>
          <p:cNvPr id="8" name="Text 4"/>
          <p:cNvSpPr txBox="1"/>
          <p:nvPr/>
        </p:nvSpPr>
        <p:spPr>
          <a:xfrm>
            <a:off x="960120" y="2834640"/>
            <a:ext cx="4572000" cy="26517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Register and log in securely</a:t>
            </a:r>
            <a:endParaRPr lang="en-US" sz="1800" dirty="0"/>
          </a:p>
          <a:p>
            <a:pPr marL="342900" indent="-342900">
              <a:spcAft>
                <a:spcPts val="800"/>
              </a:spcAft>
              <a:buSzPct val="100000"/>
              <a:buChar char="•"/>
            </a:pPr>
            <a:r>
              <a:rPr lang="en-US" sz="1800" dirty="0">
                <a:solidFill>
                  <a:schemeClr val="tx1"/>
                </a:solidFill>
              </a:rPr>
              <a:t>Browse and filter workouts by type</a:t>
            </a:r>
            <a:endParaRPr lang="en-US" sz="1800" dirty="0"/>
          </a:p>
          <a:p>
            <a:pPr marL="342900" indent="-342900">
              <a:spcAft>
                <a:spcPts val="800"/>
              </a:spcAft>
              <a:buSzPct val="100000"/>
              <a:buChar char="•"/>
            </a:pPr>
            <a:r>
              <a:rPr lang="en-US" sz="1800" dirty="0">
                <a:solidFill>
                  <a:schemeClr val="tx1"/>
                </a:solidFill>
              </a:rPr>
              <a:t>Enrol in programs</a:t>
            </a:r>
            <a:endParaRPr lang="en-US" sz="1800" dirty="0"/>
          </a:p>
          <a:p>
            <a:pPr marL="342900" indent="-342900">
              <a:spcAft>
                <a:spcPts val="800"/>
              </a:spcAft>
              <a:buSzPct val="100000"/>
              <a:buChar char="•"/>
            </a:pPr>
            <a:r>
              <a:rPr lang="en-US" sz="1800" dirty="0">
                <a:solidFill>
                  <a:schemeClr val="tx1"/>
                </a:solidFill>
              </a:rPr>
              <a:t>Log minutes and body weight</a:t>
            </a:r>
            <a:endParaRPr lang="en-US" sz="1800" dirty="0"/>
          </a:p>
          <a:p>
            <a:pPr marL="342900" indent="-342900">
              <a:spcAft>
                <a:spcPts val="800"/>
              </a:spcAft>
              <a:buSzPct val="100000"/>
              <a:buChar char="•"/>
            </a:pPr>
            <a:r>
              <a:rPr lang="en-US" sz="1800" dirty="0">
                <a:solidFill>
                  <a:schemeClr val="tx1"/>
                </a:solidFill>
              </a:rPr>
              <a:t>See calories, totals and a chart</a:t>
            </a:r>
            <a:endParaRPr lang="en-US" sz="1800" dirty="0"/>
          </a:p>
        </p:txBody>
      </p:sp>
      <p:sp>
        <p:nvSpPr>
          <p:cNvPr id="9" name="Trainer-card"/>
          <p:cNvSpPr/>
          <p:nvPr/>
        </p:nvSpPr>
        <p:spPr>
          <a:xfrm>
            <a:off x="6263640" y="1463040"/>
            <a:ext cx="5394960" cy="4206240"/>
          </a:xfrm>
          <a:prstGeom prst="roundRect">
            <a:avLst>
              <a:gd name="adj" fmla="val 2609"/>
            </a:avLst>
          </a:prstGeom>
          <a:solidFill>
            <a:schemeClr val="bg2"/>
          </a:solidFill>
          <a:ln/>
        </p:spPr>
      </p:sp>
      <p:sp>
        <p:nvSpPr>
          <p:cNvPr id="10" name="icon-circle"/>
          <p:cNvSpPr/>
          <p:nvPr/>
        </p:nvSpPr>
        <p:spPr>
          <a:xfrm>
            <a:off x="6583680" y="1783080"/>
            <a:ext cx="731520" cy="731520"/>
          </a:xfrm>
          <a:prstGeom prst="ellipse">
            <a:avLst/>
          </a:prstGeom>
          <a:solidFill>
            <a:schemeClr val="accent2"/>
          </a:solidFill>
          <a:ln/>
        </p:spPr>
      </p:sp>
      <p:pic>
        <p:nvPicPr>
          <p:cNvPr id="11" name="icon" descr="preencoded.png"/>
          <p:cNvPicPr>
            <a:picLocks noChangeAspect="1"/>
          </p:cNvPicPr>
          <p:nvPr/>
        </p:nvPicPr>
        <p:blipFill>
          <a:blip r:embed="rId4"/>
          <a:stretch>
            <a:fillRect/>
          </a:stretch>
        </p:blipFill>
        <p:spPr>
          <a:xfrm>
            <a:off x="6744614" y="1944014"/>
            <a:ext cx="409651" cy="409651"/>
          </a:xfrm>
          <a:prstGeom prst="rect">
            <a:avLst/>
          </a:prstGeom>
        </p:spPr>
      </p:pic>
      <p:sp>
        <p:nvSpPr>
          <p:cNvPr id="12" name="Text 7"/>
          <p:cNvSpPr txBox="1"/>
          <p:nvPr/>
        </p:nvSpPr>
        <p:spPr>
          <a:xfrm>
            <a:off x="7543800" y="1965960"/>
            <a:ext cx="3657600" cy="457200"/>
          </a:xfrm>
          <a:prstGeom prst="rect">
            <a:avLst/>
          </a:prstGeom>
          <a:noFill/>
          <a:ln/>
        </p:spPr>
        <p:txBody>
          <a:bodyPr wrap="square" lIns="0" tIns="0" rIns="0" bIns="0" rtlCol="0" anchor="t"/>
          <a:lstStyle/>
          <a:p>
            <a:pPr marL="0" indent="0">
              <a:buNone/>
            </a:pPr>
            <a:r>
              <a:rPr lang="en-US" sz="2400" b="1" dirty="0">
                <a:solidFill>
                  <a:schemeClr val="tx1"/>
                </a:solidFill>
              </a:rPr>
              <a:t>Trainer</a:t>
            </a:r>
            <a:endParaRPr lang="en-US" sz="2400" dirty="0"/>
          </a:p>
        </p:txBody>
      </p:sp>
      <p:sp>
        <p:nvSpPr>
          <p:cNvPr id="13" name="Text 8"/>
          <p:cNvSpPr txBox="1"/>
          <p:nvPr/>
        </p:nvSpPr>
        <p:spPr>
          <a:xfrm>
            <a:off x="6675120" y="2834640"/>
            <a:ext cx="4572000" cy="26517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Register and log in securely</a:t>
            </a:r>
            <a:endParaRPr lang="en-US" sz="1800" dirty="0"/>
          </a:p>
          <a:p>
            <a:pPr marL="342900" indent="-342900">
              <a:spcAft>
                <a:spcPts val="800"/>
              </a:spcAft>
              <a:buSzPct val="100000"/>
              <a:buChar char="•"/>
            </a:pPr>
            <a:r>
              <a:rPr lang="en-US" sz="1800" dirty="0">
                <a:solidFill>
                  <a:schemeClr val="tx1"/>
                </a:solidFill>
              </a:rPr>
              <a:t>Publish programs with level and intensity</a:t>
            </a:r>
            <a:endParaRPr lang="en-US" sz="1800" dirty="0"/>
          </a:p>
          <a:p>
            <a:pPr marL="342900" indent="-342900">
              <a:spcAft>
                <a:spcPts val="800"/>
              </a:spcAft>
              <a:buSzPct val="100000"/>
              <a:buChar char="•"/>
            </a:pPr>
            <a:r>
              <a:rPr lang="en-US" sz="1800" dirty="0">
                <a:solidFill>
                  <a:schemeClr val="tx1"/>
                </a:solidFill>
              </a:rPr>
              <a:t>Choose Cardio, Strength or Yoga</a:t>
            </a:r>
            <a:endParaRPr lang="en-US" sz="1800" dirty="0"/>
          </a:p>
          <a:p>
            <a:pPr marL="342900" indent="-342900">
              <a:spcAft>
                <a:spcPts val="800"/>
              </a:spcAft>
              <a:buSzPct val="100000"/>
              <a:buChar char="•"/>
            </a:pPr>
            <a:r>
              <a:rPr lang="en-US" sz="1800" dirty="0">
                <a:solidFill>
                  <a:schemeClr val="tx1"/>
                </a:solidFill>
              </a:rPr>
              <a:t>Programs appear for every member</a:t>
            </a:r>
            <a:endParaRPr lang="en-US" sz="1800" dirty="0"/>
          </a:p>
          <a:p>
            <a:pPr marL="342900" indent="-342900">
              <a:spcAft>
                <a:spcPts val="800"/>
              </a:spcAft>
              <a:buSzPct val="100000"/>
              <a:buChar char="•"/>
            </a:pPr>
            <a:r>
              <a:rPr lang="en-US" sz="1800" dirty="0">
                <a:solidFill>
                  <a:schemeClr val="tx1"/>
                </a:solidFill>
              </a:rPr>
              <a:t>Role-specific dashboard</a:t>
            </a:r>
            <a:endParaRPr lang="en-US" sz="1800" dirty="0"/>
          </a:p>
        </p:txBody>
      </p:sp>
      <p:sp>
        <p:nvSpPr>
          <p:cNvPr id="14" name="Text 9"/>
          <p:cNvSpPr txBox="1"/>
          <p:nvPr/>
        </p:nvSpPr>
        <p:spPr>
          <a:xfrm>
            <a:off x="548640" y="5852160"/>
            <a:ext cx="11064240" cy="365760"/>
          </a:xfrm>
          <a:prstGeom prst="rect">
            <a:avLst/>
          </a:prstGeom>
          <a:noFill/>
          <a:ln/>
        </p:spPr>
        <p:txBody>
          <a:bodyPr wrap="square" lIns="0" tIns="0" rIns="0" bIns="0" rtlCol="0" anchor="t"/>
          <a:lstStyle/>
          <a:p>
            <a:pPr marL="0" indent="0">
              <a:buNone/>
            </a:pPr>
            <a:r>
              <a:rPr lang="en-US" sz="1400" dirty="0">
                <a:solidFill>
                  <a:schemeClr val="accent5"/>
                </a:solidFill>
              </a:rPr>
              <a:t>Shared: password hashing, session login, input validation, friendly error messages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Screen 1: Login page</a:t>
            </a:r>
          </a:p>
        </p:txBody>
      </p:sp>
      <p:pic>
        <p:nvPicPr>
          <p:cNvPr id="3" name="screenshot" descr="FitPro login page with email and password fields"/>
          <p:cNvPicPr>
            <a:picLocks noChangeAspect="1"/>
          </p:cNvPicPr>
          <p:nvPr/>
        </p:nvPicPr>
        <p:blipFill>
          <a:blip r:embed="rId3"/>
          <a:stretch>
            <a:fillRect/>
          </a:stretch>
        </p:blipFill>
        <p:spPr>
          <a:xfrm>
            <a:off x="548640" y="1508760"/>
            <a:ext cx="7040880" cy="3322252"/>
          </a:xfrm>
          <a:prstGeom prst="rect">
            <a:avLst/>
          </a:prstGeom>
          <a:ln w="12700">
            <a:solidFill>
              <a:schemeClr val="accent5"/>
            </a:solidFill>
          </a:ln>
        </p:spPr>
      </p:pic>
      <p:sp>
        <p:nvSpPr>
          <p:cNvPr id="4" name="marker-1"/>
          <p:cNvSpPr/>
          <p:nvPr/>
        </p:nvSpPr>
        <p:spPr>
          <a:xfrm>
            <a:off x="1384130" y="1577577"/>
            <a:ext cx="310896" cy="310896"/>
          </a:xfrm>
          <a:prstGeom prst="ellipse">
            <a:avLst/>
          </a:prstGeom>
          <a:solidFill>
            <a:schemeClr val="tx1"/>
          </a:solidFill>
          <a:ln w="2222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chemeClr val="bg1"/>
                </a:solidFill>
              </a:rPr>
              <a:t>1</a:t>
            </a:r>
          </a:p>
        </p:txBody>
      </p:sp>
      <p:sp>
        <p:nvSpPr>
          <p:cNvPr id="5" name="marker-2"/>
          <p:cNvSpPr/>
          <p:nvPr/>
        </p:nvSpPr>
        <p:spPr>
          <a:xfrm>
            <a:off x="2766229" y="3022261"/>
            <a:ext cx="310896" cy="310896"/>
          </a:xfrm>
          <a:prstGeom prst="ellipse">
            <a:avLst/>
          </a:prstGeom>
          <a:solidFill>
            <a:schemeClr val="tx1"/>
          </a:solidFill>
          <a:ln w="2222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chemeClr val="bg1"/>
                </a:solidFill>
              </a:rPr>
              <a:t>2</a:t>
            </a:r>
          </a:p>
        </p:txBody>
      </p:sp>
      <p:sp>
        <p:nvSpPr>
          <p:cNvPr id="6" name="marker-3"/>
          <p:cNvSpPr/>
          <p:nvPr/>
        </p:nvSpPr>
        <p:spPr>
          <a:xfrm>
            <a:off x="2766229" y="3470791"/>
            <a:ext cx="310896" cy="310896"/>
          </a:xfrm>
          <a:prstGeom prst="ellipse">
            <a:avLst/>
          </a:prstGeom>
          <a:solidFill>
            <a:schemeClr val="tx1"/>
          </a:solidFill>
          <a:ln w="2222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chemeClr val="bg1"/>
                </a:solidFill>
              </a:rPr>
              <a:t>3</a:t>
            </a:r>
          </a:p>
        </p:txBody>
      </p:sp>
      <p:sp>
        <p:nvSpPr>
          <p:cNvPr id="7" name="marker-4"/>
          <p:cNvSpPr/>
          <p:nvPr/>
        </p:nvSpPr>
        <p:spPr>
          <a:xfrm>
            <a:off x="3496394" y="3762857"/>
            <a:ext cx="310896" cy="310896"/>
          </a:xfrm>
          <a:prstGeom prst="ellipse">
            <a:avLst/>
          </a:prstGeom>
          <a:solidFill>
            <a:schemeClr val="tx1"/>
          </a:solidFill>
          <a:ln w="2222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chemeClr val="bg1"/>
                </a:solidFill>
              </a:rPr>
              <a:t>4</a:t>
            </a:r>
          </a:p>
        </p:txBody>
      </p:sp>
      <p:sp>
        <p:nvSpPr>
          <p:cNvPr id="8" name="marker-5"/>
          <p:cNvSpPr/>
          <p:nvPr/>
        </p:nvSpPr>
        <p:spPr>
          <a:xfrm>
            <a:off x="4226560" y="4023630"/>
            <a:ext cx="310896" cy="310896"/>
          </a:xfrm>
          <a:prstGeom prst="ellipse">
            <a:avLst/>
          </a:prstGeom>
          <a:solidFill>
            <a:schemeClr val="tx1"/>
          </a:solidFill>
          <a:ln w="2222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chemeClr val="bg1"/>
                </a:solidFill>
              </a:rPr>
              <a:t>5</a:t>
            </a:r>
          </a:p>
        </p:txBody>
      </p:sp>
      <p:sp>
        <p:nvSpPr>
          <p:cNvPr id="9" name="path-card"/>
          <p:cNvSpPr/>
          <p:nvPr/>
        </p:nvSpPr>
        <p:spPr>
          <a:xfrm>
            <a:off x="548640" y="5059612"/>
            <a:ext cx="7040880" cy="1066867"/>
          </a:xfrm>
          <a:prstGeom prst="roundRect">
            <a:avLst>
              <a:gd name="adj" fmla="val 5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path-text"/>
          <p:cNvSpPr txBox="1"/>
          <p:nvPr/>
        </p:nvSpPr>
        <p:spPr>
          <a:xfrm>
            <a:off x="822959" y="5196772"/>
            <a:ext cx="6492240" cy="792547"/>
          </a:xfrm>
          <a:prstGeom prst="rect">
            <a:avLst/>
          </a:prstGeom>
          <a:noFill/>
        </p:spPr>
        <p:txBody>
          <a:bodyPr wrap="square" lIns="0" tIns="0" rIns="0" bIns="0" anchor="ctr">
            <a:spAutoFit/>
          </a:bodyPr>
          <a:lstStyle/>
          <a:p>
            <a:pPr>
              <a:spcAft>
                <a:spcPts val="400"/>
              </a:spcAft>
            </a:pPr>
            <a:r>
              <a:rPr sz="1400" b="1">
                <a:solidFill>
                  <a:schemeClr val="accent1"/>
                </a:solidFill>
              </a:rPr>
              <a:t>Behind this screen:  POST /login</a:t>
            </a:r>
          </a:p>
          <a:p>
            <a:r>
              <a:rPr sz="1300" b="0">
                <a:solidFill>
                  <a:schemeClr val="bg1"/>
                </a:solidFill>
              </a:rPr>
              <a:t>login.jsp  &gt;  LoginServlet  &gt;  AuthService  &gt;  UserDAO  &gt;  users table</a:t>
            </a:r>
          </a:p>
        </p:txBody>
      </p:sp>
      <p:sp>
        <p:nvSpPr>
          <p:cNvPr id="11" name="explain-card"/>
          <p:cNvSpPr/>
          <p:nvPr/>
        </p:nvSpPr>
        <p:spPr>
          <a:xfrm>
            <a:off x="7863840" y="1508760"/>
            <a:ext cx="3794760" cy="4617720"/>
          </a:xfrm>
          <a:prstGeom prst="roundRect">
            <a:avLst>
              <a:gd name="adj" fmla="val 5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explain-heading"/>
          <p:cNvSpPr txBox="1"/>
          <p:nvPr/>
        </p:nvSpPr>
        <p:spPr>
          <a:xfrm>
            <a:off x="8138160" y="1737360"/>
            <a:ext cx="3246120" cy="411480"/>
          </a:xfrm>
          <a:prstGeom prst="rect">
            <a:avLst/>
          </a:prstGeom>
          <a:noFill/>
        </p:spPr>
        <p:txBody>
          <a:bodyPr wrap="square" lIns="0" tIns="0" rIns="0" bIns="0">
            <a:spAutoFit/>
          </a:bodyPr>
          <a:lstStyle/>
          <a:p>
            <a:r>
              <a:rPr sz="2000" b="1">
                <a:solidFill>
                  <a:schemeClr val="tx1"/>
                </a:solidFill>
              </a:rPr>
              <a:t>Screen walkthrough</a:t>
            </a:r>
          </a:p>
        </p:txBody>
      </p:sp>
      <p:sp>
        <p:nvSpPr>
          <p:cNvPr id="13" name="explain-items"/>
          <p:cNvSpPr txBox="1"/>
          <p:nvPr/>
        </p:nvSpPr>
        <p:spPr>
          <a:xfrm>
            <a:off x="8138160" y="2286000"/>
            <a:ext cx="3246120" cy="3657600"/>
          </a:xfrm>
          <a:prstGeom prst="rect">
            <a:avLst/>
          </a:prstGeom>
          <a:noFill/>
        </p:spPr>
        <p:txBody>
          <a:bodyPr wrap="square" lIns="0" tIns="0" rIns="0" bIns="0">
            <a:spAutoFit/>
          </a:bodyPr>
          <a:lstStyle/>
          <a:p>
            <a:pPr marL="320040" indent="-320040">
              <a:spcAft>
                <a:spcPts val="900"/>
              </a:spcAft>
            </a:pPr>
            <a:r>
              <a:rPr sz="1500" b="1">
                <a:solidFill>
                  <a:schemeClr val="accent1"/>
                </a:solidFill>
              </a:rPr>
              <a:t>1   </a:t>
            </a:r>
            <a:r>
              <a:rPr sz="1500" b="1">
                <a:solidFill>
                  <a:schemeClr val="tx1"/>
                </a:solidFill>
              </a:rPr>
              <a:t>Brand bar: </a:t>
            </a:r>
            <a:r>
              <a:rPr sz="1500" b="0">
                <a:solidFill>
                  <a:schemeClr val="tx1"/>
                </a:solidFill>
              </a:rPr>
              <a:t>FitPro logo shown on every page.</a:t>
            </a:r>
          </a:p>
          <a:p>
            <a:pPr marL="320040" indent="-320040">
              <a:spcAft>
                <a:spcPts val="900"/>
              </a:spcAft>
            </a:pPr>
            <a:r>
              <a:rPr sz="1500" b="1">
                <a:solidFill>
                  <a:schemeClr val="accent1"/>
                </a:solidFill>
              </a:rPr>
              <a:t>2   </a:t>
            </a:r>
            <a:r>
              <a:rPr sz="1500" b="1">
                <a:solidFill>
                  <a:schemeClr val="tx1"/>
                </a:solidFill>
              </a:rPr>
              <a:t>Email field: </a:t>
            </a:r>
            <a:r>
              <a:rPr sz="1500" b="0">
                <a:solidFill>
                  <a:schemeClr val="tx1"/>
                </a:solidFill>
              </a:rPr>
              <a:t>Required; format checked in the browser, then again on the server.</a:t>
            </a:r>
          </a:p>
          <a:p>
            <a:pPr marL="320040" indent="-320040">
              <a:spcAft>
                <a:spcPts val="900"/>
              </a:spcAft>
            </a:pPr>
            <a:r>
              <a:rPr sz="1500" b="1">
                <a:solidFill>
                  <a:schemeClr val="accent1"/>
                </a:solidFill>
              </a:rPr>
              <a:t>3   </a:t>
            </a:r>
            <a:r>
              <a:rPr sz="1500" b="1">
                <a:solidFill>
                  <a:schemeClr val="tx1"/>
                </a:solidFill>
              </a:rPr>
              <a:t>Password field: </a:t>
            </a:r>
            <a:r>
              <a:rPr sz="1500" b="0">
                <a:solidFill>
                  <a:schemeClr val="tx1"/>
                </a:solidFill>
              </a:rPr>
              <a:t>Sent by POST and compared with the stored PBKDF2 hash.</a:t>
            </a:r>
          </a:p>
          <a:p>
            <a:pPr marL="320040" indent="-320040">
              <a:spcAft>
                <a:spcPts val="900"/>
              </a:spcAft>
            </a:pPr>
            <a:r>
              <a:rPr sz="1500" b="1">
                <a:solidFill>
                  <a:schemeClr val="accent1"/>
                </a:solidFill>
              </a:rPr>
              <a:t>4   </a:t>
            </a:r>
            <a:r>
              <a:rPr sz="1500" b="1">
                <a:solidFill>
                  <a:schemeClr val="tx1"/>
                </a:solidFill>
              </a:rPr>
              <a:t>Log in button: </a:t>
            </a:r>
            <a:r>
              <a:rPr sz="1500" b="0">
                <a:solidFill>
                  <a:schemeClr val="tx1"/>
                </a:solidFill>
              </a:rPr>
              <a:t>Starts a fresh session, then opens the dashboard.</a:t>
            </a:r>
          </a:p>
          <a:p>
            <a:pPr marL="320040" indent="-320040">
              <a:spcAft>
                <a:spcPts val="900"/>
              </a:spcAft>
            </a:pPr>
            <a:r>
              <a:rPr sz="1500" b="1">
                <a:solidFill>
                  <a:schemeClr val="accent1"/>
                </a:solidFill>
              </a:rPr>
              <a:t>5   </a:t>
            </a:r>
            <a:r>
              <a:rPr sz="1500" b="1">
                <a:solidFill>
                  <a:schemeClr val="tx1"/>
                </a:solidFill>
              </a:rPr>
              <a:t>Create an account: </a:t>
            </a:r>
            <a:r>
              <a:rPr sz="1500" b="0">
                <a:solidFill>
                  <a:schemeClr val="tx1"/>
                </a:solidFill>
              </a:rPr>
              <a:t>Link to the registration page (Member or Trainer).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Screen 2: Member dashboard</a:t>
            </a:r>
          </a:p>
        </p:txBody>
      </p:sp>
      <p:pic>
        <p:nvPicPr>
          <p:cNvPr id="3" name="screenshot" descr="FitPro member dashboard with welcome banner, four statistic cards and enrolled workouts"/>
          <p:cNvPicPr>
            <a:picLocks noChangeAspect="1"/>
          </p:cNvPicPr>
          <p:nvPr/>
        </p:nvPicPr>
        <p:blipFill>
          <a:blip r:embed="rId3"/>
          <a:stretch>
            <a:fillRect/>
          </a:stretch>
        </p:blipFill>
        <p:spPr>
          <a:xfrm>
            <a:off x="548640" y="1508760"/>
            <a:ext cx="7040880" cy="3287834"/>
          </a:xfrm>
          <a:prstGeom prst="rect">
            <a:avLst/>
          </a:prstGeom>
          <a:ln w="12700">
            <a:solidFill>
              <a:schemeClr val="accent5"/>
            </a:solidFill>
          </a:ln>
        </p:spPr>
      </p:pic>
      <p:sp>
        <p:nvSpPr>
          <p:cNvPr id="4" name="marker-1"/>
          <p:cNvSpPr/>
          <p:nvPr/>
        </p:nvSpPr>
        <p:spPr>
          <a:xfrm>
            <a:off x="738179" y="2294186"/>
            <a:ext cx="310896" cy="310896"/>
          </a:xfrm>
          <a:prstGeom prst="ellipse">
            <a:avLst/>
          </a:prstGeom>
          <a:solidFill>
            <a:schemeClr val="tx1"/>
          </a:solidFill>
          <a:ln w="2222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chemeClr val="bg1"/>
                </a:solidFill>
              </a:rPr>
              <a:t>1</a:t>
            </a:r>
          </a:p>
        </p:txBody>
      </p:sp>
      <p:sp>
        <p:nvSpPr>
          <p:cNvPr id="5" name="marker-2"/>
          <p:cNvSpPr/>
          <p:nvPr/>
        </p:nvSpPr>
        <p:spPr>
          <a:xfrm>
            <a:off x="3137410" y="2801213"/>
            <a:ext cx="310896" cy="310896"/>
          </a:xfrm>
          <a:prstGeom prst="ellipse">
            <a:avLst/>
          </a:prstGeom>
          <a:solidFill>
            <a:schemeClr val="tx1"/>
          </a:solidFill>
          <a:ln w="2222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chemeClr val="bg1"/>
                </a:solidFill>
              </a:rPr>
              <a:t>2</a:t>
            </a:r>
          </a:p>
        </p:txBody>
      </p:sp>
      <p:sp>
        <p:nvSpPr>
          <p:cNvPr id="6" name="marker-3"/>
          <p:cNvSpPr/>
          <p:nvPr/>
        </p:nvSpPr>
        <p:spPr>
          <a:xfrm>
            <a:off x="738179" y="3365738"/>
            <a:ext cx="310896" cy="310896"/>
          </a:xfrm>
          <a:prstGeom prst="ellipse">
            <a:avLst/>
          </a:prstGeom>
          <a:solidFill>
            <a:schemeClr val="tx1"/>
          </a:solidFill>
          <a:ln w="2222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chemeClr val="bg1"/>
                </a:solidFill>
              </a:rPr>
              <a:t>3</a:t>
            </a:r>
          </a:p>
        </p:txBody>
      </p:sp>
      <p:sp>
        <p:nvSpPr>
          <p:cNvPr id="7" name="marker-4"/>
          <p:cNvSpPr/>
          <p:nvPr/>
        </p:nvSpPr>
        <p:spPr>
          <a:xfrm>
            <a:off x="738179" y="4191617"/>
            <a:ext cx="310896" cy="310896"/>
          </a:xfrm>
          <a:prstGeom prst="ellipse">
            <a:avLst/>
          </a:prstGeom>
          <a:solidFill>
            <a:schemeClr val="tx1"/>
          </a:solidFill>
          <a:ln w="2222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chemeClr val="bg1"/>
                </a:solidFill>
              </a:rPr>
              <a:t>4</a:t>
            </a:r>
          </a:p>
        </p:txBody>
      </p:sp>
      <p:sp>
        <p:nvSpPr>
          <p:cNvPr id="8" name="marker-5"/>
          <p:cNvSpPr/>
          <p:nvPr/>
        </p:nvSpPr>
        <p:spPr>
          <a:xfrm>
            <a:off x="6744097" y="4191617"/>
            <a:ext cx="310896" cy="310896"/>
          </a:xfrm>
          <a:prstGeom prst="ellipse">
            <a:avLst/>
          </a:prstGeom>
          <a:solidFill>
            <a:schemeClr val="tx1"/>
          </a:solidFill>
          <a:ln w="2222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chemeClr val="bg1"/>
                </a:solidFill>
              </a:rPr>
              <a:t>5</a:t>
            </a:r>
          </a:p>
        </p:txBody>
      </p:sp>
      <p:sp>
        <p:nvSpPr>
          <p:cNvPr id="9" name="path-card"/>
          <p:cNvSpPr/>
          <p:nvPr/>
        </p:nvSpPr>
        <p:spPr>
          <a:xfrm>
            <a:off x="548640" y="5025194"/>
            <a:ext cx="7040880" cy="1101285"/>
          </a:xfrm>
          <a:prstGeom prst="roundRect">
            <a:avLst>
              <a:gd name="adj" fmla="val 5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path-text"/>
          <p:cNvSpPr txBox="1"/>
          <p:nvPr/>
        </p:nvSpPr>
        <p:spPr>
          <a:xfrm>
            <a:off x="822959" y="5162354"/>
            <a:ext cx="6492240" cy="826965"/>
          </a:xfrm>
          <a:prstGeom prst="rect">
            <a:avLst/>
          </a:prstGeom>
          <a:noFill/>
        </p:spPr>
        <p:txBody>
          <a:bodyPr wrap="square" lIns="0" tIns="0" rIns="0" bIns="0" anchor="ctr">
            <a:spAutoFit/>
          </a:bodyPr>
          <a:lstStyle/>
          <a:p>
            <a:pPr>
              <a:spcAft>
                <a:spcPts val="400"/>
              </a:spcAft>
            </a:pPr>
            <a:r>
              <a:rPr sz="1400" b="1">
                <a:solidFill>
                  <a:schemeClr val="accent1"/>
                </a:solidFill>
              </a:rPr>
              <a:t>Behind this screen:  GET /app/dashboard</a:t>
            </a:r>
          </a:p>
          <a:p>
            <a:r>
              <a:rPr sz="1300" b="0">
                <a:solidFill>
                  <a:schemeClr val="bg1"/>
                </a:solidFill>
              </a:rPr>
              <a:t>DashboardServlet  &gt;  ProgressService, WorkoutService  &gt;  dashboard.jsp</a:t>
            </a:r>
          </a:p>
        </p:txBody>
      </p:sp>
      <p:sp>
        <p:nvSpPr>
          <p:cNvPr id="11" name="explain-card"/>
          <p:cNvSpPr/>
          <p:nvPr/>
        </p:nvSpPr>
        <p:spPr>
          <a:xfrm>
            <a:off x="7863840" y="1508760"/>
            <a:ext cx="3794760" cy="4617720"/>
          </a:xfrm>
          <a:prstGeom prst="roundRect">
            <a:avLst>
              <a:gd name="adj" fmla="val 5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explain-heading"/>
          <p:cNvSpPr txBox="1"/>
          <p:nvPr/>
        </p:nvSpPr>
        <p:spPr>
          <a:xfrm>
            <a:off x="8138160" y="1737360"/>
            <a:ext cx="3246120" cy="411480"/>
          </a:xfrm>
          <a:prstGeom prst="rect">
            <a:avLst/>
          </a:prstGeom>
          <a:noFill/>
        </p:spPr>
        <p:txBody>
          <a:bodyPr wrap="square" lIns="0" tIns="0" rIns="0" bIns="0">
            <a:spAutoFit/>
          </a:bodyPr>
          <a:lstStyle/>
          <a:p>
            <a:r>
              <a:rPr sz="2000" b="1">
                <a:solidFill>
                  <a:schemeClr val="tx1"/>
                </a:solidFill>
              </a:rPr>
              <a:t>Screen walkthrough</a:t>
            </a:r>
          </a:p>
        </p:txBody>
      </p:sp>
      <p:sp>
        <p:nvSpPr>
          <p:cNvPr id="13" name="explain-items"/>
          <p:cNvSpPr txBox="1"/>
          <p:nvPr/>
        </p:nvSpPr>
        <p:spPr>
          <a:xfrm>
            <a:off x="8138160" y="2286000"/>
            <a:ext cx="3246120" cy="3657600"/>
          </a:xfrm>
          <a:prstGeom prst="rect">
            <a:avLst/>
          </a:prstGeom>
          <a:noFill/>
        </p:spPr>
        <p:txBody>
          <a:bodyPr wrap="square" lIns="0" tIns="0" rIns="0" bIns="0">
            <a:spAutoFit/>
          </a:bodyPr>
          <a:lstStyle/>
          <a:p>
            <a:pPr marL="320040" indent="-320040">
              <a:spcAft>
                <a:spcPts val="900"/>
              </a:spcAft>
            </a:pPr>
            <a:r>
              <a:rPr sz="1500" b="1">
                <a:solidFill>
                  <a:schemeClr val="accent1"/>
                </a:solidFill>
              </a:rPr>
              <a:t>1   </a:t>
            </a:r>
            <a:r>
              <a:rPr sz="1500" b="1">
                <a:solidFill>
                  <a:schemeClr val="tx1"/>
                </a:solidFill>
              </a:rPr>
              <a:t>Welcome banner: </a:t>
            </a:r>
            <a:r>
              <a:rPr sz="1500" b="0">
                <a:solidFill>
                  <a:schemeClr val="tx1"/>
                </a:solidFill>
              </a:rPr>
              <a:t>Greeting and role badge (MEMBER) come from the logged-in user object.</a:t>
            </a:r>
          </a:p>
          <a:p>
            <a:pPr marL="320040" indent="-320040">
              <a:spcAft>
                <a:spcPts val="900"/>
              </a:spcAft>
            </a:pPr>
            <a:r>
              <a:rPr sz="1500" b="1">
                <a:solidFill>
                  <a:schemeClr val="accent1"/>
                </a:solidFill>
              </a:rPr>
              <a:t>2   </a:t>
            </a:r>
            <a:r>
              <a:rPr sz="1500" b="1">
                <a:solidFill>
                  <a:schemeClr val="tx1"/>
                </a:solidFill>
              </a:rPr>
              <a:t>Quick actions: </a:t>
            </a:r>
            <a:r>
              <a:rPr sz="1500" b="0">
                <a:solidFill>
                  <a:schemeClr val="tx1"/>
                </a:solidFill>
              </a:rPr>
              <a:t>Jump to Workouts or log a session in one click.</a:t>
            </a:r>
          </a:p>
          <a:p>
            <a:pPr marL="320040" indent="-320040">
              <a:spcAft>
                <a:spcPts val="900"/>
              </a:spcAft>
            </a:pPr>
            <a:r>
              <a:rPr sz="1500" b="1">
                <a:solidFill>
                  <a:schemeClr val="accent1"/>
                </a:solidFill>
              </a:rPr>
              <a:t>3   </a:t>
            </a:r>
            <a:r>
              <a:rPr sz="1500" b="1">
                <a:solidFill>
                  <a:schemeClr val="tx1"/>
                </a:solidFill>
              </a:rPr>
              <a:t>Stat cards: </a:t>
            </a:r>
            <a:r>
              <a:rPr sz="1500" b="0">
                <a:solidFill>
                  <a:schemeClr val="tx1"/>
                </a:solidFill>
              </a:rPr>
              <a:t>Sessions, minutes, calories burned and enrolled programs.</a:t>
            </a:r>
          </a:p>
          <a:p>
            <a:pPr marL="320040" indent="-320040">
              <a:spcAft>
                <a:spcPts val="900"/>
              </a:spcAft>
            </a:pPr>
            <a:r>
              <a:rPr sz="1500" b="1">
                <a:solidFill>
                  <a:schemeClr val="accent1"/>
                </a:solidFill>
              </a:rPr>
              <a:t>4   </a:t>
            </a:r>
            <a:r>
              <a:rPr sz="1500" b="1">
                <a:solidFill>
                  <a:schemeClr val="tx1"/>
                </a:solidFill>
              </a:rPr>
              <a:t>My Enrolled Workouts: </a:t>
            </a:r>
            <a:r>
              <a:rPr sz="1500" b="0">
                <a:solidFill>
                  <a:schemeClr val="tx1"/>
                </a:solidFill>
              </a:rPr>
              <a:t>Programs the member joined, with type and duration.</a:t>
            </a:r>
          </a:p>
          <a:p>
            <a:pPr marL="320040" indent="-320040">
              <a:spcAft>
                <a:spcPts val="900"/>
              </a:spcAft>
            </a:pPr>
            <a:r>
              <a:rPr sz="1500" b="1">
                <a:solidFill>
                  <a:schemeClr val="accent1"/>
                </a:solidFill>
              </a:rPr>
              <a:t>5   </a:t>
            </a:r>
            <a:r>
              <a:rPr sz="1500" b="1">
                <a:solidFill>
                  <a:schemeClr val="tx1"/>
                </a:solidFill>
              </a:rPr>
              <a:t>Calories Burned: </a:t>
            </a:r>
            <a:r>
              <a:rPr sz="1500" b="0">
                <a:solidFill>
                  <a:schemeClr val="tx1"/>
                </a:solidFill>
              </a:rPr>
              <a:t>Chart that fills in after the first logged session.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Screen 3: Workout programs</a:t>
            </a:r>
          </a:p>
        </p:txBody>
      </p:sp>
      <p:pic>
        <p:nvPicPr>
          <p:cNvPr id="3" name="screenshot" descr="FitPro workout catalogue with category filters and program cards"/>
          <p:cNvPicPr>
            <a:picLocks noChangeAspect="1"/>
          </p:cNvPicPr>
          <p:nvPr/>
        </p:nvPicPr>
        <p:blipFill>
          <a:blip r:embed="rId3"/>
          <a:stretch>
            <a:fillRect/>
          </a:stretch>
        </p:blipFill>
        <p:spPr>
          <a:xfrm>
            <a:off x="548640" y="1508760"/>
            <a:ext cx="7040880" cy="3290959"/>
          </a:xfrm>
          <a:prstGeom prst="rect">
            <a:avLst/>
          </a:prstGeom>
          <a:ln w="12700">
            <a:solidFill>
              <a:schemeClr val="accent5"/>
            </a:solidFill>
          </a:ln>
        </p:spPr>
      </p:pic>
      <p:sp>
        <p:nvSpPr>
          <p:cNvPr id="4" name="marker-1"/>
          <p:cNvSpPr/>
          <p:nvPr/>
        </p:nvSpPr>
        <p:spPr>
          <a:xfrm>
            <a:off x="810429" y="2594593"/>
            <a:ext cx="310896" cy="310896"/>
          </a:xfrm>
          <a:prstGeom prst="ellipse">
            <a:avLst/>
          </a:prstGeom>
          <a:solidFill>
            <a:schemeClr val="tx1"/>
          </a:solidFill>
          <a:ln w="2222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chemeClr val="bg1"/>
                </a:solidFill>
              </a:rPr>
              <a:t>1</a:t>
            </a:r>
          </a:p>
        </p:txBody>
      </p:sp>
      <p:sp>
        <p:nvSpPr>
          <p:cNvPr id="5" name="marker-2"/>
          <p:cNvSpPr/>
          <p:nvPr/>
        </p:nvSpPr>
        <p:spPr>
          <a:xfrm>
            <a:off x="1853522" y="3043123"/>
            <a:ext cx="310896" cy="310896"/>
          </a:xfrm>
          <a:prstGeom prst="ellipse">
            <a:avLst/>
          </a:prstGeom>
          <a:solidFill>
            <a:schemeClr val="tx1"/>
          </a:solidFill>
          <a:ln w="2222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chemeClr val="bg1"/>
                </a:solidFill>
              </a:rPr>
              <a:t>2</a:t>
            </a:r>
          </a:p>
        </p:txBody>
      </p:sp>
      <p:sp>
        <p:nvSpPr>
          <p:cNvPr id="6" name="marker-3"/>
          <p:cNvSpPr/>
          <p:nvPr/>
        </p:nvSpPr>
        <p:spPr>
          <a:xfrm>
            <a:off x="1603180" y="4039277"/>
            <a:ext cx="310896" cy="310896"/>
          </a:xfrm>
          <a:prstGeom prst="ellipse">
            <a:avLst/>
          </a:prstGeom>
          <a:solidFill>
            <a:schemeClr val="tx1"/>
          </a:solidFill>
          <a:ln w="2222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chemeClr val="bg1"/>
                </a:solidFill>
              </a:rPr>
              <a:t>3</a:t>
            </a:r>
          </a:p>
        </p:txBody>
      </p:sp>
      <p:sp>
        <p:nvSpPr>
          <p:cNvPr id="7" name="marker-4"/>
          <p:cNvSpPr/>
          <p:nvPr/>
        </p:nvSpPr>
        <p:spPr>
          <a:xfrm>
            <a:off x="3235621" y="4315697"/>
            <a:ext cx="310896" cy="310896"/>
          </a:xfrm>
          <a:prstGeom prst="ellipse">
            <a:avLst/>
          </a:prstGeom>
          <a:solidFill>
            <a:schemeClr val="tx1"/>
          </a:solidFill>
          <a:ln w="2222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chemeClr val="bg1"/>
                </a:solidFill>
              </a:rPr>
              <a:t>4</a:t>
            </a:r>
          </a:p>
        </p:txBody>
      </p:sp>
      <p:sp>
        <p:nvSpPr>
          <p:cNvPr id="8" name="marker-5"/>
          <p:cNvSpPr/>
          <p:nvPr/>
        </p:nvSpPr>
        <p:spPr>
          <a:xfrm>
            <a:off x="1123357" y="4315697"/>
            <a:ext cx="310896" cy="310896"/>
          </a:xfrm>
          <a:prstGeom prst="ellipse">
            <a:avLst/>
          </a:prstGeom>
          <a:solidFill>
            <a:schemeClr val="tx1"/>
          </a:solidFill>
          <a:ln w="2222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chemeClr val="bg1"/>
                </a:solidFill>
              </a:rPr>
              <a:t>5</a:t>
            </a:r>
          </a:p>
        </p:txBody>
      </p:sp>
      <p:sp>
        <p:nvSpPr>
          <p:cNvPr id="9" name="path-card"/>
          <p:cNvSpPr/>
          <p:nvPr/>
        </p:nvSpPr>
        <p:spPr>
          <a:xfrm>
            <a:off x="548640" y="5028319"/>
            <a:ext cx="7040880" cy="1098160"/>
          </a:xfrm>
          <a:prstGeom prst="roundRect">
            <a:avLst>
              <a:gd name="adj" fmla="val 5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path-text"/>
          <p:cNvSpPr txBox="1"/>
          <p:nvPr/>
        </p:nvSpPr>
        <p:spPr>
          <a:xfrm>
            <a:off x="822959" y="5165479"/>
            <a:ext cx="6492240" cy="823840"/>
          </a:xfrm>
          <a:prstGeom prst="rect">
            <a:avLst/>
          </a:prstGeom>
          <a:noFill/>
        </p:spPr>
        <p:txBody>
          <a:bodyPr wrap="square" lIns="0" tIns="0" rIns="0" bIns="0" anchor="ctr">
            <a:spAutoFit/>
          </a:bodyPr>
          <a:lstStyle/>
          <a:p>
            <a:pPr>
              <a:spcAft>
                <a:spcPts val="400"/>
              </a:spcAft>
            </a:pPr>
            <a:r>
              <a:rPr sz="1400" b="1">
                <a:solidFill>
                  <a:schemeClr val="accent1"/>
                </a:solidFill>
              </a:rPr>
              <a:t>Behind this screen:  GET and POST /app/workouts</a:t>
            </a:r>
          </a:p>
          <a:p>
            <a:r>
              <a:rPr sz="1300" b="0">
                <a:solidFill>
                  <a:schemeClr val="bg1"/>
                </a:solidFill>
              </a:rPr>
              <a:t>WorkoutServlet  &gt;  WorkoutService  &gt;  WorkoutDAO, EnrollmentDAO  &gt;  workouts.jsp</a:t>
            </a:r>
          </a:p>
        </p:txBody>
      </p:sp>
      <p:sp>
        <p:nvSpPr>
          <p:cNvPr id="11" name="explain-card"/>
          <p:cNvSpPr/>
          <p:nvPr/>
        </p:nvSpPr>
        <p:spPr>
          <a:xfrm>
            <a:off x="7863840" y="1508760"/>
            <a:ext cx="3794760" cy="4617720"/>
          </a:xfrm>
          <a:prstGeom prst="roundRect">
            <a:avLst>
              <a:gd name="adj" fmla="val 5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explain-heading"/>
          <p:cNvSpPr txBox="1"/>
          <p:nvPr/>
        </p:nvSpPr>
        <p:spPr>
          <a:xfrm>
            <a:off x="8138160" y="1737360"/>
            <a:ext cx="3246120" cy="411480"/>
          </a:xfrm>
          <a:prstGeom prst="rect">
            <a:avLst/>
          </a:prstGeom>
          <a:noFill/>
        </p:spPr>
        <p:txBody>
          <a:bodyPr wrap="square" lIns="0" tIns="0" rIns="0" bIns="0">
            <a:spAutoFit/>
          </a:bodyPr>
          <a:lstStyle/>
          <a:p>
            <a:r>
              <a:rPr sz="2000" b="1">
                <a:solidFill>
                  <a:schemeClr val="tx1"/>
                </a:solidFill>
              </a:rPr>
              <a:t>Screen walkthrough</a:t>
            </a:r>
          </a:p>
        </p:txBody>
      </p:sp>
      <p:sp>
        <p:nvSpPr>
          <p:cNvPr id="13" name="explain-items"/>
          <p:cNvSpPr txBox="1"/>
          <p:nvPr/>
        </p:nvSpPr>
        <p:spPr>
          <a:xfrm>
            <a:off x="8138160" y="2286000"/>
            <a:ext cx="3246120" cy="3657600"/>
          </a:xfrm>
          <a:prstGeom prst="rect">
            <a:avLst/>
          </a:prstGeom>
          <a:noFill/>
        </p:spPr>
        <p:txBody>
          <a:bodyPr wrap="square" lIns="0" tIns="0" rIns="0" bIns="0">
            <a:spAutoFit/>
          </a:bodyPr>
          <a:lstStyle/>
          <a:p>
            <a:pPr marL="320040" indent="-320040">
              <a:spcAft>
                <a:spcPts val="900"/>
              </a:spcAft>
            </a:pPr>
            <a:r>
              <a:rPr sz="1500" b="1">
                <a:solidFill>
                  <a:schemeClr val="accent1"/>
                </a:solidFill>
              </a:rPr>
              <a:t>1   </a:t>
            </a:r>
            <a:r>
              <a:rPr sz="1500" b="1">
                <a:solidFill>
                  <a:schemeClr val="tx1"/>
                </a:solidFill>
              </a:rPr>
              <a:t>Category chips: </a:t>
            </a:r>
            <a:r>
              <a:rPr sz="1500" b="0">
                <a:solidFill>
                  <a:schemeClr val="tx1"/>
                </a:solidFill>
              </a:rPr>
              <a:t>Filter the catalogue by All, Cardio, Strength or Yoga.</a:t>
            </a:r>
          </a:p>
          <a:p>
            <a:pPr marL="320040" indent="-320040">
              <a:spcAft>
                <a:spcPts val="900"/>
              </a:spcAft>
            </a:pPr>
            <a:r>
              <a:rPr sz="1500" b="1">
                <a:solidFill>
                  <a:schemeClr val="accent1"/>
                </a:solidFill>
              </a:rPr>
              <a:t>2   </a:t>
            </a:r>
            <a:r>
              <a:rPr sz="1500" b="1">
                <a:solidFill>
                  <a:schemeClr val="tx1"/>
                </a:solidFill>
              </a:rPr>
              <a:t>Type and level badges: </a:t>
            </a:r>
            <a:r>
              <a:rPr sz="1500" b="0">
                <a:solidFill>
                  <a:schemeClr val="tx1"/>
                </a:solidFill>
              </a:rPr>
              <a:t>Colour-coded so programs can be scanned quickly.</a:t>
            </a:r>
          </a:p>
          <a:p>
            <a:pPr marL="320040" indent="-320040">
              <a:spcAft>
                <a:spcPts val="900"/>
              </a:spcAft>
            </a:pPr>
            <a:r>
              <a:rPr sz="1500" b="1">
                <a:solidFill>
                  <a:schemeClr val="accent1"/>
                </a:solidFill>
              </a:rPr>
              <a:t>3   </a:t>
            </a:r>
            <a:r>
              <a:rPr sz="1500" b="1">
                <a:solidFill>
                  <a:schemeClr val="tx1"/>
                </a:solidFill>
              </a:rPr>
              <a:t>Duration and coach: </a:t>
            </a:r>
            <a:r>
              <a:rPr sz="1500" b="0">
                <a:solidFill>
                  <a:schemeClr val="tx1"/>
                </a:solidFill>
              </a:rPr>
              <a:t>Shown on every card; FitPro Team for built-in programs.</a:t>
            </a:r>
          </a:p>
          <a:p>
            <a:pPr marL="320040" indent="-320040">
              <a:spcAft>
                <a:spcPts val="900"/>
              </a:spcAft>
            </a:pPr>
            <a:r>
              <a:rPr sz="1500" b="1">
                <a:solidFill>
                  <a:schemeClr val="accent1"/>
                </a:solidFill>
              </a:rPr>
              <a:t>4   </a:t>
            </a:r>
            <a:r>
              <a:rPr sz="1500" b="1">
                <a:solidFill>
                  <a:schemeClr val="tx1"/>
                </a:solidFill>
              </a:rPr>
              <a:t>Enroll Now: </a:t>
            </a:r>
            <a:r>
              <a:rPr sz="1500" b="0">
                <a:solidFill>
                  <a:schemeClr val="tx1"/>
                </a:solidFill>
              </a:rPr>
              <a:t>Saves the enrolment in the database and sends a notification.</a:t>
            </a:r>
          </a:p>
          <a:p>
            <a:pPr marL="320040" indent="-320040">
              <a:spcAft>
                <a:spcPts val="900"/>
              </a:spcAft>
            </a:pPr>
            <a:r>
              <a:rPr sz="1500" b="1">
                <a:solidFill>
                  <a:schemeClr val="accent1"/>
                </a:solidFill>
              </a:rPr>
              <a:t>5   </a:t>
            </a:r>
            <a:r>
              <a:rPr sz="1500" b="1">
                <a:solidFill>
                  <a:schemeClr val="tx1"/>
                </a:solidFill>
              </a:rPr>
              <a:t>Enrolled state: </a:t>
            </a:r>
            <a:r>
              <a:rPr sz="1500" b="0">
                <a:solidFill>
                  <a:schemeClr val="tx1"/>
                </a:solidFill>
              </a:rPr>
              <a:t>Turns green once joined, and duplicate enrolments are blocked.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Technology stack</a:t>
            </a:r>
            <a:endParaRPr lang="en-US" sz="3400" dirty="0"/>
          </a:p>
        </p:txBody>
      </p:sp>
      <p:sp>
        <p:nvSpPr>
          <p:cNvPr id="4" name="tech-tile"/>
          <p:cNvSpPr/>
          <p:nvPr/>
        </p:nvSpPr>
        <p:spPr>
          <a:xfrm>
            <a:off x="457200" y="1554480"/>
            <a:ext cx="2103120" cy="3383280"/>
          </a:xfrm>
          <a:prstGeom prst="roundRect">
            <a:avLst>
              <a:gd name="adj" fmla="val 5217"/>
            </a:avLst>
          </a:prstGeom>
          <a:solidFill>
            <a:schemeClr val="bg2"/>
          </a:solidFill>
          <a:ln/>
        </p:spPr>
      </p:sp>
      <p:sp>
        <p:nvSpPr>
          <p:cNvPr id="5" name="icon-circle"/>
          <p:cNvSpPr/>
          <p:nvPr/>
        </p:nvSpPr>
        <p:spPr>
          <a:xfrm>
            <a:off x="640080" y="1828800"/>
            <a:ext cx="822960" cy="822960"/>
          </a:xfrm>
          <a:prstGeom prst="ellipse">
            <a:avLst/>
          </a:prstGeom>
          <a:solidFill>
            <a:schemeClr val="accent1"/>
          </a:solidFill>
          <a:ln/>
        </p:spPr>
      </p:sp>
      <p:pic>
        <p:nvPicPr>
          <p:cNvPr id="6" name="icon" descr="preencoded.png"/>
          <p:cNvPicPr>
            <a:picLocks noChangeAspect="1"/>
          </p:cNvPicPr>
          <p:nvPr/>
        </p:nvPicPr>
        <p:blipFill>
          <a:blip r:embed="rId3"/>
          <a:stretch>
            <a:fillRect/>
          </a:stretch>
        </p:blipFill>
        <p:spPr>
          <a:xfrm>
            <a:off x="821131" y="2009851"/>
            <a:ext cx="460858" cy="460858"/>
          </a:xfrm>
          <a:prstGeom prst="rect">
            <a:avLst/>
          </a:prstGeom>
        </p:spPr>
      </p:pic>
      <p:sp>
        <p:nvSpPr>
          <p:cNvPr id="7" name="Text 3"/>
          <p:cNvSpPr txBox="1"/>
          <p:nvPr/>
        </p:nvSpPr>
        <p:spPr>
          <a:xfrm>
            <a:off x="640080" y="2880360"/>
            <a:ext cx="1737360" cy="411480"/>
          </a:xfrm>
          <a:prstGeom prst="rect">
            <a:avLst/>
          </a:prstGeom>
          <a:noFill/>
          <a:ln/>
        </p:spPr>
        <p:txBody>
          <a:bodyPr wrap="square" lIns="0" tIns="0" rIns="0" bIns="0" rtlCol="0" anchor="t"/>
          <a:lstStyle/>
          <a:p>
            <a:pPr marL="0" indent="0">
              <a:buNone/>
            </a:pPr>
            <a:r>
              <a:rPr lang="en-US" sz="2000" b="1" dirty="0">
                <a:solidFill>
                  <a:schemeClr val="tx1"/>
                </a:solidFill>
              </a:rPr>
              <a:t>Frontend</a:t>
            </a:r>
            <a:endParaRPr lang="en-US" sz="2000" dirty="0"/>
          </a:p>
        </p:txBody>
      </p:sp>
      <p:sp>
        <p:nvSpPr>
          <p:cNvPr id="8" name="Text 4"/>
          <p:cNvSpPr txBox="1"/>
          <p:nvPr/>
        </p:nvSpPr>
        <p:spPr>
          <a:xfrm>
            <a:off x="640080" y="3383280"/>
            <a:ext cx="1737360" cy="1371600"/>
          </a:xfrm>
          <a:prstGeom prst="rect">
            <a:avLst/>
          </a:prstGeom>
          <a:noFill/>
          <a:ln/>
        </p:spPr>
        <p:txBody>
          <a:bodyPr wrap="square" lIns="0" tIns="0" rIns="0" bIns="0" rtlCol="0" anchor="t"/>
          <a:lstStyle/>
          <a:p>
            <a:pPr marL="0" indent="0">
              <a:buNone/>
            </a:pPr>
            <a:r>
              <a:rPr lang="en-US" sz="1400" dirty="0">
                <a:solidFill>
                  <a:schemeClr val="tx1"/>
                </a:solidFill>
              </a:rPr>
              <a:t>JSP, JSTL, HTML5, CSS3, vanilla JavaScript</a:t>
            </a:r>
            <a:endParaRPr lang="en-US" sz="1400" dirty="0"/>
          </a:p>
        </p:txBody>
      </p:sp>
      <p:sp>
        <p:nvSpPr>
          <p:cNvPr id="9" name="tech-tile"/>
          <p:cNvSpPr/>
          <p:nvPr/>
        </p:nvSpPr>
        <p:spPr>
          <a:xfrm>
            <a:off x="2743200" y="1554480"/>
            <a:ext cx="2103120" cy="3383280"/>
          </a:xfrm>
          <a:prstGeom prst="roundRect">
            <a:avLst>
              <a:gd name="adj" fmla="val 5217"/>
            </a:avLst>
          </a:prstGeom>
          <a:solidFill>
            <a:schemeClr val="bg2"/>
          </a:solidFill>
          <a:ln/>
        </p:spPr>
      </p:sp>
      <p:sp>
        <p:nvSpPr>
          <p:cNvPr id="10" name="icon-circle"/>
          <p:cNvSpPr/>
          <p:nvPr/>
        </p:nvSpPr>
        <p:spPr>
          <a:xfrm>
            <a:off x="2926080" y="1828800"/>
            <a:ext cx="822960" cy="822960"/>
          </a:xfrm>
          <a:prstGeom prst="ellipse">
            <a:avLst/>
          </a:prstGeom>
          <a:solidFill>
            <a:schemeClr val="accent2"/>
          </a:solidFill>
          <a:ln/>
        </p:spPr>
      </p:sp>
      <p:pic>
        <p:nvPicPr>
          <p:cNvPr id="11" name="icon" descr="preencoded.png"/>
          <p:cNvPicPr>
            <a:picLocks noChangeAspect="1"/>
          </p:cNvPicPr>
          <p:nvPr/>
        </p:nvPicPr>
        <p:blipFill>
          <a:blip r:embed="rId4"/>
          <a:stretch>
            <a:fillRect/>
          </a:stretch>
        </p:blipFill>
        <p:spPr>
          <a:xfrm>
            <a:off x="3107131" y="2009851"/>
            <a:ext cx="460858" cy="460858"/>
          </a:xfrm>
          <a:prstGeom prst="rect">
            <a:avLst/>
          </a:prstGeom>
        </p:spPr>
      </p:pic>
      <p:sp>
        <p:nvSpPr>
          <p:cNvPr id="12" name="Text 7"/>
          <p:cNvSpPr txBox="1"/>
          <p:nvPr/>
        </p:nvSpPr>
        <p:spPr>
          <a:xfrm>
            <a:off x="2926080" y="2880360"/>
            <a:ext cx="1737360" cy="411480"/>
          </a:xfrm>
          <a:prstGeom prst="rect">
            <a:avLst/>
          </a:prstGeom>
          <a:noFill/>
          <a:ln/>
        </p:spPr>
        <p:txBody>
          <a:bodyPr wrap="square" lIns="0" tIns="0" rIns="0" bIns="0" rtlCol="0" anchor="t"/>
          <a:lstStyle/>
          <a:p>
            <a:pPr marL="0" indent="0">
              <a:buNone/>
            </a:pPr>
            <a:r>
              <a:rPr lang="en-US" sz="2000" b="1" dirty="0">
                <a:solidFill>
                  <a:schemeClr val="tx1"/>
                </a:solidFill>
              </a:rPr>
              <a:t>Backend</a:t>
            </a:r>
            <a:endParaRPr lang="en-US" sz="2000" dirty="0"/>
          </a:p>
        </p:txBody>
      </p:sp>
      <p:sp>
        <p:nvSpPr>
          <p:cNvPr id="13" name="Text 8"/>
          <p:cNvSpPr txBox="1"/>
          <p:nvPr/>
        </p:nvSpPr>
        <p:spPr>
          <a:xfrm>
            <a:off x="2926080" y="3383280"/>
            <a:ext cx="1737360" cy="1371600"/>
          </a:xfrm>
          <a:prstGeom prst="rect">
            <a:avLst/>
          </a:prstGeom>
          <a:noFill/>
          <a:ln/>
        </p:spPr>
        <p:txBody>
          <a:bodyPr wrap="square" lIns="0" tIns="0" rIns="0" bIns="0" rtlCol="0" anchor="t"/>
          <a:lstStyle/>
          <a:p>
            <a:pPr marL="0" indent="0">
              <a:buNone/>
            </a:pPr>
            <a:r>
              <a:rPr lang="en-US" sz="1400" dirty="0">
                <a:solidFill>
                  <a:schemeClr val="tx1"/>
                </a:solidFill>
              </a:rPr>
              <a:t>Java 11, Servlets 4.0, Filters, Listeners</a:t>
            </a:r>
            <a:endParaRPr lang="en-US" sz="1400" dirty="0"/>
          </a:p>
        </p:txBody>
      </p:sp>
      <p:sp>
        <p:nvSpPr>
          <p:cNvPr id="14" name="tech-tile"/>
          <p:cNvSpPr/>
          <p:nvPr/>
        </p:nvSpPr>
        <p:spPr>
          <a:xfrm>
            <a:off x="5029200" y="1554480"/>
            <a:ext cx="2103120" cy="3383280"/>
          </a:xfrm>
          <a:prstGeom prst="roundRect">
            <a:avLst>
              <a:gd name="adj" fmla="val 5217"/>
            </a:avLst>
          </a:prstGeom>
          <a:solidFill>
            <a:schemeClr val="bg2"/>
          </a:solidFill>
          <a:ln/>
        </p:spPr>
      </p:sp>
      <p:sp>
        <p:nvSpPr>
          <p:cNvPr id="15" name="icon-circle"/>
          <p:cNvSpPr/>
          <p:nvPr/>
        </p:nvSpPr>
        <p:spPr>
          <a:xfrm>
            <a:off x="5212080" y="1828800"/>
            <a:ext cx="822960" cy="822960"/>
          </a:xfrm>
          <a:prstGeom prst="ellipse">
            <a:avLst/>
          </a:prstGeom>
          <a:solidFill>
            <a:schemeClr val="accent1"/>
          </a:solidFill>
          <a:ln/>
        </p:spPr>
      </p:sp>
      <p:pic>
        <p:nvPicPr>
          <p:cNvPr id="16" name="icon" descr="preencoded.png"/>
          <p:cNvPicPr>
            <a:picLocks noChangeAspect="1"/>
          </p:cNvPicPr>
          <p:nvPr/>
        </p:nvPicPr>
        <p:blipFill>
          <a:blip r:embed="rId5"/>
          <a:stretch>
            <a:fillRect/>
          </a:stretch>
        </p:blipFill>
        <p:spPr>
          <a:xfrm>
            <a:off x="5393131" y="2009851"/>
            <a:ext cx="460858" cy="460858"/>
          </a:xfrm>
          <a:prstGeom prst="rect">
            <a:avLst/>
          </a:prstGeom>
        </p:spPr>
      </p:pic>
      <p:sp>
        <p:nvSpPr>
          <p:cNvPr id="17" name="Text 11"/>
          <p:cNvSpPr txBox="1"/>
          <p:nvPr/>
        </p:nvSpPr>
        <p:spPr>
          <a:xfrm>
            <a:off x="5212080" y="2880360"/>
            <a:ext cx="1737360" cy="411480"/>
          </a:xfrm>
          <a:prstGeom prst="rect">
            <a:avLst/>
          </a:prstGeom>
          <a:noFill/>
          <a:ln/>
        </p:spPr>
        <p:txBody>
          <a:bodyPr wrap="square" lIns="0" tIns="0" rIns="0" bIns="0" rtlCol="0" anchor="t"/>
          <a:lstStyle/>
          <a:p>
            <a:pPr marL="0" indent="0">
              <a:buNone/>
            </a:pPr>
            <a:r>
              <a:rPr lang="en-US" sz="2000" b="1" dirty="0">
                <a:solidFill>
                  <a:schemeClr val="tx1"/>
                </a:solidFill>
              </a:rPr>
              <a:t>Database</a:t>
            </a:r>
            <a:endParaRPr lang="en-US" sz="2000" dirty="0"/>
          </a:p>
        </p:txBody>
      </p:sp>
      <p:sp>
        <p:nvSpPr>
          <p:cNvPr id="18" name="Text 12"/>
          <p:cNvSpPr txBox="1"/>
          <p:nvPr/>
        </p:nvSpPr>
        <p:spPr>
          <a:xfrm>
            <a:off x="5212080" y="3383280"/>
            <a:ext cx="1737360" cy="1371600"/>
          </a:xfrm>
          <a:prstGeom prst="rect">
            <a:avLst/>
          </a:prstGeom>
          <a:noFill/>
          <a:ln/>
        </p:spPr>
        <p:txBody>
          <a:bodyPr wrap="square" lIns="0" tIns="0" rIns="0" bIns="0" rtlCol="0" anchor="t"/>
          <a:lstStyle/>
          <a:p>
            <a:pPr marL="0" indent="0">
              <a:buNone/>
            </a:pPr>
            <a:r>
              <a:rPr lang="en-US" sz="1400" dirty="0">
                <a:solidFill>
                  <a:schemeClr val="tx1"/>
                </a:solidFill>
              </a:rPr>
              <a:t>MySQL 8 accessed through JDBC</a:t>
            </a:r>
            <a:endParaRPr lang="en-US" sz="1400" dirty="0"/>
          </a:p>
        </p:txBody>
      </p:sp>
      <p:sp>
        <p:nvSpPr>
          <p:cNvPr id="19" name="tech-tile"/>
          <p:cNvSpPr/>
          <p:nvPr/>
        </p:nvSpPr>
        <p:spPr>
          <a:xfrm>
            <a:off x="7315200" y="1554480"/>
            <a:ext cx="2103120" cy="3383280"/>
          </a:xfrm>
          <a:prstGeom prst="roundRect">
            <a:avLst>
              <a:gd name="adj" fmla="val 5217"/>
            </a:avLst>
          </a:prstGeom>
          <a:solidFill>
            <a:schemeClr val="bg2"/>
          </a:solidFill>
          <a:ln/>
        </p:spPr>
      </p:sp>
      <p:sp>
        <p:nvSpPr>
          <p:cNvPr id="20" name="icon-circle"/>
          <p:cNvSpPr/>
          <p:nvPr/>
        </p:nvSpPr>
        <p:spPr>
          <a:xfrm>
            <a:off x="7498080" y="1828800"/>
            <a:ext cx="822960" cy="822960"/>
          </a:xfrm>
          <a:prstGeom prst="ellipse">
            <a:avLst/>
          </a:prstGeom>
          <a:solidFill>
            <a:schemeClr val="accent2"/>
          </a:solidFill>
          <a:ln/>
        </p:spPr>
      </p:sp>
      <p:pic>
        <p:nvPicPr>
          <p:cNvPr id="21" name="icon" descr="preencoded.png"/>
          <p:cNvPicPr>
            <a:picLocks noChangeAspect="1"/>
          </p:cNvPicPr>
          <p:nvPr/>
        </p:nvPicPr>
        <p:blipFill>
          <a:blip r:embed="rId6"/>
          <a:stretch>
            <a:fillRect/>
          </a:stretch>
        </p:blipFill>
        <p:spPr>
          <a:xfrm>
            <a:off x="7679131" y="2009851"/>
            <a:ext cx="460858" cy="460858"/>
          </a:xfrm>
          <a:prstGeom prst="rect">
            <a:avLst/>
          </a:prstGeom>
        </p:spPr>
      </p:pic>
      <p:sp>
        <p:nvSpPr>
          <p:cNvPr id="22" name="Text 15"/>
          <p:cNvSpPr txBox="1"/>
          <p:nvPr/>
        </p:nvSpPr>
        <p:spPr>
          <a:xfrm>
            <a:off x="7498080" y="2880360"/>
            <a:ext cx="1737360" cy="411480"/>
          </a:xfrm>
          <a:prstGeom prst="rect">
            <a:avLst/>
          </a:prstGeom>
          <a:noFill/>
          <a:ln/>
        </p:spPr>
        <p:txBody>
          <a:bodyPr wrap="square" lIns="0" tIns="0" rIns="0" bIns="0" rtlCol="0" anchor="t"/>
          <a:lstStyle/>
          <a:p>
            <a:pPr marL="0" indent="0">
              <a:buNone/>
            </a:pPr>
            <a:r>
              <a:rPr lang="en-US" sz="2000" b="1" dirty="0">
                <a:solidFill>
                  <a:schemeClr val="tx1"/>
                </a:solidFill>
              </a:rPr>
              <a:t>Build</a:t>
            </a:r>
            <a:endParaRPr lang="en-US" sz="2000" dirty="0"/>
          </a:p>
        </p:txBody>
      </p:sp>
      <p:sp>
        <p:nvSpPr>
          <p:cNvPr id="23" name="Text 16"/>
          <p:cNvSpPr txBox="1"/>
          <p:nvPr/>
        </p:nvSpPr>
        <p:spPr>
          <a:xfrm>
            <a:off x="7498080" y="3383280"/>
            <a:ext cx="1737360" cy="1371600"/>
          </a:xfrm>
          <a:prstGeom prst="rect">
            <a:avLst/>
          </a:prstGeom>
          <a:noFill/>
          <a:ln/>
        </p:spPr>
        <p:txBody>
          <a:bodyPr wrap="square" lIns="0" tIns="0" rIns="0" bIns="0" rtlCol="0" anchor="t"/>
          <a:lstStyle/>
          <a:p>
            <a:pPr marL="0" indent="0">
              <a:buNone/>
            </a:pPr>
            <a:r>
              <a:rPr lang="en-US" sz="1400" dirty="0">
                <a:solidFill>
                  <a:schemeClr val="tx1"/>
                </a:solidFill>
              </a:rPr>
              <a:t>Maven, packaged as a WAR file</a:t>
            </a:r>
            <a:endParaRPr lang="en-US" sz="1400" dirty="0"/>
          </a:p>
        </p:txBody>
      </p:sp>
      <p:sp>
        <p:nvSpPr>
          <p:cNvPr id="24" name="tech-tile"/>
          <p:cNvSpPr/>
          <p:nvPr/>
        </p:nvSpPr>
        <p:spPr>
          <a:xfrm>
            <a:off x="9601200" y="1554480"/>
            <a:ext cx="2103120" cy="3383280"/>
          </a:xfrm>
          <a:prstGeom prst="roundRect">
            <a:avLst>
              <a:gd name="adj" fmla="val 5217"/>
            </a:avLst>
          </a:prstGeom>
          <a:solidFill>
            <a:schemeClr val="bg2"/>
          </a:solidFill>
          <a:ln/>
        </p:spPr>
      </p:sp>
      <p:sp>
        <p:nvSpPr>
          <p:cNvPr id="25" name="icon-circle"/>
          <p:cNvSpPr/>
          <p:nvPr/>
        </p:nvSpPr>
        <p:spPr>
          <a:xfrm>
            <a:off x="9784080" y="1828800"/>
            <a:ext cx="822960" cy="822960"/>
          </a:xfrm>
          <a:prstGeom prst="ellipse">
            <a:avLst/>
          </a:prstGeom>
          <a:solidFill>
            <a:schemeClr val="accent1"/>
          </a:solidFill>
          <a:ln/>
        </p:spPr>
      </p:sp>
      <p:pic>
        <p:nvPicPr>
          <p:cNvPr id="26" name="icon" descr="preencoded.png"/>
          <p:cNvPicPr>
            <a:picLocks noChangeAspect="1"/>
          </p:cNvPicPr>
          <p:nvPr/>
        </p:nvPicPr>
        <p:blipFill>
          <a:blip r:embed="rId7"/>
          <a:stretch>
            <a:fillRect/>
          </a:stretch>
        </p:blipFill>
        <p:spPr>
          <a:xfrm>
            <a:off x="9965131" y="2009851"/>
            <a:ext cx="460858" cy="460858"/>
          </a:xfrm>
          <a:prstGeom prst="rect">
            <a:avLst/>
          </a:prstGeom>
        </p:spPr>
      </p:pic>
      <p:sp>
        <p:nvSpPr>
          <p:cNvPr id="27" name="Text 19"/>
          <p:cNvSpPr txBox="1"/>
          <p:nvPr/>
        </p:nvSpPr>
        <p:spPr>
          <a:xfrm>
            <a:off x="9784080" y="2880360"/>
            <a:ext cx="1737360" cy="411480"/>
          </a:xfrm>
          <a:prstGeom prst="rect">
            <a:avLst/>
          </a:prstGeom>
          <a:noFill/>
          <a:ln/>
        </p:spPr>
        <p:txBody>
          <a:bodyPr wrap="square" lIns="0" tIns="0" rIns="0" bIns="0" rtlCol="0" anchor="t"/>
          <a:lstStyle/>
          <a:p>
            <a:pPr marL="0" indent="0">
              <a:buNone/>
            </a:pPr>
            <a:r>
              <a:rPr lang="en-US" sz="2000" b="1" dirty="0">
                <a:solidFill>
                  <a:schemeClr val="tx1"/>
                </a:solidFill>
              </a:rPr>
              <a:t>Server</a:t>
            </a:r>
            <a:endParaRPr lang="en-US" sz="2000" dirty="0"/>
          </a:p>
        </p:txBody>
      </p:sp>
      <p:sp>
        <p:nvSpPr>
          <p:cNvPr id="28" name="Text 20"/>
          <p:cNvSpPr txBox="1"/>
          <p:nvPr/>
        </p:nvSpPr>
        <p:spPr>
          <a:xfrm>
            <a:off x="9784080" y="3383280"/>
            <a:ext cx="1737360" cy="1371600"/>
          </a:xfrm>
          <a:prstGeom prst="rect">
            <a:avLst/>
          </a:prstGeom>
          <a:noFill/>
          <a:ln/>
        </p:spPr>
        <p:txBody>
          <a:bodyPr wrap="square" lIns="0" tIns="0" rIns="0" bIns="0" rtlCol="0" anchor="t"/>
          <a:lstStyle/>
          <a:p>
            <a:pPr marL="0" indent="0">
              <a:buNone/>
            </a:pPr>
            <a:r>
              <a:rPr lang="en-US" sz="1400" dirty="0">
                <a:solidFill>
                  <a:schemeClr val="tx1"/>
                </a:solidFill>
              </a:rPr>
              <a:t>Apache Tomcat 9 (javax.servlet)</a:t>
            </a:r>
            <a:endParaRPr lang="en-US" sz="1400" dirty="0"/>
          </a:p>
        </p:txBody>
      </p:sp>
      <p:sp>
        <p:nvSpPr>
          <p:cNvPr id="29" name="stack-note"/>
          <p:cNvSpPr/>
          <p:nvPr/>
        </p:nvSpPr>
        <p:spPr>
          <a:xfrm>
            <a:off x="457200" y="5303520"/>
            <a:ext cx="11247120" cy="822960"/>
          </a:xfrm>
          <a:prstGeom prst="roundRect">
            <a:avLst>
              <a:gd name="adj" fmla="val 13333"/>
            </a:avLst>
          </a:prstGeom>
          <a:solidFill>
            <a:schemeClr val="tx1"/>
          </a:solidFill>
          <a:ln/>
        </p:spPr>
      </p:sp>
      <p:sp>
        <p:nvSpPr>
          <p:cNvPr id="30" name="Text 22"/>
          <p:cNvSpPr txBox="1"/>
          <p:nvPr/>
        </p:nvSpPr>
        <p:spPr>
          <a:xfrm>
            <a:off x="731520" y="5303520"/>
            <a:ext cx="10698480" cy="822960"/>
          </a:xfrm>
          <a:prstGeom prst="rect">
            <a:avLst/>
          </a:prstGeom>
          <a:noFill/>
          <a:ln/>
        </p:spPr>
        <p:txBody>
          <a:bodyPr wrap="square" lIns="0" tIns="0" rIns="0" bIns="0" rtlCol="0" anchor="ctr"/>
          <a:lstStyle/>
          <a:p>
            <a:pPr marL="0" indent="0">
              <a:buNone/>
            </a:pPr>
            <a:r>
              <a:rPr lang="en-US" sz="1600" dirty="0">
                <a:solidFill>
                  <a:schemeClr val="bg1"/>
                </a:solidFill>
              </a:rPr>
              <a:t>Chosen to cover the rubric directly: Core Java, JDBC database integration, and Servlets with web integration.</a:t>
            </a:r>
            <a:endParaRPr lang="en-US" sz="1600" dirty="0"/>
          </a:p>
        </p:txBody>
      </p:sp>
      <p:sp>
        <p:nvSpPr>
          <p:cNvPr id="3"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Layered MVC architecture</a:t>
            </a:r>
            <a:endParaRPr lang="en-US" sz="3400" dirty="0"/>
          </a:p>
        </p:txBody>
      </p:sp>
      <p:sp>
        <p:nvSpPr>
          <p:cNvPr id="4" name="node"/>
          <p:cNvSpPr/>
          <p:nvPr/>
        </p:nvSpPr>
        <p:spPr>
          <a:xfrm>
            <a:off x="457200" y="1554480"/>
            <a:ext cx="1920240" cy="1188720"/>
          </a:xfrm>
          <a:prstGeom prst="roundRect">
            <a:avLst>
              <a:gd name="adj" fmla="val 7692"/>
            </a:avLst>
          </a:prstGeom>
          <a:solidFill>
            <a:schemeClr val="bg2"/>
          </a:solidFill>
          <a:ln/>
        </p:spPr>
      </p:sp>
      <p:sp>
        <p:nvSpPr>
          <p:cNvPr id="5" name="Text 2"/>
          <p:cNvSpPr txBox="1"/>
          <p:nvPr/>
        </p:nvSpPr>
        <p:spPr>
          <a:xfrm>
            <a:off x="457200" y="1554480"/>
            <a:ext cx="1920240" cy="1188720"/>
          </a:xfrm>
          <a:prstGeom prst="rect">
            <a:avLst/>
          </a:prstGeom>
          <a:noFill/>
          <a:ln/>
        </p:spPr>
        <p:txBody>
          <a:bodyPr wrap="square" lIns="0" tIns="0" rIns="0" bIns="0" rtlCol="0" anchor="ctr"/>
          <a:lstStyle/>
          <a:p>
            <a:pPr marL="0" indent="0" algn="ctr">
              <a:buNone/>
            </a:pPr>
            <a:r>
              <a:rPr lang="en-US" sz="2000" b="1" dirty="0">
                <a:solidFill>
                  <a:schemeClr val="tx1"/>
                </a:solidFill>
              </a:rPr>
              <a:t>Browser</a:t>
            </a:r>
            <a:endParaRPr lang="en-US" sz="1400" dirty="0"/>
          </a:p>
          <a:p>
            <a:pPr marL="0" indent="0" algn="ctr">
              <a:buNone/>
            </a:pPr>
            <a:r>
              <a:rPr lang="en-US" sz="1400" b="1" dirty="0">
                <a:solidFill>
                  <a:schemeClr val="tx1"/>
                </a:solidFill>
              </a:rPr>
              <a:t>JSP views</a:t>
            </a:r>
            <a:endParaRPr lang="en-US" sz="1400" dirty="0"/>
          </a:p>
        </p:txBody>
      </p:sp>
      <p:sp>
        <p:nvSpPr>
          <p:cNvPr id="6" name="arrow"/>
          <p:cNvSpPr/>
          <p:nvPr/>
        </p:nvSpPr>
        <p:spPr>
          <a:xfrm>
            <a:off x="2423160" y="2011680"/>
            <a:ext cx="320040" cy="274320"/>
          </a:xfrm>
          <a:prstGeom prst="rightArrow">
            <a:avLst/>
          </a:prstGeom>
          <a:solidFill>
            <a:schemeClr val="accent1"/>
          </a:solidFill>
          <a:ln/>
        </p:spPr>
      </p:sp>
      <p:sp>
        <p:nvSpPr>
          <p:cNvPr id="7" name="node"/>
          <p:cNvSpPr/>
          <p:nvPr/>
        </p:nvSpPr>
        <p:spPr>
          <a:xfrm>
            <a:off x="2788920" y="1554480"/>
            <a:ext cx="1920240" cy="1188720"/>
          </a:xfrm>
          <a:prstGeom prst="roundRect">
            <a:avLst>
              <a:gd name="adj" fmla="val 7692"/>
            </a:avLst>
          </a:prstGeom>
          <a:solidFill>
            <a:schemeClr val="tx1"/>
          </a:solidFill>
          <a:ln/>
        </p:spPr>
      </p:sp>
      <p:sp>
        <p:nvSpPr>
          <p:cNvPr id="8" name="Text 5"/>
          <p:cNvSpPr txBox="1"/>
          <p:nvPr/>
        </p:nvSpPr>
        <p:spPr>
          <a:xfrm>
            <a:off x="2788920" y="1554480"/>
            <a:ext cx="1920240" cy="1188720"/>
          </a:xfrm>
          <a:prstGeom prst="rect">
            <a:avLst/>
          </a:prstGeom>
          <a:noFill/>
          <a:ln/>
        </p:spPr>
        <p:txBody>
          <a:bodyPr wrap="square" lIns="0" tIns="0" rIns="0" bIns="0" rtlCol="0" anchor="ctr"/>
          <a:lstStyle/>
          <a:p>
            <a:pPr marL="0" indent="0" algn="ctr">
              <a:buNone/>
            </a:pPr>
            <a:r>
              <a:rPr lang="en-US" sz="2000" b="1" dirty="0">
                <a:solidFill>
                  <a:schemeClr val="bg1"/>
                </a:solidFill>
              </a:rPr>
              <a:t>Servlet</a:t>
            </a:r>
            <a:endParaRPr lang="en-US" sz="1400" dirty="0"/>
          </a:p>
          <a:p>
            <a:pPr marL="0" indent="0" algn="ctr">
              <a:buNone/>
            </a:pPr>
            <a:r>
              <a:rPr lang="en-US" sz="1400" b="1" dirty="0">
                <a:solidFill>
                  <a:schemeClr val="bg1"/>
                </a:solidFill>
              </a:rPr>
              <a:t>Controller</a:t>
            </a:r>
            <a:endParaRPr lang="en-US" sz="1400" dirty="0"/>
          </a:p>
        </p:txBody>
      </p:sp>
      <p:sp>
        <p:nvSpPr>
          <p:cNvPr id="9" name="arrow"/>
          <p:cNvSpPr/>
          <p:nvPr/>
        </p:nvSpPr>
        <p:spPr>
          <a:xfrm>
            <a:off x="4754880" y="2011680"/>
            <a:ext cx="320040" cy="274320"/>
          </a:xfrm>
          <a:prstGeom prst="rightArrow">
            <a:avLst/>
          </a:prstGeom>
          <a:solidFill>
            <a:schemeClr val="accent1"/>
          </a:solidFill>
          <a:ln/>
        </p:spPr>
      </p:sp>
      <p:sp>
        <p:nvSpPr>
          <p:cNvPr id="10" name="node"/>
          <p:cNvSpPr/>
          <p:nvPr/>
        </p:nvSpPr>
        <p:spPr>
          <a:xfrm>
            <a:off x="5120640" y="1554480"/>
            <a:ext cx="1920240" cy="1188720"/>
          </a:xfrm>
          <a:prstGeom prst="roundRect">
            <a:avLst>
              <a:gd name="adj" fmla="val 7692"/>
            </a:avLst>
          </a:prstGeom>
          <a:solidFill>
            <a:schemeClr val="tx1"/>
          </a:solidFill>
          <a:ln/>
        </p:spPr>
      </p:sp>
      <p:sp>
        <p:nvSpPr>
          <p:cNvPr id="11" name="Text 8"/>
          <p:cNvSpPr txBox="1"/>
          <p:nvPr/>
        </p:nvSpPr>
        <p:spPr>
          <a:xfrm>
            <a:off x="5120640" y="1554480"/>
            <a:ext cx="1920240" cy="1188720"/>
          </a:xfrm>
          <a:prstGeom prst="rect">
            <a:avLst/>
          </a:prstGeom>
          <a:noFill/>
          <a:ln/>
        </p:spPr>
        <p:txBody>
          <a:bodyPr wrap="square" lIns="0" tIns="0" rIns="0" bIns="0" rtlCol="0" anchor="ctr"/>
          <a:lstStyle/>
          <a:p>
            <a:pPr marL="0" indent="0" algn="ctr">
              <a:buNone/>
            </a:pPr>
            <a:r>
              <a:rPr lang="en-US" sz="2000" b="1" dirty="0">
                <a:solidFill>
                  <a:schemeClr val="bg1"/>
                </a:solidFill>
              </a:rPr>
              <a:t>Service</a:t>
            </a:r>
            <a:endParaRPr lang="en-US" sz="1400" dirty="0"/>
          </a:p>
          <a:p>
            <a:pPr marL="0" indent="0" algn="ctr">
              <a:buNone/>
            </a:pPr>
            <a:r>
              <a:rPr lang="en-US" sz="1400" b="1" dirty="0">
                <a:solidFill>
                  <a:schemeClr val="bg1"/>
                </a:solidFill>
              </a:rPr>
              <a:t>Business rules</a:t>
            </a:r>
            <a:endParaRPr lang="en-US" sz="1400" dirty="0"/>
          </a:p>
        </p:txBody>
      </p:sp>
      <p:sp>
        <p:nvSpPr>
          <p:cNvPr id="12" name="arrow"/>
          <p:cNvSpPr/>
          <p:nvPr/>
        </p:nvSpPr>
        <p:spPr>
          <a:xfrm>
            <a:off x="7086600" y="2011680"/>
            <a:ext cx="320040" cy="274320"/>
          </a:xfrm>
          <a:prstGeom prst="rightArrow">
            <a:avLst/>
          </a:prstGeom>
          <a:solidFill>
            <a:schemeClr val="accent1"/>
          </a:solidFill>
          <a:ln/>
        </p:spPr>
      </p:sp>
      <p:sp>
        <p:nvSpPr>
          <p:cNvPr id="13" name="node"/>
          <p:cNvSpPr/>
          <p:nvPr/>
        </p:nvSpPr>
        <p:spPr>
          <a:xfrm>
            <a:off x="7452360" y="1554480"/>
            <a:ext cx="1920240" cy="1188720"/>
          </a:xfrm>
          <a:prstGeom prst="roundRect">
            <a:avLst>
              <a:gd name="adj" fmla="val 7692"/>
            </a:avLst>
          </a:prstGeom>
          <a:solidFill>
            <a:schemeClr val="tx1"/>
          </a:solidFill>
          <a:ln/>
        </p:spPr>
      </p:sp>
      <p:sp>
        <p:nvSpPr>
          <p:cNvPr id="14" name="Text 11"/>
          <p:cNvSpPr txBox="1"/>
          <p:nvPr/>
        </p:nvSpPr>
        <p:spPr>
          <a:xfrm>
            <a:off x="7452360" y="1554480"/>
            <a:ext cx="1920240" cy="1188720"/>
          </a:xfrm>
          <a:prstGeom prst="rect">
            <a:avLst/>
          </a:prstGeom>
          <a:noFill/>
          <a:ln/>
        </p:spPr>
        <p:txBody>
          <a:bodyPr wrap="square" lIns="0" tIns="0" rIns="0" bIns="0" rtlCol="0" anchor="ctr"/>
          <a:lstStyle/>
          <a:p>
            <a:pPr marL="0" indent="0" algn="ctr">
              <a:buNone/>
            </a:pPr>
            <a:r>
              <a:rPr lang="en-US" sz="2000" b="1" dirty="0">
                <a:solidFill>
                  <a:schemeClr val="bg1"/>
                </a:solidFill>
              </a:rPr>
              <a:t>DAO</a:t>
            </a:r>
            <a:endParaRPr lang="en-US" sz="1400" dirty="0"/>
          </a:p>
          <a:p>
            <a:pPr marL="0" indent="0" algn="ctr">
              <a:buNone/>
            </a:pPr>
            <a:r>
              <a:rPr lang="en-US" sz="1400" b="1" dirty="0">
                <a:solidFill>
                  <a:schemeClr val="bg1"/>
                </a:solidFill>
              </a:rPr>
              <a:t>JDBC queries</a:t>
            </a:r>
            <a:endParaRPr lang="en-US" sz="1400" dirty="0"/>
          </a:p>
        </p:txBody>
      </p:sp>
      <p:sp>
        <p:nvSpPr>
          <p:cNvPr id="15" name="arrow"/>
          <p:cNvSpPr/>
          <p:nvPr/>
        </p:nvSpPr>
        <p:spPr>
          <a:xfrm>
            <a:off x="9418320" y="2011680"/>
            <a:ext cx="320040" cy="274320"/>
          </a:xfrm>
          <a:prstGeom prst="rightArrow">
            <a:avLst/>
          </a:prstGeom>
          <a:solidFill>
            <a:schemeClr val="accent1"/>
          </a:solidFill>
          <a:ln/>
        </p:spPr>
      </p:sp>
      <p:sp>
        <p:nvSpPr>
          <p:cNvPr id="16" name="node"/>
          <p:cNvSpPr/>
          <p:nvPr/>
        </p:nvSpPr>
        <p:spPr>
          <a:xfrm>
            <a:off x="9784080" y="1554480"/>
            <a:ext cx="1920240" cy="1188720"/>
          </a:xfrm>
          <a:prstGeom prst="roundRect">
            <a:avLst>
              <a:gd name="adj" fmla="val 7692"/>
            </a:avLst>
          </a:prstGeom>
          <a:solidFill>
            <a:schemeClr val="accent1"/>
          </a:solidFill>
          <a:ln/>
        </p:spPr>
      </p:sp>
      <p:sp>
        <p:nvSpPr>
          <p:cNvPr id="17" name="Text 14"/>
          <p:cNvSpPr txBox="1"/>
          <p:nvPr/>
        </p:nvSpPr>
        <p:spPr>
          <a:xfrm>
            <a:off x="9784080" y="1554480"/>
            <a:ext cx="1920240" cy="1188720"/>
          </a:xfrm>
          <a:prstGeom prst="rect">
            <a:avLst/>
          </a:prstGeom>
          <a:noFill/>
          <a:ln/>
        </p:spPr>
        <p:txBody>
          <a:bodyPr wrap="square" lIns="0" tIns="0" rIns="0" bIns="0" rtlCol="0" anchor="ctr"/>
          <a:lstStyle/>
          <a:p>
            <a:pPr marL="0" indent="0" algn="ctr">
              <a:buNone/>
            </a:pPr>
            <a:r>
              <a:rPr lang="en-US" sz="2000" b="1" dirty="0">
                <a:solidFill>
                  <a:schemeClr val="bg1"/>
                </a:solidFill>
              </a:rPr>
              <a:t>MySQL</a:t>
            </a:r>
            <a:endParaRPr lang="en-US" sz="1400" dirty="0"/>
          </a:p>
          <a:p>
            <a:pPr marL="0" indent="0" algn="ctr">
              <a:buNone/>
            </a:pPr>
            <a:r>
              <a:rPr lang="en-US" sz="1400" b="1" dirty="0">
                <a:solidFill>
                  <a:schemeClr val="bg1"/>
                </a:solidFill>
              </a:rPr>
              <a:t>fitpro database</a:t>
            </a:r>
            <a:endParaRPr lang="en-US" sz="1400" dirty="0"/>
          </a:p>
        </p:txBody>
      </p:sp>
      <p:sp>
        <p:nvSpPr>
          <p:cNvPr id="18" name="Text 15"/>
          <p:cNvSpPr txBox="1"/>
          <p:nvPr/>
        </p:nvSpPr>
        <p:spPr>
          <a:xfrm>
            <a:off x="2788920" y="2880360"/>
            <a:ext cx="1920240" cy="365760"/>
          </a:xfrm>
          <a:prstGeom prst="rect">
            <a:avLst/>
          </a:prstGeom>
          <a:noFill/>
          <a:ln/>
        </p:spPr>
        <p:txBody>
          <a:bodyPr wrap="square" lIns="0" tIns="0" rIns="0" bIns="0" rtlCol="0" anchor="t"/>
          <a:lstStyle/>
          <a:p>
            <a:pPr marL="0" indent="0" algn="ctr">
              <a:buNone/>
            </a:pPr>
            <a:r>
              <a:rPr lang="en-US" sz="1400" dirty="0">
                <a:solidFill>
                  <a:schemeClr val="accent5"/>
                </a:solidFill>
              </a:rPr>
              <a:t>com.fitpro.servlet</a:t>
            </a:r>
            <a:endParaRPr lang="en-US" sz="1400" dirty="0"/>
          </a:p>
        </p:txBody>
      </p:sp>
      <p:sp>
        <p:nvSpPr>
          <p:cNvPr id="19" name="Text 16"/>
          <p:cNvSpPr txBox="1"/>
          <p:nvPr/>
        </p:nvSpPr>
        <p:spPr>
          <a:xfrm>
            <a:off x="5120640" y="2880360"/>
            <a:ext cx="1920240" cy="365760"/>
          </a:xfrm>
          <a:prstGeom prst="rect">
            <a:avLst/>
          </a:prstGeom>
          <a:noFill/>
          <a:ln/>
        </p:spPr>
        <p:txBody>
          <a:bodyPr wrap="square" lIns="0" tIns="0" rIns="0" bIns="0" rtlCol="0" anchor="t"/>
          <a:lstStyle/>
          <a:p>
            <a:pPr marL="0" indent="0" algn="ctr">
              <a:buNone/>
            </a:pPr>
            <a:r>
              <a:rPr lang="en-US" sz="1400" dirty="0">
                <a:solidFill>
                  <a:schemeClr val="accent5"/>
                </a:solidFill>
              </a:rPr>
              <a:t>com.fitpro.service</a:t>
            </a:r>
            <a:endParaRPr lang="en-US" sz="1400" dirty="0"/>
          </a:p>
        </p:txBody>
      </p:sp>
      <p:sp>
        <p:nvSpPr>
          <p:cNvPr id="20" name="Text 17"/>
          <p:cNvSpPr txBox="1"/>
          <p:nvPr/>
        </p:nvSpPr>
        <p:spPr>
          <a:xfrm>
            <a:off x="7452360" y="2880360"/>
            <a:ext cx="1920240" cy="365760"/>
          </a:xfrm>
          <a:prstGeom prst="rect">
            <a:avLst/>
          </a:prstGeom>
          <a:noFill/>
          <a:ln/>
        </p:spPr>
        <p:txBody>
          <a:bodyPr wrap="square" lIns="0" tIns="0" rIns="0" bIns="0" rtlCol="0" anchor="t"/>
          <a:lstStyle/>
          <a:p>
            <a:pPr marL="0" indent="0" algn="ctr">
              <a:buNone/>
            </a:pPr>
            <a:r>
              <a:rPr lang="en-US" sz="1400" dirty="0">
                <a:solidFill>
                  <a:schemeClr val="accent5"/>
                </a:solidFill>
              </a:rPr>
              <a:t>com.fitpro.dao</a:t>
            </a:r>
            <a:endParaRPr lang="en-US" sz="1400" dirty="0"/>
          </a:p>
        </p:txBody>
      </p:sp>
      <p:sp>
        <p:nvSpPr>
          <p:cNvPr id="21" name="layer-card"/>
          <p:cNvSpPr/>
          <p:nvPr/>
        </p:nvSpPr>
        <p:spPr>
          <a:xfrm>
            <a:off x="548640" y="3749040"/>
            <a:ext cx="3566160" cy="2286000"/>
          </a:xfrm>
          <a:prstGeom prst="roundRect">
            <a:avLst>
              <a:gd name="adj" fmla="val 4800"/>
            </a:avLst>
          </a:prstGeom>
          <a:solidFill>
            <a:schemeClr val="bg2"/>
          </a:solidFill>
          <a:ln/>
        </p:spPr>
      </p:sp>
      <p:sp>
        <p:nvSpPr>
          <p:cNvPr id="22" name="Text 19"/>
          <p:cNvSpPr txBox="1"/>
          <p:nvPr/>
        </p:nvSpPr>
        <p:spPr>
          <a:xfrm>
            <a:off x="822960" y="3977640"/>
            <a:ext cx="3017520" cy="411480"/>
          </a:xfrm>
          <a:prstGeom prst="rect">
            <a:avLst/>
          </a:prstGeom>
          <a:noFill/>
          <a:ln/>
        </p:spPr>
        <p:txBody>
          <a:bodyPr wrap="square" lIns="0" tIns="0" rIns="0" bIns="0" rtlCol="0" anchor="t"/>
          <a:lstStyle/>
          <a:p>
            <a:pPr marL="0" indent="0">
              <a:buNone/>
            </a:pPr>
            <a:r>
              <a:rPr lang="en-US" sz="1800" b="1" dirty="0">
                <a:solidFill>
                  <a:schemeClr val="tx1"/>
                </a:solidFill>
              </a:rPr>
              <a:t>AuthFilter</a:t>
            </a:r>
            <a:endParaRPr lang="en-US" sz="1800" dirty="0"/>
          </a:p>
        </p:txBody>
      </p:sp>
      <p:sp>
        <p:nvSpPr>
          <p:cNvPr id="23" name="Text 20"/>
          <p:cNvSpPr txBox="1"/>
          <p:nvPr/>
        </p:nvSpPr>
        <p:spPr>
          <a:xfrm>
            <a:off x="822960" y="4526280"/>
            <a:ext cx="3017520" cy="1371600"/>
          </a:xfrm>
          <a:prstGeom prst="rect">
            <a:avLst/>
          </a:prstGeom>
          <a:noFill/>
          <a:ln/>
        </p:spPr>
        <p:txBody>
          <a:bodyPr wrap="square" lIns="0" tIns="0" rIns="0" bIns="0" rtlCol="0" anchor="t"/>
          <a:lstStyle/>
          <a:p>
            <a:pPr marL="0" indent="0">
              <a:buNone/>
            </a:pPr>
            <a:r>
              <a:rPr lang="en-US" sz="1400" dirty="0">
                <a:solidFill>
                  <a:schemeClr val="tx1"/>
                </a:solidFill>
              </a:rPr>
              <a:t>Every /app/* request is checked for a logged-in session before it reaches a servlet.</a:t>
            </a:r>
            <a:endParaRPr lang="en-US" sz="1400" dirty="0"/>
          </a:p>
        </p:txBody>
      </p:sp>
      <p:sp>
        <p:nvSpPr>
          <p:cNvPr id="24" name="layer-card"/>
          <p:cNvSpPr/>
          <p:nvPr/>
        </p:nvSpPr>
        <p:spPr>
          <a:xfrm>
            <a:off x="4389120" y="3749040"/>
            <a:ext cx="3566160" cy="2286000"/>
          </a:xfrm>
          <a:prstGeom prst="roundRect">
            <a:avLst>
              <a:gd name="adj" fmla="val 4800"/>
            </a:avLst>
          </a:prstGeom>
          <a:solidFill>
            <a:schemeClr val="bg2"/>
          </a:solidFill>
          <a:ln/>
        </p:spPr>
      </p:sp>
      <p:sp>
        <p:nvSpPr>
          <p:cNvPr id="25" name="Text 22"/>
          <p:cNvSpPr txBox="1"/>
          <p:nvPr/>
        </p:nvSpPr>
        <p:spPr>
          <a:xfrm>
            <a:off x="4663440" y="3977640"/>
            <a:ext cx="3017520" cy="411480"/>
          </a:xfrm>
          <a:prstGeom prst="rect">
            <a:avLst/>
          </a:prstGeom>
          <a:noFill/>
          <a:ln/>
        </p:spPr>
        <p:txBody>
          <a:bodyPr wrap="square" lIns="0" tIns="0" rIns="0" bIns="0" rtlCol="0" anchor="t"/>
          <a:lstStyle/>
          <a:p>
            <a:pPr marL="0" indent="0">
              <a:buNone/>
            </a:pPr>
            <a:r>
              <a:rPr lang="en-US" sz="1800" b="1" dirty="0">
                <a:solidFill>
                  <a:schemeClr val="tx1"/>
                </a:solidFill>
              </a:rPr>
              <a:t>Service layer</a:t>
            </a:r>
            <a:endParaRPr lang="en-US" sz="1800" dirty="0"/>
          </a:p>
        </p:txBody>
      </p:sp>
      <p:sp>
        <p:nvSpPr>
          <p:cNvPr id="26" name="Text 23"/>
          <p:cNvSpPr txBox="1"/>
          <p:nvPr/>
        </p:nvSpPr>
        <p:spPr>
          <a:xfrm>
            <a:off x="4663440" y="4526280"/>
            <a:ext cx="3017520" cy="1371600"/>
          </a:xfrm>
          <a:prstGeom prst="rect">
            <a:avLst/>
          </a:prstGeom>
          <a:noFill/>
          <a:ln/>
        </p:spPr>
        <p:txBody>
          <a:bodyPr wrap="square" lIns="0" tIns="0" rIns="0" bIns="0" rtlCol="0" anchor="t"/>
          <a:lstStyle/>
          <a:p>
            <a:pPr marL="0" indent="0">
              <a:buNone/>
            </a:pPr>
            <a:r>
              <a:rPr lang="en-US" sz="1400" dirty="0">
                <a:solidFill>
                  <a:schemeClr val="tx1"/>
                </a:solidFill>
              </a:rPr>
              <a:t>Validation and rules live here, so servlets stay thin and DAOs contain only SQL.</a:t>
            </a:r>
            <a:endParaRPr lang="en-US" sz="1400" dirty="0"/>
          </a:p>
        </p:txBody>
      </p:sp>
      <p:sp>
        <p:nvSpPr>
          <p:cNvPr id="27" name="layer-card"/>
          <p:cNvSpPr/>
          <p:nvPr/>
        </p:nvSpPr>
        <p:spPr>
          <a:xfrm>
            <a:off x="8229600" y="3749040"/>
            <a:ext cx="3566160" cy="2286000"/>
          </a:xfrm>
          <a:prstGeom prst="roundRect">
            <a:avLst>
              <a:gd name="adj" fmla="val 4800"/>
            </a:avLst>
          </a:prstGeom>
          <a:solidFill>
            <a:schemeClr val="bg2"/>
          </a:solidFill>
          <a:ln/>
        </p:spPr>
      </p:sp>
      <p:sp>
        <p:nvSpPr>
          <p:cNvPr id="28" name="Text 25"/>
          <p:cNvSpPr txBox="1"/>
          <p:nvPr/>
        </p:nvSpPr>
        <p:spPr>
          <a:xfrm>
            <a:off x="8503920" y="3977640"/>
            <a:ext cx="3017520" cy="411480"/>
          </a:xfrm>
          <a:prstGeom prst="rect">
            <a:avLst/>
          </a:prstGeom>
          <a:noFill/>
          <a:ln/>
        </p:spPr>
        <p:txBody>
          <a:bodyPr wrap="square" lIns="0" tIns="0" rIns="0" bIns="0" rtlCol="0" anchor="t"/>
          <a:lstStyle/>
          <a:p>
            <a:pPr marL="0" indent="0">
              <a:buNone/>
            </a:pPr>
            <a:r>
              <a:rPr lang="en-US" sz="1800" b="1" dirty="0">
                <a:solidFill>
                  <a:schemeClr val="tx1"/>
                </a:solidFill>
              </a:rPr>
              <a:t>Listener and threads</a:t>
            </a:r>
            <a:endParaRPr lang="en-US" sz="1800" dirty="0"/>
          </a:p>
        </p:txBody>
      </p:sp>
      <p:sp>
        <p:nvSpPr>
          <p:cNvPr id="29" name="Text 26"/>
          <p:cNvSpPr txBox="1"/>
          <p:nvPr/>
        </p:nvSpPr>
        <p:spPr>
          <a:xfrm>
            <a:off x="8503920" y="4526280"/>
            <a:ext cx="3017520" cy="1371600"/>
          </a:xfrm>
          <a:prstGeom prst="rect">
            <a:avLst/>
          </a:prstGeom>
          <a:noFill/>
          <a:ln/>
        </p:spPr>
        <p:txBody>
          <a:bodyPr wrap="square" lIns="0" tIns="0" rIns="0" bIns="0" rtlCol="0" anchor="t"/>
          <a:lstStyle/>
          <a:p>
            <a:pPr marL="0" indent="0">
              <a:buNone/>
            </a:pPr>
            <a:r>
              <a:rPr lang="en-US" sz="1400" dirty="0">
                <a:solidFill>
                  <a:schemeClr val="tx1"/>
                </a:solidFill>
              </a:rPr>
              <a:t>AppContextListener stops the notification thread pool when the app is undeployed.</a:t>
            </a:r>
            <a:endParaRPr lang="en-US" sz="1400" dirty="0"/>
          </a:p>
        </p:txBody>
      </p:sp>
      <p:sp>
        <p:nvSpPr>
          <p:cNvPr id="3"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Project structure</a:t>
            </a:r>
            <a:endParaRPr lang="en-US" sz="3400" dirty="0"/>
          </a:p>
        </p:txBody>
      </p:sp>
      <p:sp>
        <p:nvSpPr>
          <p:cNvPr id="4" name="tree-card"/>
          <p:cNvSpPr/>
          <p:nvPr/>
        </p:nvSpPr>
        <p:spPr>
          <a:xfrm>
            <a:off x="548640" y="1463040"/>
            <a:ext cx="6766560" cy="4572000"/>
          </a:xfrm>
          <a:prstGeom prst="roundRect">
            <a:avLst>
              <a:gd name="adj" fmla="val 2400"/>
            </a:avLst>
          </a:prstGeom>
          <a:solidFill>
            <a:schemeClr val="tx1"/>
          </a:solidFill>
          <a:ln/>
        </p:spPr>
      </p:sp>
      <p:sp>
        <p:nvSpPr>
          <p:cNvPr id="5" name="Text 2"/>
          <p:cNvSpPr txBox="1"/>
          <p:nvPr/>
        </p:nvSpPr>
        <p:spPr>
          <a:xfrm>
            <a:off x="868680" y="1737360"/>
            <a:ext cx="6217920" cy="4023360"/>
          </a:xfrm>
          <a:prstGeom prst="rect">
            <a:avLst/>
          </a:prstGeom>
          <a:noFill/>
          <a:ln/>
        </p:spPr>
        <p:txBody>
          <a:bodyPr wrap="square" lIns="0" tIns="0" rIns="0" bIns="0" rtlCol="0" anchor="t"/>
          <a:lstStyle/>
          <a:p>
            <a:pPr marL="0" indent="0">
              <a:buNone/>
            </a:pPr>
            <a:r>
              <a:rPr lang="en-US" sz="1500" dirty="0">
                <a:solidFill>
                  <a:schemeClr val="bg1"/>
                </a:solidFill>
                <a:latin typeface="Courier New" pitchFamily="34" charset="0"/>
                <a:ea typeface="Courier New" pitchFamily="34" charset="-122"/>
                <a:cs typeface="Courier New" pitchFamily="34" charset="-120"/>
              </a:rPr>
              <a:t>fitpro/</a:t>
            </a:r>
            <a:endParaRPr lang="en-US" sz="1500" dirty="0"/>
          </a:p>
          <a:p>
            <a:pPr marL="0" indent="0">
              <a:buNone/>
            </a:pPr>
            <a:r>
              <a:rPr lang="en-US" sz="1500" dirty="0">
                <a:solidFill>
                  <a:schemeClr val="bg1"/>
                </a:solidFill>
                <a:latin typeface="Courier New" pitchFamily="34" charset="0"/>
                <a:ea typeface="Courier New" pitchFamily="34" charset="-122"/>
                <a:cs typeface="Courier New" pitchFamily="34" charset="-120"/>
              </a:rPr>
              <a:t>|-- pom.xml</a:t>
            </a:r>
            <a:endParaRPr lang="en-US" sz="1500" dirty="0"/>
          </a:p>
          <a:p>
            <a:pPr marL="0" indent="0">
              <a:buNone/>
            </a:pPr>
            <a:r>
              <a:rPr lang="en-US" sz="1500" dirty="0">
                <a:solidFill>
                  <a:schemeClr val="bg1"/>
                </a:solidFill>
                <a:latin typeface="Courier New" pitchFamily="34" charset="0"/>
                <a:ea typeface="Courier New" pitchFamily="34" charset="-122"/>
                <a:cs typeface="Courier New" pitchFamily="34" charset="-120"/>
              </a:rPr>
              <a:t>|-- README.md</a:t>
            </a:r>
            <a:endParaRPr lang="en-US" sz="1500" dirty="0"/>
          </a:p>
          <a:p>
            <a:pPr marL="0" indent="0">
              <a:buNone/>
            </a:pPr>
            <a:r>
              <a:rPr lang="en-US" sz="1500" dirty="0">
                <a:solidFill>
                  <a:schemeClr val="bg1"/>
                </a:solidFill>
                <a:latin typeface="Courier New" pitchFamily="34" charset="0"/>
                <a:ea typeface="Courier New" pitchFamily="34" charset="-122"/>
                <a:cs typeface="Courier New" pitchFamily="34" charset="-120"/>
              </a:rPr>
              <a:t>|-- database/schema.sql</a:t>
            </a:r>
            <a:endParaRPr lang="en-US" sz="1500" dirty="0"/>
          </a:p>
          <a:p>
            <a:pPr marL="0" indent="0">
              <a:buNone/>
            </a:pPr>
            <a:r>
              <a:rPr lang="en-US" sz="1500" dirty="0">
                <a:solidFill>
                  <a:schemeClr val="bg1"/>
                </a:solidFill>
                <a:latin typeface="Courier New" pitchFamily="34" charset="0"/>
                <a:ea typeface="Courier New" pitchFamily="34" charset="-122"/>
                <a:cs typeface="Courier New" pitchFamily="34" charset="-120"/>
              </a:rPr>
              <a:t>`-- src/main/</a:t>
            </a:r>
            <a:endParaRPr lang="en-US" sz="1500" dirty="0"/>
          </a:p>
          <a:p>
            <a:pPr marL="0" indent="0">
              <a:buNone/>
            </a:pPr>
            <a:r>
              <a:rPr lang="en-US" sz="1500" dirty="0">
                <a:solidFill>
                  <a:schemeClr val="bg1"/>
                </a:solidFill>
                <a:latin typeface="Courier New" pitchFamily="34" charset="0"/>
                <a:ea typeface="Courier New" pitchFamily="34" charset="-122"/>
                <a:cs typeface="Courier New" pitchFamily="34" charset="-120"/>
              </a:rPr>
              <a:t>    |-- java/com/fitpro/</a:t>
            </a:r>
            <a:endParaRPr lang="en-US" sz="1500" dirty="0"/>
          </a:p>
          <a:p>
            <a:pPr marL="0" indent="0">
              <a:buNone/>
            </a:pPr>
            <a:r>
              <a:rPr lang="en-US" sz="1500" dirty="0">
                <a:solidFill>
                  <a:schemeClr val="bg1"/>
                </a:solidFill>
                <a:latin typeface="Courier New" pitchFamily="34" charset="0"/>
                <a:ea typeface="Courier New" pitchFamily="34" charset="-122"/>
                <a:cs typeface="Courier New" pitchFamily="34" charset="-120"/>
              </a:rPr>
              <a:t>    |   |-- model/     entities (OOP)</a:t>
            </a:r>
            <a:endParaRPr lang="en-US" sz="1500" dirty="0"/>
          </a:p>
          <a:p>
            <a:pPr marL="0" indent="0">
              <a:buNone/>
            </a:pPr>
            <a:r>
              <a:rPr lang="en-US" sz="1500" dirty="0">
                <a:solidFill>
                  <a:schemeClr val="bg1"/>
                </a:solidFill>
                <a:latin typeface="Courier New" pitchFamily="34" charset="0"/>
                <a:ea typeface="Courier New" pitchFamily="34" charset="-122"/>
                <a:cs typeface="Courier New" pitchFamily="34" charset="-120"/>
              </a:rPr>
              <a:t>    |   |-- dao/       JDBC classes</a:t>
            </a:r>
            <a:endParaRPr lang="en-US" sz="1500" dirty="0"/>
          </a:p>
          <a:p>
            <a:pPr marL="0" indent="0">
              <a:buNone/>
            </a:pPr>
            <a:r>
              <a:rPr lang="en-US" sz="1500" dirty="0">
                <a:solidFill>
                  <a:schemeClr val="bg1"/>
                </a:solidFill>
                <a:latin typeface="Courier New" pitchFamily="34" charset="0"/>
                <a:ea typeface="Courier New" pitchFamily="34" charset="-122"/>
                <a:cs typeface="Courier New" pitchFamily="34" charset="-120"/>
              </a:rPr>
              <a:t>    |   |-- service/   business logic</a:t>
            </a:r>
            <a:endParaRPr lang="en-US" sz="1500" dirty="0"/>
          </a:p>
          <a:p>
            <a:pPr marL="0" indent="0">
              <a:buNone/>
            </a:pPr>
            <a:r>
              <a:rPr lang="en-US" sz="1500" dirty="0">
                <a:solidFill>
                  <a:schemeClr val="bg1"/>
                </a:solidFill>
                <a:latin typeface="Courier New" pitchFamily="34" charset="0"/>
                <a:ea typeface="Courier New" pitchFamily="34" charset="-122"/>
                <a:cs typeface="Courier New" pitchFamily="34" charset="-120"/>
              </a:rPr>
              <a:t>    |   |-- servlet/   controllers</a:t>
            </a:r>
            <a:endParaRPr lang="en-US" sz="1500" dirty="0"/>
          </a:p>
          <a:p>
            <a:pPr marL="0" indent="0">
              <a:buNone/>
            </a:pPr>
            <a:r>
              <a:rPr lang="en-US" sz="1500" dirty="0">
                <a:solidFill>
                  <a:schemeClr val="bg1"/>
                </a:solidFill>
                <a:latin typeface="Courier New" pitchFamily="34" charset="0"/>
                <a:ea typeface="Courier New" pitchFamily="34" charset="-122"/>
                <a:cs typeface="Courier New" pitchFamily="34" charset="-120"/>
              </a:rPr>
              <a:t>    |   |-- filter/ listener/</a:t>
            </a:r>
            <a:endParaRPr lang="en-US" sz="1500" dirty="0"/>
          </a:p>
          <a:p>
            <a:pPr marL="0" indent="0">
              <a:buNone/>
            </a:pPr>
            <a:r>
              <a:rPr lang="en-US" sz="1500" dirty="0">
                <a:solidFill>
                  <a:schemeClr val="bg1"/>
                </a:solidFill>
                <a:latin typeface="Courier New" pitchFamily="34" charset="0"/>
                <a:ea typeface="Courier New" pitchFamily="34" charset="-122"/>
                <a:cs typeface="Courier New" pitchFamily="34" charset="-120"/>
              </a:rPr>
              <a:t>    |   `-- util/ exception/</a:t>
            </a:r>
            <a:endParaRPr lang="en-US" sz="1500" dirty="0"/>
          </a:p>
          <a:p>
            <a:pPr marL="0" indent="0">
              <a:buNone/>
            </a:pPr>
            <a:r>
              <a:rPr lang="en-US" sz="1500" dirty="0">
                <a:solidFill>
                  <a:schemeClr val="bg1"/>
                </a:solidFill>
                <a:latin typeface="Courier New" pitchFamily="34" charset="0"/>
                <a:ea typeface="Courier New" pitchFamily="34" charset="-122"/>
                <a:cs typeface="Courier New" pitchFamily="34" charset="-120"/>
              </a:rPr>
              <a:t>    |-- resources/db.properties</a:t>
            </a:r>
            <a:endParaRPr lang="en-US" sz="1500" dirty="0"/>
          </a:p>
          <a:p>
            <a:pPr marL="0" indent="0">
              <a:buNone/>
            </a:pPr>
            <a:r>
              <a:rPr lang="en-US" sz="1500" dirty="0">
                <a:solidFill>
                  <a:schemeClr val="bg1"/>
                </a:solidFill>
                <a:latin typeface="Courier New" pitchFamily="34" charset="0"/>
                <a:ea typeface="Courier New" pitchFamily="34" charset="-122"/>
                <a:cs typeface="Courier New" pitchFamily="34" charset="-120"/>
              </a:rPr>
              <a:t>    `-- webapp/ css, js, JSP views</a:t>
            </a:r>
            <a:endParaRPr lang="en-US" sz="1500" dirty="0"/>
          </a:p>
        </p:txBody>
      </p:sp>
      <p:sp>
        <p:nvSpPr>
          <p:cNvPr id="6" name="stat-card"/>
          <p:cNvSpPr/>
          <p:nvPr/>
        </p:nvSpPr>
        <p:spPr>
          <a:xfrm>
            <a:off x="7680960" y="1463040"/>
            <a:ext cx="1920240" cy="2103120"/>
          </a:xfrm>
          <a:prstGeom prst="roundRect">
            <a:avLst>
              <a:gd name="adj" fmla="val 5714"/>
            </a:avLst>
          </a:prstGeom>
          <a:solidFill>
            <a:schemeClr val="bg2"/>
          </a:solidFill>
          <a:ln/>
        </p:spPr>
      </p:sp>
      <p:sp>
        <p:nvSpPr>
          <p:cNvPr id="7" name="Text 4"/>
          <p:cNvSpPr txBox="1"/>
          <p:nvPr/>
        </p:nvSpPr>
        <p:spPr>
          <a:xfrm>
            <a:off x="7680960" y="1783080"/>
            <a:ext cx="1920240" cy="914400"/>
          </a:xfrm>
          <a:prstGeom prst="rect">
            <a:avLst/>
          </a:prstGeom>
          <a:noFill/>
          <a:ln/>
        </p:spPr>
        <p:txBody>
          <a:bodyPr wrap="square" lIns="0" tIns="0" rIns="0" bIns="0" rtlCol="0" anchor="t"/>
          <a:lstStyle/>
          <a:p>
            <a:pPr marL="0" indent="0" algn="ctr">
              <a:buNone/>
            </a:pPr>
            <a:r>
              <a:rPr lang="en-US" sz="5400" b="1" dirty="0">
                <a:solidFill>
                  <a:schemeClr val="accent1"/>
                </a:solidFill>
              </a:rPr>
              <a:t>29</a:t>
            </a:r>
            <a:endParaRPr lang="en-US" sz="5400" dirty="0"/>
          </a:p>
        </p:txBody>
      </p:sp>
      <p:sp>
        <p:nvSpPr>
          <p:cNvPr id="8" name="Text 5"/>
          <p:cNvSpPr txBox="1"/>
          <p:nvPr/>
        </p:nvSpPr>
        <p:spPr>
          <a:xfrm>
            <a:off x="7680960" y="2834640"/>
            <a:ext cx="1920240" cy="365760"/>
          </a:xfrm>
          <a:prstGeom prst="rect">
            <a:avLst/>
          </a:prstGeom>
          <a:noFill/>
          <a:ln/>
        </p:spPr>
        <p:txBody>
          <a:bodyPr wrap="square" lIns="0" tIns="0" rIns="0" bIns="0" rtlCol="0" anchor="t"/>
          <a:lstStyle/>
          <a:p>
            <a:pPr marL="0" indent="0" algn="ctr">
              <a:buNone/>
            </a:pPr>
            <a:r>
              <a:rPr lang="en-US" sz="1600" dirty="0">
                <a:solidFill>
                  <a:schemeClr val="tx1"/>
                </a:solidFill>
              </a:rPr>
              <a:t>Java classes</a:t>
            </a:r>
            <a:endParaRPr lang="en-US" sz="1600" dirty="0"/>
          </a:p>
        </p:txBody>
      </p:sp>
      <p:sp>
        <p:nvSpPr>
          <p:cNvPr id="9" name="stat-card"/>
          <p:cNvSpPr/>
          <p:nvPr/>
        </p:nvSpPr>
        <p:spPr>
          <a:xfrm>
            <a:off x="9829800" y="1463040"/>
            <a:ext cx="1920240" cy="2103120"/>
          </a:xfrm>
          <a:prstGeom prst="roundRect">
            <a:avLst>
              <a:gd name="adj" fmla="val 5714"/>
            </a:avLst>
          </a:prstGeom>
          <a:solidFill>
            <a:schemeClr val="bg2"/>
          </a:solidFill>
          <a:ln/>
        </p:spPr>
      </p:sp>
      <p:sp>
        <p:nvSpPr>
          <p:cNvPr id="10" name="Text 7"/>
          <p:cNvSpPr txBox="1"/>
          <p:nvPr/>
        </p:nvSpPr>
        <p:spPr>
          <a:xfrm>
            <a:off x="9829800" y="1783080"/>
            <a:ext cx="1920240" cy="914400"/>
          </a:xfrm>
          <a:prstGeom prst="rect">
            <a:avLst/>
          </a:prstGeom>
          <a:noFill/>
          <a:ln/>
        </p:spPr>
        <p:txBody>
          <a:bodyPr wrap="square" lIns="0" tIns="0" rIns="0" bIns="0" rtlCol="0" anchor="t"/>
          <a:lstStyle/>
          <a:p>
            <a:pPr marL="0" indent="0" algn="ctr">
              <a:buNone/>
            </a:pPr>
            <a:r>
              <a:rPr lang="en-US" sz="5400" b="1" dirty="0">
                <a:solidFill>
                  <a:schemeClr val="accent1"/>
                </a:solidFill>
              </a:rPr>
              <a:t>7</a:t>
            </a:r>
            <a:endParaRPr lang="en-US" sz="5400" dirty="0"/>
          </a:p>
        </p:txBody>
      </p:sp>
      <p:sp>
        <p:nvSpPr>
          <p:cNvPr id="11" name="Text 8"/>
          <p:cNvSpPr txBox="1"/>
          <p:nvPr/>
        </p:nvSpPr>
        <p:spPr>
          <a:xfrm>
            <a:off x="9829800" y="2834640"/>
            <a:ext cx="1920240" cy="365760"/>
          </a:xfrm>
          <a:prstGeom prst="rect">
            <a:avLst/>
          </a:prstGeom>
          <a:noFill/>
          <a:ln/>
        </p:spPr>
        <p:txBody>
          <a:bodyPr wrap="square" lIns="0" tIns="0" rIns="0" bIns="0" rtlCol="0" anchor="t"/>
          <a:lstStyle/>
          <a:p>
            <a:pPr marL="0" indent="0" algn="ctr">
              <a:buNone/>
            </a:pPr>
            <a:r>
              <a:rPr lang="en-US" sz="1600" dirty="0">
                <a:solidFill>
                  <a:schemeClr val="tx1"/>
                </a:solidFill>
              </a:rPr>
              <a:t>JSP pages</a:t>
            </a:r>
            <a:endParaRPr lang="en-US" sz="1600" dirty="0"/>
          </a:p>
        </p:txBody>
      </p:sp>
      <p:sp>
        <p:nvSpPr>
          <p:cNvPr id="12" name="stat-card"/>
          <p:cNvSpPr/>
          <p:nvPr/>
        </p:nvSpPr>
        <p:spPr>
          <a:xfrm>
            <a:off x="7680960" y="3749040"/>
            <a:ext cx="1920240" cy="2103120"/>
          </a:xfrm>
          <a:prstGeom prst="roundRect">
            <a:avLst>
              <a:gd name="adj" fmla="val 5714"/>
            </a:avLst>
          </a:prstGeom>
          <a:solidFill>
            <a:schemeClr val="bg2"/>
          </a:solidFill>
          <a:ln/>
        </p:spPr>
      </p:sp>
      <p:sp>
        <p:nvSpPr>
          <p:cNvPr id="13" name="Text 10"/>
          <p:cNvSpPr txBox="1"/>
          <p:nvPr/>
        </p:nvSpPr>
        <p:spPr>
          <a:xfrm>
            <a:off x="7680960" y="4069080"/>
            <a:ext cx="1920240" cy="914400"/>
          </a:xfrm>
          <a:prstGeom prst="rect">
            <a:avLst/>
          </a:prstGeom>
          <a:noFill/>
          <a:ln/>
        </p:spPr>
        <p:txBody>
          <a:bodyPr wrap="square" lIns="0" tIns="0" rIns="0" bIns="0" rtlCol="0" anchor="t"/>
          <a:lstStyle/>
          <a:p>
            <a:pPr marL="0" indent="0" algn="ctr">
              <a:buNone/>
            </a:pPr>
            <a:r>
              <a:rPr lang="en-US" sz="5400" b="1" dirty="0">
                <a:solidFill>
                  <a:schemeClr val="accent1"/>
                </a:solidFill>
              </a:rPr>
              <a:t>4</a:t>
            </a:r>
            <a:endParaRPr lang="en-US" sz="5400" dirty="0"/>
          </a:p>
        </p:txBody>
      </p:sp>
      <p:sp>
        <p:nvSpPr>
          <p:cNvPr id="14" name="Text 11"/>
          <p:cNvSpPr txBox="1"/>
          <p:nvPr/>
        </p:nvSpPr>
        <p:spPr>
          <a:xfrm>
            <a:off x="7680960" y="5120640"/>
            <a:ext cx="1920240" cy="365760"/>
          </a:xfrm>
          <a:prstGeom prst="rect">
            <a:avLst/>
          </a:prstGeom>
          <a:noFill/>
          <a:ln/>
        </p:spPr>
        <p:txBody>
          <a:bodyPr wrap="square" lIns="0" tIns="0" rIns="0" bIns="0" rtlCol="0" anchor="t"/>
          <a:lstStyle/>
          <a:p>
            <a:pPr marL="0" indent="0" algn="ctr">
              <a:buNone/>
            </a:pPr>
            <a:r>
              <a:rPr lang="en-US" sz="1600" dirty="0">
                <a:solidFill>
                  <a:schemeClr val="tx1"/>
                </a:solidFill>
              </a:rPr>
              <a:t>DB tables</a:t>
            </a:r>
            <a:endParaRPr lang="en-US" sz="1600" dirty="0"/>
          </a:p>
        </p:txBody>
      </p:sp>
      <p:sp>
        <p:nvSpPr>
          <p:cNvPr id="15" name="stat-card"/>
          <p:cNvSpPr/>
          <p:nvPr/>
        </p:nvSpPr>
        <p:spPr>
          <a:xfrm>
            <a:off x="9829800" y="3749040"/>
            <a:ext cx="1920240" cy="2103120"/>
          </a:xfrm>
          <a:prstGeom prst="roundRect">
            <a:avLst>
              <a:gd name="adj" fmla="val 5714"/>
            </a:avLst>
          </a:prstGeom>
          <a:solidFill>
            <a:schemeClr val="bg2"/>
          </a:solidFill>
          <a:ln/>
        </p:spPr>
      </p:sp>
      <p:sp>
        <p:nvSpPr>
          <p:cNvPr id="16" name="Text 13"/>
          <p:cNvSpPr txBox="1"/>
          <p:nvPr/>
        </p:nvSpPr>
        <p:spPr>
          <a:xfrm>
            <a:off x="9829800" y="4069080"/>
            <a:ext cx="1920240" cy="914400"/>
          </a:xfrm>
          <a:prstGeom prst="rect">
            <a:avLst/>
          </a:prstGeom>
          <a:noFill/>
          <a:ln/>
        </p:spPr>
        <p:txBody>
          <a:bodyPr wrap="square" lIns="0" tIns="0" rIns="0" bIns="0" rtlCol="0" anchor="t"/>
          <a:lstStyle/>
          <a:p>
            <a:pPr marL="0" indent="0" algn="ctr">
              <a:buNone/>
            </a:pPr>
            <a:r>
              <a:rPr lang="en-US" sz="5400" b="1" dirty="0">
                <a:solidFill>
                  <a:schemeClr val="accent1"/>
                </a:solidFill>
              </a:rPr>
              <a:t>6</a:t>
            </a:r>
            <a:endParaRPr lang="en-US" sz="5400" dirty="0"/>
          </a:p>
        </p:txBody>
      </p:sp>
      <p:sp>
        <p:nvSpPr>
          <p:cNvPr id="17" name="Text 14"/>
          <p:cNvSpPr txBox="1"/>
          <p:nvPr/>
        </p:nvSpPr>
        <p:spPr>
          <a:xfrm>
            <a:off x="9829800" y="5120640"/>
            <a:ext cx="1920240" cy="365760"/>
          </a:xfrm>
          <a:prstGeom prst="rect">
            <a:avLst/>
          </a:prstGeom>
          <a:noFill/>
          <a:ln/>
        </p:spPr>
        <p:txBody>
          <a:bodyPr wrap="square" lIns="0" tIns="0" rIns="0" bIns="0" rtlCol="0" anchor="t"/>
          <a:lstStyle/>
          <a:p>
            <a:pPr marL="0" indent="0" algn="ctr">
              <a:buNone/>
            </a:pPr>
            <a:r>
              <a:rPr lang="en-US" sz="1600" dirty="0">
                <a:solidFill>
                  <a:schemeClr val="tx1"/>
                </a:solidFill>
              </a:rPr>
              <a:t>Servlets</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Database design</a:t>
            </a:r>
            <a:endParaRPr lang="en-US" sz="3400" dirty="0"/>
          </a:p>
        </p:txBody>
      </p:sp>
      <p:sp>
        <p:nvSpPr>
          <p:cNvPr id="4" name="table-card"/>
          <p:cNvSpPr/>
          <p:nvPr/>
        </p:nvSpPr>
        <p:spPr>
          <a:xfrm>
            <a:off x="457200" y="1463040"/>
            <a:ext cx="2651760" cy="3383280"/>
          </a:xfrm>
          <a:prstGeom prst="roundRect">
            <a:avLst>
              <a:gd name="adj" fmla="val 4138"/>
            </a:avLst>
          </a:prstGeom>
          <a:solidFill>
            <a:schemeClr val="bg2"/>
          </a:solidFill>
          <a:ln/>
        </p:spPr>
      </p:sp>
      <p:sp>
        <p:nvSpPr>
          <p:cNvPr id="5" name="table-head"/>
          <p:cNvSpPr/>
          <p:nvPr/>
        </p:nvSpPr>
        <p:spPr>
          <a:xfrm>
            <a:off x="457200" y="1463040"/>
            <a:ext cx="2651760" cy="594360"/>
          </a:xfrm>
          <a:prstGeom prst="roundRect">
            <a:avLst>
              <a:gd name="adj" fmla="val 15385"/>
            </a:avLst>
          </a:prstGeom>
          <a:solidFill>
            <a:schemeClr val="tx1"/>
          </a:solidFill>
          <a:ln/>
        </p:spPr>
      </p:sp>
      <p:sp>
        <p:nvSpPr>
          <p:cNvPr id="6" name="Text 3"/>
          <p:cNvSpPr txBox="1"/>
          <p:nvPr/>
        </p:nvSpPr>
        <p:spPr>
          <a:xfrm>
            <a:off x="457200" y="1463040"/>
            <a:ext cx="2651760" cy="594360"/>
          </a:xfrm>
          <a:prstGeom prst="rect">
            <a:avLst/>
          </a:prstGeom>
          <a:noFill/>
          <a:ln/>
        </p:spPr>
        <p:txBody>
          <a:bodyPr wrap="square" lIns="0" tIns="0" rIns="0" bIns="0" rtlCol="0" anchor="ctr"/>
          <a:lstStyle/>
          <a:p>
            <a:pPr marL="0" indent="0" algn="ctr">
              <a:buNone/>
            </a:pPr>
            <a:r>
              <a:rPr lang="en-US" sz="1800" b="1" dirty="0">
                <a:solidFill>
                  <a:schemeClr val="bg1"/>
                </a:solidFill>
              </a:rPr>
              <a:t>users</a:t>
            </a:r>
            <a:endParaRPr lang="en-US" sz="1800" dirty="0"/>
          </a:p>
        </p:txBody>
      </p:sp>
      <p:sp>
        <p:nvSpPr>
          <p:cNvPr id="7" name="Text 4"/>
          <p:cNvSpPr txBox="1"/>
          <p:nvPr/>
        </p:nvSpPr>
        <p:spPr>
          <a:xfrm>
            <a:off x="685800" y="2286000"/>
            <a:ext cx="2286000" cy="2377440"/>
          </a:xfrm>
          <a:prstGeom prst="rect">
            <a:avLst/>
          </a:prstGeom>
          <a:noFill/>
          <a:ln/>
        </p:spPr>
        <p:txBody>
          <a:bodyPr wrap="square" lIns="0" tIns="0" rIns="0" bIns="0" rtlCol="0" anchor="t"/>
          <a:lstStyle/>
          <a:p>
            <a:pPr marL="0" indent="0">
              <a:spcAft>
                <a:spcPts val="600"/>
              </a:spcAft>
              <a:buNone/>
            </a:pPr>
            <a:r>
              <a:rPr lang="en-US" sz="1400" dirty="0">
                <a:solidFill>
                  <a:schemeClr val="tx1"/>
                </a:solidFill>
              </a:rPr>
              <a:t>id (PK)</a:t>
            </a:r>
            <a:endParaRPr lang="en-US" sz="1400" dirty="0"/>
          </a:p>
          <a:p>
            <a:pPr marL="0" indent="0">
              <a:spcAft>
                <a:spcPts val="600"/>
              </a:spcAft>
              <a:buNone/>
            </a:pPr>
            <a:r>
              <a:rPr lang="en-US" sz="1400" dirty="0">
                <a:solidFill>
                  <a:schemeClr val="tx1"/>
                </a:solidFill>
              </a:rPr>
              <a:t>full_name</a:t>
            </a:r>
            <a:endParaRPr lang="en-US" sz="1400" dirty="0"/>
          </a:p>
          <a:p>
            <a:pPr marL="0" indent="0">
              <a:spcAft>
                <a:spcPts val="600"/>
              </a:spcAft>
              <a:buNone/>
            </a:pPr>
            <a:r>
              <a:rPr lang="en-US" sz="1400" dirty="0">
                <a:solidFill>
                  <a:schemeClr val="tx1"/>
                </a:solidFill>
              </a:rPr>
              <a:t>email (UNIQUE)</a:t>
            </a:r>
            <a:endParaRPr lang="en-US" sz="1400" dirty="0"/>
          </a:p>
          <a:p>
            <a:pPr marL="0" indent="0">
              <a:spcAft>
                <a:spcPts val="600"/>
              </a:spcAft>
              <a:buNone/>
            </a:pPr>
            <a:r>
              <a:rPr lang="en-US" sz="1400" dirty="0">
                <a:solidFill>
                  <a:schemeClr val="tx1"/>
                </a:solidFill>
              </a:rPr>
              <a:t>password_hash</a:t>
            </a:r>
            <a:endParaRPr lang="en-US" sz="1400" dirty="0"/>
          </a:p>
          <a:p>
            <a:pPr marL="0" indent="0">
              <a:spcAft>
                <a:spcPts val="600"/>
              </a:spcAft>
              <a:buNone/>
            </a:pPr>
            <a:r>
              <a:rPr lang="en-US" sz="1400" dirty="0">
                <a:solidFill>
                  <a:schemeClr val="tx1"/>
                </a:solidFill>
              </a:rPr>
              <a:t>role: MEMBER / TRAINER</a:t>
            </a:r>
            <a:endParaRPr lang="en-US" sz="1400" dirty="0"/>
          </a:p>
        </p:txBody>
      </p:sp>
      <p:sp>
        <p:nvSpPr>
          <p:cNvPr id="8" name="table-card"/>
          <p:cNvSpPr/>
          <p:nvPr/>
        </p:nvSpPr>
        <p:spPr>
          <a:xfrm>
            <a:off x="3291840" y="1463040"/>
            <a:ext cx="2651760" cy="3383280"/>
          </a:xfrm>
          <a:prstGeom prst="roundRect">
            <a:avLst>
              <a:gd name="adj" fmla="val 4138"/>
            </a:avLst>
          </a:prstGeom>
          <a:solidFill>
            <a:schemeClr val="bg2"/>
          </a:solidFill>
          <a:ln/>
        </p:spPr>
      </p:sp>
      <p:sp>
        <p:nvSpPr>
          <p:cNvPr id="9" name="table-head"/>
          <p:cNvSpPr/>
          <p:nvPr/>
        </p:nvSpPr>
        <p:spPr>
          <a:xfrm>
            <a:off x="3291840" y="1463040"/>
            <a:ext cx="2651760" cy="594360"/>
          </a:xfrm>
          <a:prstGeom prst="roundRect">
            <a:avLst>
              <a:gd name="adj" fmla="val 15385"/>
            </a:avLst>
          </a:prstGeom>
          <a:solidFill>
            <a:schemeClr val="tx1"/>
          </a:solidFill>
          <a:ln/>
        </p:spPr>
      </p:sp>
      <p:sp>
        <p:nvSpPr>
          <p:cNvPr id="10" name="Text 7"/>
          <p:cNvSpPr txBox="1"/>
          <p:nvPr/>
        </p:nvSpPr>
        <p:spPr>
          <a:xfrm>
            <a:off x="3291840" y="1463040"/>
            <a:ext cx="2651760" cy="594360"/>
          </a:xfrm>
          <a:prstGeom prst="rect">
            <a:avLst/>
          </a:prstGeom>
          <a:noFill/>
          <a:ln/>
        </p:spPr>
        <p:txBody>
          <a:bodyPr wrap="square" lIns="0" tIns="0" rIns="0" bIns="0" rtlCol="0" anchor="ctr"/>
          <a:lstStyle/>
          <a:p>
            <a:pPr marL="0" indent="0" algn="ctr">
              <a:buNone/>
            </a:pPr>
            <a:r>
              <a:rPr lang="en-US" sz="1800" b="1" dirty="0">
                <a:solidFill>
                  <a:schemeClr val="bg1"/>
                </a:solidFill>
              </a:rPr>
              <a:t>workouts</a:t>
            </a:r>
            <a:endParaRPr lang="en-US" sz="1800" dirty="0"/>
          </a:p>
        </p:txBody>
      </p:sp>
      <p:sp>
        <p:nvSpPr>
          <p:cNvPr id="11" name="Text 8"/>
          <p:cNvSpPr txBox="1"/>
          <p:nvPr/>
        </p:nvSpPr>
        <p:spPr>
          <a:xfrm>
            <a:off x="3520440" y="2286000"/>
            <a:ext cx="2286000" cy="2377440"/>
          </a:xfrm>
          <a:prstGeom prst="rect">
            <a:avLst/>
          </a:prstGeom>
          <a:noFill/>
          <a:ln/>
        </p:spPr>
        <p:txBody>
          <a:bodyPr wrap="square" lIns="0" tIns="0" rIns="0" bIns="0" rtlCol="0" anchor="t"/>
          <a:lstStyle/>
          <a:p>
            <a:pPr marL="0" indent="0">
              <a:spcAft>
                <a:spcPts val="600"/>
              </a:spcAft>
              <a:buNone/>
            </a:pPr>
            <a:r>
              <a:rPr lang="en-US" sz="1400" dirty="0">
                <a:solidFill>
                  <a:schemeClr val="tx1"/>
                </a:solidFill>
              </a:rPr>
              <a:t>id (PK)</a:t>
            </a:r>
            <a:endParaRPr lang="en-US" sz="1400" dirty="0"/>
          </a:p>
          <a:p>
            <a:pPr marL="0" indent="0">
              <a:spcAft>
                <a:spcPts val="600"/>
              </a:spcAft>
              <a:buNone/>
            </a:pPr>
            <a:r>
              <a:rPr lang="en-US" sz="1400" dirty="0">
                <a:solidFill>
                  <a:schemeClr val="tx1"/>
                </a:solidFill>
              </a:rPr>
              <a:t>title, description</a:t>
            </a:r>
            <a:endParaRPr lang="en-US" sz="1400" dirty="0"/>
          </a:p>
          <a:p>
            <a:pPr marL="0" indent="0">
              <a:spcAft>
                <a:spcPts val="600"/>
              </a:spcAft>
              <a:buNone/>
            </a:pPr>
            <a:r>
              <a:rPr lang="en-US" sz="1400" dirty="0">
                <a:solidFill>
                  <a:schemeClr val="tx1"/>
                </a:solidFill>
              </a:rPr>
              <a:t>type, level</a:t>
            </a:r>
            <a:endParaRPr lang="en-US" sz="1400" dirty="0"/>
          </a:p>
          <a:p>
            <a:pPr marL="0" indent="0">
              <a:spcAft>
                <a:spcPts val="600"/>
              </a:spcAft>
              <a:buNone/>
            </a:pPr>
            <a:r>
              <a:rPr lang="en-US" sz="1400" dirty="0">
                <a:solidFill>
                  <a:schemeClr val="tx1"/>
                </a:solidFill>
              </a:rPr>
              <a:t>duration_min</a:t>
            </a:r>
            <a:endParaRPr lang="en-US" sz="1400" dirty="0"/>
          </a:p>
          <a:p>
            <a:pPr marL="0" indent="0">
              <a:spcAft>
                <a:spcPts val="600"/>
              </a:spcAft>
              <a:buNone/>
            </a:pPr>
            <a:r>
              <a:rPr lang="en-US" sz="1400" dirty="0">
                <a:solidFill>
                  <a:schemeClr val="tx1"/>
                </a:solidFill>
              </a:rPr>
              <a:t>met_value</a:t>
            </a:r>
            <a:endParaRPr lang="en-US" sz="1400" dirty="0"/>
          </a:p>
          <a:p>
            <a:pPr marL="0" indent="0">
              <a:spcAft>
                <a:spcPts val="600"/>
              </a:spcAft>
              <a:buNone/>
            </a:pPr>
            <a:r>
              <a:rPr lang="en-US" sz="1400" dirty="0">
                <a:solidFill>
                  <a:schemeClr val="tx1"/>
                </a:solidFill>
              </a:rPr>
              <a:t>trainer_id (FK)</a:t>
            </a:r>
            <a:endParaRPr lang="en-US" sz="1400" dirty="0"/>
          </a:p>
        </p:txBody>
      </p:sp>
      <p:sp>
        <p:nvSpPr>
          <p:cNvPr id="12" name="table-card"/>
          <p:cNvSpPr/>
          <p:nvPr/>
        </p:nvSpPr>
        <p:spPr>
          <a:xfrm>
            <a:off x="6126480" y="1463040"/>
            <a:ext cx="2651760" cy="3383280"/>
          </a:xfrm>
          <a:prstGeom prst="roundRect">
            <a:avLst>
              <a:gd name="adj" fmla="val 4138"/>
            </a:avLst>
          </a:prstGeom>
          <a:solidFill>
            <a:schemeClr val="bg2"/>
          </a:solidFill>
          <a:ln/>
        </p:spPr>
      </p:sp>
      <p:sp>
        <p:nvSpPr>
          <p:cNvPr id="13" name="table-head"/>
          <p:cNvSpPr/>
          <p:nvPr/>
        </p:nvSpPr>
        <p:spPr>
          <a:xfrm>
            <a:off x="6126480" y="1463040"/>
            <a:ext cx="2651760" cy="594360"/>
          </a:xfrm>
          <a:prstGeom prst="roundRect">
            <a:avLst>
              <a:gd name="adj" fmla="val 15385"/>
            </a:avLst>
          </a:prstGeom>
          <a:solidFill>
            <a:schemeClr val="tx1"/>
          </a:solidFill>
          <a:ln/>
        </p:spPr>
      </p:sp>
      <p:sp>
        <p:nvSpPr>
          <p:cNvPr id="14" name="Text 11"/>
          <p:cNvSpPr txBox="1"/>
          <p:nvPr/>
        </p:nvSpPr>
        <p:spPr>
          <a:xfrm>
            <a:off x="6126480" y="1463040"/>
            <a:ext cx="2651760" cy="594360"/>
          </a:xfrm>
          <a:prstGeom prst="rect">
            <a:avLst/>
          </a:prstGeom>
          <a:noFill/>
          <a:ln/>
        </p:spPr>
        <p:txBody>
          <a:bodyPr wrap="square" lIns="0" tIns="0" rIns="0" bIns="0" rtlCol="0" anchor="ctr"/>
          <a:lstStyle/>
          <a:p>
            <a:pPr marL="0" indent="0" algn="ctr">
              <a:buNone/>
            </a:pPr>
            <a:r>
              <a:rPr lang="en-US" sz="1800" b="1" dirty="0">
                <a:solidFill>
                  <a:schemeClr val="bg1"/>
                </a:solidFill>
              </a:rPr>
              <a:t>enrollments</a:t>
            </a:r>
            <a:endParaRPr lang="en-US" sz="1800" dirty="0"/>
          </a:p>
        </p:txBody>
      </p:sp>
      <p:sp>
        <p:nvSpPr>
          <p:cNvPr id="15" name="Text 12"/>
          <p:cNvSpPr txBox="1"/>
          <p:nvPr/>
        </p:nvSpPr>
        <p:spPr>
          <a:xfrm>
            <a:off x="6355080" y="2286000"/>
            <a:ext cx="2286000" cy="2377440"/>
          </a:xfrm>
          <a:prstGeom prst="rect">
            <a:avLst/>
          </a:prstGeom>
          <a:noFill/>
          <a:ln/>
        </p:spPr>
        <p:txBody>
          <a:bodyPr wrap="square" lIns="0" tIns="0" rIns="0" bIns="0" rtlCol="0" anchor="t"/>
          <a:lstStyle/>
          <a:p>
            <a:pPr marL="0" indent="0">
              <a:spcAft>
                <a:spcPts val="600"/>
              </a:spcAft>
              <a:buNone/>
            </a:pPr>
            <a:r>
              <a:rPr lang="en-US" sz="1400" dirty="0">
                <a:solidFill>
                  <a:schemeClr val="tx1"/>
                </a:solidFill>
              </a:rPr>
              <a:t>id (PK)</a:t>
            </a:r>
            <a:endParaRPr lang="en-US" sz="1400" dirty="0"/>
          </a:p>
          <a:p>
            <a:pPr marL="0" indent="0">
              <a:spcAft>
                <a:spcPts val="600"/>
              </a:spcAft>
              <a:buNone/>
            </a:pPr>
            <a:r>
              <a:rPr lang="en-US" sz="1400" dirty="0">
                <a:solidFill>
                  <a:schemeClr val="tx1"/>
                </a:solidFill>
              </a:rPr>
              <a:t>user_id (FK)</a:t>
            </a:r>
            <a:endParaRPr lang="en-US" sz="1400" dirty="0"/>
          </a:p>
          <a:p>
            <a:pPr marL="0" indent="0">
              <a:spcAft>
                <a:spcPts val="600"/>
              </a:spcAft>
              <a:buNone/>
            </a:pPr>
            <a:r>
              <a:rPr lang="en-US" sz="1400" dirty="0">
                <a:solidFill>
                  <a:schemeClr val="tx1"/>
                </a:solidFill>
              </a:rPr>
              <a:t>workout_id (FK)</a:t>
            </a:r>
            <a:endParaRPr lang="en-US" sz="1400" dirty="0"/>
          </a:p>
          <a:p>
            <a:pPr marL="0" indent="0">
              <a:spcAft>
                <a:spcPts val="600"/>
              </a:spcAft>
              <a:buNone/>
            </a:pPr>
            <a:r>
              <a:rPr lang="en-US" sz="1400" dirty="0">
                <a:solidFill>
                  <a:schemeClr val="tx1"/>
                </a:solidFill>
              </a:rPr>
              <a:t>enrolled_at</a:t>
            </a:r>
            <a:endParaRPr lang="en-US" sz="1400" dirty="0"/>
          </a:p>
          <a:p>
            <a:pPr marL="0" indent="0">
              <a:spcAft>
                <a:spcPts val="600"/>
              </a:spcAft>
              <a:buNone/>
            </a:pPr>
            <a:r>
              <a:rPr lang="en-US" sz="1400" dirty="0">
                <a:solidFill>
                  <a:schemeClr val="tx1"/>
                </a:solidFill>
              </a:rPr>
              <a:t>UNIQUE(user, workout)</a:t>
            </a:r>
            <a:endParaRPr lang="en-US" sz="1400" dirty="0"/>
          </a:p>
        </p:txBody>
      </p:sp>
      <p:sp>
        <p:nvSpPr>
          <p:cNvPr id="16" name="table-card"/>
          <p:cNvSpPr/>
          <p:nvPr/>
        </p:nvSpPr>
        <p:spPr>
          <a:xfrm>
            <a:off x="8961120" y="1463040"/>
            <a:ext cx="2651760" cy="3383280"/>
          </a:xfrm>
          <a:prstGeom prst="roundRect">
            <a:avLst>
              <a:gd name="adj" fmla="val 4138"/>
            </a:avLst>
          </a:prstGeom>
          <a:solidFill>
            <a:schemeClr val="bg2"/>
          </a:solidFill>
          <a:ln/>
        </p:spPr>
      </p:sp>
      <p:sp>
        <p:nvSpPr>
          <p:cNvPr id="17" name="table-head"/>
          <p:cNvSpPr/>
          <p:nvPr/>
        </p:nvSpPr>
        <p:spPr>
          <a:xfrm>
            <a:off x="8961120" y="1463040"/>
            <a:ext cx="2651760" cy="594360"/>
          </a:xfrm>
          <a:prstGeom prst="roundRect">
            <a:avLst>
              <a:gd name="adj" fmla="val 15385"/>
            </a:avLst>
          </a:prstGeom>
          <a:solidFill>
            <a:schemeClr val="tx1"/>
          </a:solidFill>
          <a:ln/>
        </p:spPr>
      </p:sp>
      <p:sp>
        <p:nvSpPr>
          <p:cNvPr id="18" name="Text 15"/>
          <p:cNvSpPr txBox="1"/>
          <p:nvPr/>
        </p:nvSpPr>
        <p:spPr>
          <a:xfrm>
            <a:off x="8961120" y="1463040"/>
            <a:ext cx="2651760" cy="594360"/>
          </a:xfrm>
          <a:prstGeom prst="rect">
            <a:avLst/>
          </a:prstGeom>
          <a:noFill/>
          <a:ln/>
        </p:spPr>
        <p:txBody>
          <a:bodyPr wrap="square" lIns="0" tIns="0" rIns="0" bIns="0" rtlCol="0" anchor="ctr"/>
          <a:lstStyle/>
          <a:p>
            <a:pPr marL="0" indent="0" algn="ctr">
              <a:buNone/>
            </a:pPr>
            <a:r>
              <a:rPr lang="en-US" sz="1800" b="1" dirty="0">
                <a:solidFill>
                  <a:schemeClr val="bg1"/>
                </a:solidFill>
              </a:rPr>
              <a:t>progress_logs</a:t>
            </a:r>
            <a:endParaRPr lang="en-US" sz="1800" dirty="0"/>
          </a:p>
        </p:txBody>
      </p:sp>
      <p:sp>
        <p:nvSpPr>
          <p:cNvPr id="19" name="Text 16"/>
          <p:cNvSpPr txBox="1"/>
          <p:nvPr/>
        </p:nvSpPr>
        <p:spPr>
          <a:xfrm>
            <a:off x="9189720" y="2286000"/>
            <a:ext cx="2286000" cy="2377440"/>
          </a:xfrm>
          <a:prstGeom prst="rect">
            <a:avLst/>
          </a:prstGeom>
          <a:noFill/>
          <a:ln/>
        </p:spPr>
        <p:txBody>
          <a:bodyPr wrap="square" lIns="0" tIns="0" rIns="0" bIns="0" rtlCol="0" anchor="t"/>
          <a:lstStyle/>
          <a:p>
            <a:pPr marL="0" indent="0">
              <a:spcAft>
                <a:spcPts val="600"/>
              </a:spcAft>
              <a:buNone/>
            </a:pPr>
            <a:r>
              <a:rPr lang="en-US" sz="1400" dirty="0">
                <a:solidFill>
                  <a:schemeClr val="tx1"/>
                </a:solidFill>
              </a:rPr>
              <a:t>id (PK)</a:t>
            </a:r>
            <a:endParaRPr lang="en-US" sz="1400" dirty="0"/>
          </a:p>
          <a:p>
            <a:pPr marL="0" indent="0">
              <a:spcAft>
                <a:spcPts val="600"/>
              </a:spcAft>
              <a:buNone/>
            </a:pPr>
            <a:r>
              <a:rPr lang="en-US" sz="1400" dirty="0">
                <a:solidFill>
                  <a:schemeClr val="tx1"/>
                </a:solidFill>
              </a:rPr>
              <a:t>user_id (FK)</a:t>
            </a:r>
            <a:endParaRPr lang="en-US" sz="1400" dirty="0"/>
          </a:p>
          <a:p>
            <a:pPr marL="0" indent="0">
              <a:spcAft>
                <a:spcPts val="600"/>
              </a:spcAft>
              <a:buNone/>
            </a:pPr>
            <a:r>
              <a:rPr lang="en-US" sz="1400" dirty="0">
                <a:solidFill>
                  <a:schemeClr val="tx1"/>
                </a:solidFill>
              </a:rPr>
              <a:t>workout_id (FK)</a:t>
            </a:r>
            <a:endParaRPr lang="en-US" sz="1400" dirty="0"/>
          </a:p>
          <a:p>
            <a:pPr marL="0" indent="0">
              <a:spcAft>
                <a:spcPts val="600"/>
              </a:spcAft>
              <a:buNone/>
            </a:pPr>
            <a:r>
              <a:rPr lang="en-US" sz="1400" dirty="0">
                <a:solidFill>
                  <a:schemeClr val="tx1"/>
                </a:solidFill>
              </a:rPr>
              <a:t>minutes, weight_kg</a:t>
            </a:r>
            <a:endParaRPr lang="en-US" sz="1400" dirty="0"/>
          </a:p>
          <a:p>
            <a:pPr marL="0" indent="0">
              <a:spcAft>
                <a:spcPts val="600"/>
              </a:spcAft>
              <a:buNone/>
            </a:pPr>
            <a:r>
              <a:rPr lang="en-US" sz="1400" dirty="0">
                <a:solidFill>
                  <a:schemeClr val="tx1"/>
                </a:solidFill>
              </a:rPr>
              <a:t>calories</a:t>
            </a:r>
            <a:endParaRPr lang="en-US" sz="1400" dirty="0"/>
          </a:p>
          <a:p>
            <a:pPr marL="0" indent="0">
              <a:spcAft>
                <a:spcPts val="600"/>
              </a:spcAft>
              <a:buNone/>
            </a:pPr>
            <a:r>
              <a:rPr lang="en-US" sz="1400" dirty="0">
                <a:solidFill>
                  <a:schemeClr val="tx1"/>
                </a:solidFill>
              </a:rPr>
              <a:t>logged_on</a:t>
            </a:r>
            <a:endParaRPr lang="en-US" sz="1400" dirty="0"/>
          </a:p>
        </p:txBody>
      </p:sp>
      <p:sp>
        <p:nvSpPr>
          <p:cNvPr id="20" name="relations"/>
          <p:cNvSpPr/>
          <p:nvPr/>
        </p:nvSpPr>
        <p:spPr>
          <a:xfrm>
            <a:off x="457200" y="5120640"/>
            <a:ext cx="11247120" cy="1005840"/>
          </a:xfrm>
          <a:prstGeom prst="roundRect">
            <a:avLst>
              <a:gd name="adj" fmla="val 10909"/>
            </a:avLst>
          </a:prstGeom>
          <a:solidFill>
            <a:schemeClr val="tx1"/>
          </a:solidFill>
          <a:ln/>
        </p:spPr>
      </p:sp>
      <p:sp>
        <p:nvSpPr>
          <p:cNvPr id="21" name="Text 18"/>
          <p:cNvSpPr txBox="1"/>
          <p:nvPr/>
        </p:nvSpPr>
        <p:spPr>
          <a:xfrm>
            <a:off x="777240" y="5120640"/>
            <a:ext cx="10607040" cy="1005840"/>
          </a:xfrm>
          <a:prstGeom prst="rect">
            <a:avLst/>
          </a:prstGeom>
          <a:noFill/>
          <a:ln/>
        </p:spPr>
        <p:txBody>
          <a:bodyPr wrap="square" lIns="0" tIns="0" rIns="0" bIns="0" rtlCol="0" anchor="ctr"/>
          <a:lstStyle/>
          <a:p>
            <a:pPr marL="0" indent="0">
              <a:buNone/>
            </a:pPr>
            <a:r>
              <a:rPr lang="en-US" sz="1600" dirty="0">
                <a:solidFill>
                  <a:schemeClr val="bg1"/>
                </a:solidFill>
              </a:rPr>
              <a:t>users 1 : N workouts (trainer publishes)</a:t>
            </a:r>
            <a:endParaRPr lang="en-US" sz="1600" dirty="0"/>
          </a:p>
          <a:p>
            <a:pPr marL="0" indent="0">
              <a:buNone/>
            </a:pPr>
            <a:r>
              <a:rPr lang="en-US" sz="1600" dirty="0">
                <a:solidFill>
                  <a:schemeClr val="bg1"/>
                </a:solidFill>
              </a:rPr>
              <a:t>users N : M workouts through enrollments   |   users 1 : N progress_logs</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OOP: inheritance, interfaces, polymorphism</a:t>
            </a:r>
            <a:endParaRPr lang="en-US" sz="3400" dirty="0"/>
          </a:p>
        </p:txBody>
      </p:sp>
      <p:sp>
        <p:nvSpPr>
          <p:cNvPr id="4" name="Text 1"/>
          <p:cNvSpPr txBox="1"/>
          <p:nvPr/>
        </p:nvSpPr>
        <p:spPr>
          <a:xfrm>
            <a:off x="548640" y="1371600"/>
            <a:ext cx="5212080" cy="320040"/>
          </a:xfrm>
          <a:prstGeom prst="rect">
            <a:avLst/>
          </a:prstGeom>
          <a:noFill/>
          <a:ln/>
        </p:spPr>
        <p:txBody>
          <a:bodyPr wrap="square" lIns="0" tIns="0" rIns="0" bIns="0" rtlCol="0" anchor="t"/>
          <a:lstStyle/>
          <a:p>
            <a:pPr marL="0" indent="0">
              <a:buNone/>
            </a:pPr>
            <a:r>
              <a:rPr lang="en-US" sz="1600" b="1" dirty="0">
                <a:solidFill>
                  <a:schemeClr val="accent5"/>
                </a:solidFill>
              </a:rPr>
              <a:t>Inheritance and abstraction</a:t>
            </a:r>
            <a:endParaRPr lang="en-US" sz="1600" dirty="0"/>
          </a:p>
        </p:txBody>
      </p:sp>
      <p:sp>
        <p:nvSpPr>
          <p:cNvPr id="5" name="Text 2"/>
          <p:cNvSpPr txBox="1"/>
          <p:nvPr/>
        </p:nvSpPr>
        <p:spPr>
          <a:xfrm>
            <a:off x="6309360" y="1371600"/>
            <a:ext cx="5394960" cy="320040"/>
          </a:xfrm>
          <a:prstGeom prst="rect">
            <a:avLst/>
          </a:prstGeom>
          <a:noFill/>
          <a:ln/>
        </p:spPr>
        <p:txBody>
          <a:bodyPr wrap="square" lIns="0" tIns="0" rIns="0" bIns="0" rtlCol="0" anchor="t"/>
          <a:lstStyle/>
          <a:p>
            <a:pPr marL="0" indent="0">
              <a:buNone/>
            </a:pPr>
            <a:r>
              <a:rPr lang="en-US" sz="1600" b="1" dirty="0">
                <a:solidFill>
                  <a:schemeClr val="accent5"/>
                </a:solidFill>
              </a:rPr>
              <a:t>Interface and polymorphism</a:t>
            </a:r>
            <a:endParaRPr lang="en-US" sz="1600" dirty="0"/>
          </a:p>
        </p:txBody>
      </p:sp>
      <p:sp>
        <p:nvSpPr>
          <p:cNvPr id="6" name="node"/>
          <p:cNvSpPr/>
          <p:nvPr/>
        </p:nvSpPr>
        <p:spPr>
          <a:xfrm>
            <a:off x="1828800" y="2011680"/>
            <a:ext cx="2377440" cy="685800"/>
          </a:xfrm>
          <a:prstGeom prst="roundRect">
            <a:avLst>
              <a:gd name="adj" fmla="val 13333"/>
            </a:avLst>
          </a:prstGeom>
          <a:solidFill>
            <a:schemeClr val="tx1"/>
          </a:solidFill>
          <a:ln/>
        </p:spPr>
      </p:sp>
      <p:sp>
        <p:nvSpPr>
          <p:cNvPr id="7" name="Text 4"/>
          <p:cNvSpPr txBox="1"/>
          <p:nvPr/>
        </p:nvSpPr>
        <p:spPr>
          <a:xfrm>
            <a:off x="1828800" y="2011680"/>
            <a:ext cx="2377440" cy="685800"/>
          </a:xfrm>
          <a:prstGeom prst="rect">
            <a:avLst/>
          </a:prstGeom>
          <a:noFill/>
          <a:ln/>
        </p:spPr>
        <p:txBody>
          <a:bodyPr wrap="square" lIns="0" tIns="0" rIns="0" bIns="0" rtlCol="0" anchor="ctr"/>
          <a:lstStyle/>
          <a:p>
            <a:pPr marL="0" indent="0" algn="ctr">
              <a:buNone/>
            </a:pPr>
            <a:r>
              <a:rPr lang="en-US" sz="1400" b="1" dirty="0">
                <a:solidFill>
                  <a:schemeClr val="bg1"/>
                </a:solidFill>
              </a:rPr>
              <a:t>User (abstract)</a:t>
            </a:r>
            <a:endParaRPr lang="en-US" sz="1400" dirty="0"/>
          </a:p>
        </p:txBody>
      </p:sp>
      <p:sp>
        <p:nvSpPr>
          <p:cNvPr id="8" name="node"/>
          <p:cNvSpPr/>
          <p:nvPr/>
        </p:nvSpPr>
        <p:spPr>
          <a:xfrm>
            <a:off x="548640" y="3657600"/>
            <a:ext cx="2286000" cy="731520"/>
          </a:xfrm>
          <a:prstGeom prst="roundRect">
            <a:avLst>
              <a:gd name="adj" fmla="val 12500"/>
            </a:avLst>
          </a:prstGeom>
          <a:solidFill>
            <a:schemeClr val="accent2"/>
          </a:solidFill>
          <a:ln/>
        </p:spPr>
      </p:sp>
      <p:sp>
        <p:nvSpPr>
          <p:cNvPr id="9" name="Text 6"/>
          <p:cNvSpPr txBox="1"/>
          <p:nvPr/>
        </p:nvSpPr>
        <p:spPr>
          <a:xfrm>
            <a:off x="548640" y="3657600"/>
            <a:ext cx="2286000" cy="731520"/>
          </a:xfrm>
          <a:prstGeom prst="rect">
            <a:avLst/>
          </a:prstGeom>
          <a:noFill/>
          <a:ln/>
        </p:spPr>
        <p:txBody>
          <a:bodyPr wrap="square" lIns="0" tIns="0" rIns="0" bIns="0" rtlCol="0" anchor="ctr"/>
          <a:lstStyle/>
          <a:p>
            <a:pPr marL="0" indent="0" algn="ctr">
              <a:buNone/>
            </a:pPr>
            <a:r>
              <a:rPr lang="en-US" sz="1400" b="1" dirty="0">
                <a:solidFill>
                  <a:schemeClr val="bg1"/>
                </a:solidFill>
              </a:rPr>
              <a:t>Member</a:t>
            </a:r>
            <a:endParaRPr lang="en-US" sz="1400" dirty="0"/>
          </a:p>
        </p:txBody>
      </p:sp>
      <p:sp>
        <p:nvSpPr>
          <p:cNvPr id="10" name="node"/>
          <p:cNvSpPr/>
          <p:nvPr/>
        </p:nvSpPr>
        <p:spPr>
          <a:xfrm>
            <a:off x="3200400" y="3657600"/>
            <a:ext cx="2286000" cy="731520"/>
          </a:xfrm>
          <a:prstGeom prst="roundRect">
            <a:avLst>
              <a:gd name="adj" fmla="val 12500"/>
            </a:avLst>
          </a:prstGeom>
          <a:solidFill>
            <a:schemeClr val="accent2"/>
          </a:solidFill>
          <a:ln/>
        </p:spPr>
      </p:sp>
      <p:sp>
        <p:nvSpPr>
          <p:cNvPr id="11" name="Text 8"/>
          <p:cNvSpPr txBox="1"/>
          <p:nvPr/>
        </p:nvSpPr>
        <p:spPr>
          <a:xfrm>
            <a:off x="3200400" y="3657600"/>
            <a:ext cx="2286000" cy="731520"/>
          </a:xfrm>
          <a:prstGeom prst="rect">
            <a:avLst/>
          </a:prstGeom>
          <a:noFill/>
          <a:ln/>
        </p:spPr>
        <p:txBody>
          <a:bodyPr wrap="square" lIns="0" tIns="0" rIns="0" bIns="0" rtlCol="0" anchor="ctr"/>
          <a:lstStyle/>
          <a:p>
            <a:pPr marL="0" indent="0" algn="ctr">
              <a:buNone/>
            </a:pPr>
            <a:r>
              <a:rPr lang="en-US" sz="1400" b="1" dirty="0">
                <a:solidFill>
                  <a:schemeClr val="bg1"/>
                </a:solidFill>
              </a:rPr>
              <a:t>Trainer</a:t>
            </a:r>
            <a:endParaRPr lang="en-US" sz="1400" dirty="0"/>
          </a:p>
        </p:txBody>
      </p:sp>
      <p:sp>
        <p:nvSpPr>
          <p:cNvPr id="12" name="connector"/>
          <p:cNvSpPr/>
          <p:nvPr/>
        </p:nvSpPr>
        <p:spPr>
          <a:xfrm>
            <a:off x="3017520" y="2697480"/>
            <a:ext cx="0" cy="457200"/>
          </a:xfrm>
          <a:prstGeom prst="line">
            <a:avLst/>
          </a:prstGeom>
          <a:noFill/>
          <a:ln w="19050">
            <a:solidFill>
              <a:schemeClr val="accent5"/>
            </a:solidFill>
            <a:prstDash val="solid"/>
          </a:ln>
        </p:spPr>
      </p:sp>
      <p:sp>
        <p:nvSpPr>
          <p:cNvPr id="13" name="connector"/>
          <p:cNvSpPr/>
          <p:nvPr/>
        </p:nvSpPr>
        <p:spPr>
          <a:xfrm>
            <a:off x="1691640" y="3154680"/>
            <a:ext cx="2651760" cy="0"/>
          </a:xfrm>
          <a:prstGeom prst="line">
            <a:avLst/>
          </a:prstGeom>
          <a:noFill/>
          <a:ln w="19050">
            <a:solidFill>
              <a:schemeClr val="accent5"/>
            </a:solidFill>
            <a:prstDash val="solid"/>
          </a:ln>
        </p:spPr>
      </p:sp>
      <p:sp>
        <p:nvSpPr>
          <p:cNvPr id="14" name="connector"/>
          <p:cNvSpPr/>
          <p:nvPr/>
        </p:nvSpPr>
        <p:spPr>
          <a:xfrm>
            <a:off x="1691640" y="3154680"/>
            <a:ext cx="0" cy="502920"/>
          </a:xfrm>
          <a:prstGeom prst="line">
            <a:avLst/>
          </a:prstGeom>
          <a:noFill/>
          <a:ln w="19050">
            <a:solidFill>
              <a:schemeClr val="accent5"/>
            </a:solidFill>
            <a:prstDash val="solid"/>
          </a:ln>
        </p:spPr>
      </p:sp>
      <p:sp>
        <p:nvSpPr>
          <p:cNvPr id="15" name="connector"/>
          <p:cNvSpPr/>
          <p:nvPr/>
        </p:nvSpPr>
        <p:spPr>
          <a:xfrm>
            <a:off x="4343400" y="3154680"/>
            <a:ext cx="0" cy="502920"/>
          </a:xfrm>
          <a:prstGeom prst="line">
            <a:avLst/>
          </a:prstGeom>
          <a:noFill/>
          <a:ln w="19050">
            <a:solidFill>
              <a:schemeClr val="accent5"/>
            </a:solidFill>
            <a:prstDash val="solid"/>
          </a:ln>
        </p:spPr>
      </p:sp>
      <p:sp>
        <p:nvSpPr>
          <p:cNvPr id="16" name="node"/>
          <p:cNvSpPr/>
          <p:nvPr/>
        </p:nvSpPr>
        <p:spPr>
          <a:xfrm>
            <a:off x="7635240" y="1783080"/>
            <a:ext cx="2743200" cy="685800"/>
          </a:xfrm>
          <a:prstGeom prst="roundRect">
            <a:avLst>
              <a:gd name="adj" fmla="val 13333"/>
            </a:avLst>
          </a:prstGeom>
          <a:solidFill>
            <a:schemeClr val="accent1"/>
          </a:solidFill>
          <a:ln/>
        </p:spPr>
      </p:sp>
      <p:sp>
        <p:nvSpPr>
          <p:cNvPr id="17" name="Text 14"/>
          <p:cNvSpPr txBox="1"/>
          <p:nvPr/>
        </p:nvSpPr>
        <p:spPr>
          <a:xfrm>
            <a:off x="7635240" y="1783080"/>
            <a:ext cx="2743200" cy="685800"/>
          </a:xfrm>
          <a:prstGeom prst="rect">
            <a:avLst/>
          </a:prstGeom>
          <a:noFill/>
          <a:ln/>
        </p:spPr>
        <p:txBody>
          <a:bodyPr wrap="square" lIns="0" tIns="0" rIns="0" bIns="0" rtlCol="0" anchor="ctr"/>
          <a:lstStyle/>
          <a:p>
            <a:pPr marL="0" indent="0" algn="ctr">
              <a:buNone/>
            </a:pPr>
            <a:r>
              <a:rPr lang="en-US" sz="1200" b="1" dirty="0">
                <a:solidFill>
                  <a:schemeClr val="bg1"/>
                </a:solidFill>
              </a:rPr>
              <a:t>&lt;&lt;interface&gt;&gt;</a:t>
            </a:r>
            <a:endParaRPr lang="en-US" sz="1400" dirty="0"/>
          </a:p>
          <a:p>
            <a:pPr marL="0" indent="0" algn="ctr">
              <a:buNone/>
            </a:pPr>
            <a:r>
              <a:rPr lang="en-US" sz="1400" b="1" dirty="0">
                <a:solidFill>
                  <a:schemeClr val="bg1"/>
                </a:solidFill>
              </a:rPr>
              <a:t>CalorieCalculable</a:t>
            </a:r>
            <a:endParaRPr lang="en-US" sz="1400" dirty="0"/>
          </a:p>
        </p:txBody>
      </p:sp>
      <p:sp>
        <p:nvSpPr>
          <p:cNvPr id="18" name="node"/>
          <p:cNvSpPr/>
          <p:nvPr/>
        </p:nvSpPr>
        <p:spPr>
          <a:xfrm>
            <a:off x="7635240" y="2743200"/>
            <a:ext cx="2743200" cy="640080"/>
          </a:xfrm>
          <a:prstGeom prst="roundRect">
            <a:avLst>
              <a:gd name="adj" fmla="val 14286"/>
            </a:avLst>
          </a:prstGeom>
          <a:solidFill>
            <a:schemeClr val="tx1"/>
          </a:solidFill>
          <a:ln/>
        </p:spPr>
      </p:sp>
      <p:sp>
        <p:nvSpPr>
          <p:cNvPr id="19" name="Text 16"/>
          <p:cNvSpPr txBox="1"/>
          <p:nvPr/>
        </p:nvSpPr>
        <p:spPr>
          <a:xfrm>
            <a:off x="7635240" y="2743200"/>
            <a:ext cx="2743200" cy="640080"/>
          </a:xfrm>
          <a:prstGeom prst="rect">
            <a:avLst/>
          </a:prstGeom>
          <a:noFill/>
          <a:ln/>
        </p:spPr>
        <p:txBody>
          <a:bodyPr wrap="square" lIns="0" tIns="0" rIns="0" bIns="0" rtlCol="0" anchor="ctr"/>
          <a:lstStyle/>
          <a:p>
            <a:pPr marL="0" indent="0" algn="ctr">
              <a:buNone/>
            </a:pPr>
            <a:r>
              <a:rPr lang="en-US" sz="1400" b="1" dirty="0">
                <a:solidFill>
                  <a:schemeClr val="bg1"/>
                </a:solidFill>
              </a:rPr>
              <a:t>Workout (abstract)</a:t>
            </a:r>
            <a:endParaRPr lang="en-US" sz="1400" dirty="0"/>
          </a:p>
        </p:txBody>
      </p:sp>
      <p:sp>
        <p:nvSpPr>
          <p:cNvPr id="20" name="node"/>
          <p:cNvSpPr/>
          <p:nvPr/>
        </p:nvSpPr>
        <p:spPr>
          <a:xfrm>
            <a:off x="6309360" y="3657600"/>
            <a:ext cx="1645920" cy="731520"/>
          </a:xfrm>
          <a:prstGeom prst="roundRect">
            <a:avLst>
              <a:gd name="adj" fmla="val 12500"/>
            </a:avLst>
          </a:prstGeom>
          <a:solidFill>
            <a:schemeClr val="accent2"/>
          </a:solidFill>
          <a:ln/>
        </p:spPr>
      </p:sp>
      <p:sp>
        <p:nvSpPr>
          <p:cNvPr id="21" name="Text 18"/>
          <p:cNvSpPr txBox="1"/>
          <p:nvPr/>
        </p:nvSpPr>
        <p:spPr>
          <a:xfrm>
            <a:off x="6309360" y="3657600"/>
            <a:ext cx="1645920" cy="731520"/>
          </a:xfrm>
          <a:prstGeom prst="rect">
            <a:avLst/>
          </a:prstGeom>
          <a:noFill/>
          <a:ln/>
        </p:spPr>
        <p:txBody>
          <a:bodyPr wrap="square" lIns="0" tIns="0" rIns="0" bIns="0" rtlCol="0" anchor="ctr"/>
          <a:lstStyle/>
          <a:p>
            <a:pPr marL="0" indent="0" algn="ctr">
              <a:buNone/>
            </a:pPr>
            <a:r>
              <a:rPr lang="en-US" sz="1400" b="1" dirty="0">
                <a:solidFill>
                  <a:schemeClr val="bg1"/>
                </a:solidFill>
              </a:rPr>
              <a:t>Cardio</a:t>
            </a:r>
            <a:endParaRPr lang="en-US" sz="1400" dirty="0"/>
          </a:p>
        </p:txBody>
      </p:sp>
      <p:sp>
        <p:nvSpPr>
          <p:cNvPr id="22" name="node"/>
          <p:cNvSpPr/>
          <p:nvPr/>
        </p:nvSpPr>
        <p:spPr>
          <a:xfrm>
            <a:off x="8183880" y="3657600"/>
            <a:ext cx="1645920" cy="731520"/>
          </a:xfrm>
          <a:prstGeom prst="roundRect">
            <a:avLst>
              <a:gd name="adj" fmla="val 12500"/>
            </a:avLst>
          </a:prstGeom>
          <a:solidFill>
            <a:schemeClr val="accent2"/>
          </a:solidFill>
          <a:ln/>
        </p:spPr>
      </p:sp>
      <p:sp>
        <p:nvSpPr>
          <p:cNvPr id="23" name="Text 20"/>
          <p:cNvSpPr txBox="1"/>
          <p:nvPr/>
        </p:nvSpPr>
        <p:spPr>
          <a:xfrm>
            <a:off x="8183880" y="3657600"/>
            <a:ext cx="1645920" cy="731520"/>
          </a:xfrm>
          <a:prstGeom prst="rect">
            <a:avLst/>
          </a:prstGeom>
          <a:noFill/>
          <a:ln/>
        </p:spPr>
        <p:txBody>
          <a:bodyPr wrap="square" lIns="0" tIns="0" rIns="0" bIns="0" rtlCol="0" anchor="ctr"/>
          <a:lstStyle/>
          <a:p>
            <a:pPr marL="0" indent="0" algn="ctr">
              <a:buNone/>
            </a:pPr>
            <a:r>
              <a:rPr lang="en-US" sz="1400" b="1" dirty="0">
                <a:solidFill>
                  <a:schemeClr val="bg1"/>
                </a:solidFill>
              </a:rPr>
              <a:t>Strength</a:t>
            </a:r>
            <a:endParaRPr lang="en-US" sz="1400" dirty="0"/>
          </a:p>
        </p:txBody>
      </p:sp>
      <p:sp>
        <p:nvSpPr>
          <p:cNvPr id="24" name="node"/>
          <p:cNvSpPr/>
          <p:nvPr/>
        </p:nvSpPr>
        <p:spPr>
          <a:xfrm>
            <a:off x="10058400" y="3657600"/>
            <a:ext cx="1645920" cy="731520"/>
          </a:xfrm>
          <a:prstGeom prst="roundRect">
            <a:avLst>
              <a:gd name="adj" fmla="val 12500"/>
            </a:avLst>
          </a:prstGeom>
          <a:solidFill>
            <a:schemeClr val="accent2"/>
          </a:solidFill>
          <a:ln/>
        </p:spPr>
      </p:sp>
      <p:sp>
        <p:nvSpPr>
          <p:cNvPr id="25" name="Text 22"/>
          <p:cNvSpPr txBox="1"/>
          <p:nvPr/>
        </p:nvSpPr>
        <p:spPr>
          <a:xfrm>
            <a:off x="10058400" y="3657600"/>
            <a:ext cx="1645920" cy="731520"/>
          </a:xfrm>
          <a:prstGeom prst="rect">
            <a:avLst/>
          </a:prstGeom>
          <a:noFill/>
          <a:ln/>
        </p:spPr>
        <p:txBody>
          <a:bodyPr wrap="square" lIns="0" tIns="0" rIns="0" bIns="0" rtlCol="0" anchor="ctr"/>
          <a:lstStyle/>
          <a:p>
            <a:pPr marL="0" indent="0" algn="ctr">
              <a:buNone/>
            </a:pPr>
            <a:r>
              <a:rPr lang="en-US" sz="1400" b="1" dirty="0">
                <a:solidFill>
                  <a:schemeClr val="bg1"/>
                </a:solidFill>
              </a:rPr>
              <a:t>Yoga</a:t>
            </a:r>
            <a:endParaRPr lang="en-US" sz="1400" dirty="0"/>
          </a:p>
        </p:txBody>
      </p:sp>
      <p:sp>
        <p:nvSpPr>
          <p:cNvPr id="26" name="connector"/>
          <p:cNvSpPr/>
          <p:nvPr/>
        </p:nvSpPr>
        <p:spPr>
          <a:xfrm>
            <a:off x="9006840" y="2468880"/>
            <a:ext cx="0" cy="274320"/>
          </a:xfrm>
          <a:prstGeom prst="line">
            <a:avLst/>
          </a:prstGeom>
          <a:noFill/>
          <a:ln w="19050">
            <a:solidFill>
              <a:schemeClr val="accent5"/>
            </a:solidFill>
            <a:prstDash val="solid"/>
          </a:ln>
        </p:spPr>
      </p:sp>
      <p:sp>
        <p:nvSpPr>
          <p:cNvPr id="27" name="connector"/>
          <p:cNvSpPr/>
          <p:nvPr/>
        </p:nvSpPr>
        <p:spPr>
          <a:xfrm>
            <a:off x="9006840" y="3383280"/>
            <a:ext cx="0" cy="137160"/>
          </a:xfrm>
          <a:prstGeom prst="line">
            <a:avLst/>
          </a:prstGeom>
          <a:noFill/>
          <a:ln w="19050">
            <a:solidFill>
              <a:schemeClr val="accent5"/>
            </a:solidFill>
            <a:prstDash val="solid"/>
          </a:ln>
        </p:spPr>
      </p:sp>
      <p:sp>
        <p:nvSpPr>
          <p:cNvPr id="28" name="connector"/>
          <p:cNvSpPr/>
          <p:nvPr/>
        </p:nvSpPr>
        <p:spPr>
          <a:xfrm>
            <a:off x="7132320" y="3520440"/>
            <a:ext cx="3749040" cy="0"/>
          </a:xfrm>
          <a:prstGeom prst="line">
            <a:avLst/>
          </a:prstGeom>
          <a:noFill/>
          <a:ln w="19050">
            <a:solidFill>
              <a:schemeClr val="accent5"/>
            </a:solidFill>
            <a:prstDash val="solid"/>
          </a:ln>
        </p:spPr>
      </p:sp>
      <p:sp>
        <p:nvSpPr>
          <p:cNvPr id="29" name="connector"/>
          <p:cNvSpPr/>
          <p:nvPr/>
        </p:nvSpPr>
        <p:spPr>
          <a:xfrm>
            <a:off x="7132320" y="3520440"/>
            <a:ext cx="0" cy="137160"/>
          </a:xfrm>
          <a:prstGeom prst="line">
            <a:avLst/>
          </a:prstGeom>
          <a:noFill/>
          <a:ln w="19050">
            <a:solidFill>
              <a:schemeClr val="accent5"/>
            </a:solidFill>
            <a:prstDash val="solid"/>
          </a:ln>
        </p:spPr>
      </p:sp>
      <p:sp>
        <p:nvSpPr>
          <p:cNvPr id="30" name="connector"/>
          <p:cNvSpPr/>
          <p:nvPr/>
        </p:nvSpPr>
        <p:spPr>
          <a:xfrm>
            <a:off x="9006840" y="3520440"/>
            <a:ext cx="0" cy="137160"/>
          </a:xfrm>
          <a:prstGeom prst="line">
            <a:avLst/>
          </a:prstGeom>
          <a:noFill/>
          <a:ln w="19050">
            <a:solidFill>
              <a:schemeClr val="accent5"/>
            </a:solidFill>
            <a:prstDash val="solid"/>
          </a:ln>
        </p:spPr>
      </p:sp>
      <p:sp>
        <p:nvSpPr>
          <p:cNvPr id="31" name="connector"/>
          <p:cNvSpPr/>
          <p:nvPr/>
        </p:nvSpPr>
        <p:spPr>
          <a:xfrm>
            <a:off x="10881360" y="3520440"/>
            <a:ext cx="0" cy="137160"/>
          </a:xfrm>
          <a:prstGeom prst="line">
            <a:avLst/>
          </a:prstGeom>
          <a:noFill/>
          <a:ln w="19050">
            <a:solidFill>
              <a:schemeClr val="accent5"/>
            </a:solidFill>
            <a:prstDash val="solid"/>
          </a:ln>
        </p:spPr>
      </p:sp>
      <p:sp>
        <p:nvSpPr>
          <p:cNvPr id="32" name="poly-card"/>
          <p:cNvSpPr/>
          <p:nvPr/>
        </p:nvSpPr>
        <p:spPr>
          <a:xfrm>
            <a:off x="548640" y="4846320"/>
            <a:ext cx="11155680" cy="1325880"/>
          </a:xfrm>
          <a:prstGeom prst="roundRect">
            <a:avLst>
              <a:gd name="adj" fmla="val 8276"/>
            </a:avLst>
          </a:prstGeom>
          <a:solidFill>
            <a:schemeClr val="tx1"/>
          </a:solidFill>
          <a:ln/>
        </p:spPr>
      </p:sp>
      <p:sp>
        <p:nvSpPr>
          <p:cNvPr id="33" name="Text 30"/>
          <p:cNvSpPr txBox="1"/>
          <p:nvPr/>
        </p:nvSpPr>
        <p:spPr>
          <a:xfrm>
            <a:off x="868680" y="4846320"/>
            <a:ext cx="10515600" cy="1325880"/>
          </a:xfrm>
          <a:prstGeom prst="rect">
            <a:avLst/>
          </a:prstGeom>
          <a:noFill/>
          <a:ln/>
        </p:spPr>
        <p:txBody>
          <a:bodyPr wrap="square" lIns="0" tIns="0" rIns="0" bIns="0" rtlCol="0" anchor="ctr"/>
          <a:lstStyle/>
          <a:p>
            <a:pPr marL="0" indent="0">
              <a:buNone/>
            </a:pPr>
            <a:r>
              <a:rPr lang="en-US" sz="1800" b="1" dirty="0">
                <a:solidFill>
                  <a:schemeClr val="bg1"/>
                </a:solidFill>
              </a:rPr>
              <a:t>One call, different behaviour: workout.caloriesBurned(70 kg, 30 min)</a:t>
            </a:r>
            <a:endParaRPr lang="en-US" sz="1400" dirty="0"/>
          </a:p>
          <a:p>
            <a:pPr marL="0" indent="0">
              <a:buNone/>
            </a:pPr>
            <a:r>
              <a:rPr lang="en-US" sz="1600" dirty="0">
                <a:solidFill>
                  <a:schemeClr val="bg1"/>
                </a:solidFill>
              </a:rPr>
              <a:t>MET 5  -&gt;  Cardio 183.8 kcal   |   Strength 202.1 kcal (+10% afterburn)   |   Yoga 165.4 kcal (-10%)</a:t>
            </a:r>
            <a:endParaRPr lang="en-US" sz="1400" dirty="0"/>
          </a:p>
        </p:txBody>
      </p:sp>
      <p:sp>
        <p:nvSpPr>
          <p:cNvPr id="3"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Collections, generics and exception handling</a:t>
            </a:r>
            <a:endParaRPr lang="en-US" sz="3400" dirty="0"/>
          </a:p>
        </p:txBody>
      </p:sp>
      <p:sp>
        <p:nvSpPr>
          <p:cNvPr id="4" name="coll-card"/>
          <p:cNvSpPr/>
          <p:nvPr/>
        </p:nvSpPr>
        <p:spPr>
          <a:xfrm>
            <a:off x="548640" y="1463040"/>
            <a:ext cx="5394960" cy="3383280"/>
          </a:xfrm>
          <a:prstGeom prst="roundRect">
            <a:avLst>
              <a:gd name="adj" fmla="val 3243"/>
            </a:avLst>
          </a:prstGeom>
          <a:solidFill>
            <a:schemeClr val="bg2"/>
          </a:solidFill>
          <a:ln/>
        </p:spPr>
      </p:sp>
      <p:sp>
        <p:nvSpPr>
          <p:cNvPr id="5" name="Text 2"/>
          <p:cNvSpPr txBox="1"/>
          <p:nvPr/>
        </p:nvSpPr>
        <p:spPr>
          <a:xfrm>
            <a:off x="868680" y="1691640"/>
            <a:ext cx="4754880" cy="457200"/>
          </a:xfrm>
          <a:prstGeom prst="rect">
            <a:avLst/>
          </a:prstGeom>
          <a:noFill/>
          <a:ln/>
        </p:spPr>
        <p:txBody>
          <a:bodyPr wrap="square" lIns="0" tIns="0" rIns="0" bIns="0" rtlCol="0" anchor="t"/>
          <a:lstStyle/>
          <a:p>
            <a:pPr marL="0" indent="0">
              <a:buNone/>
            </a:pPr>
            <a:r>
              <a:rPr lang="en-US" sz="2000" b="1" dirty="0">
                <a:solidFill>
                  <a:schemeClr val="tx1"/>
                </a:solidFill>
              </a:rPr>
              <a:t>Collections and generics</a:t>
            </a:r>
            <a:endParaRPr lang="en-US" sz="2000" dirty="0"/>
          </a:p>
        </p:txBody>
      </p:sp>
      <p:sp>
        <p:nvSpPr>
          <p:cNvPr id="6" name="Text 3"/>
          <p:cNvSpPr txBox="1"/>
          <p:nvPr/>
        </p:nvSpPr>
        <p:spPr>
          <a:xfrm>
            <a:off x="868680" y="2286000"/>
            <a:ext cx="4754880" cy="24688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Generic interface BaseDAO&lt;T, ID&gt;</a:t>
            </a:r>
            <a:endParaRPr lang="en-US" sz="1500" dirty="0"/>
          </a:p>
          <a:p>
            <a:pPr marL="342900" indent="-342900">
              <a:spcAft>
                <a:spcPts val="800"/>
              </a:spcAft>
              <a:buSzPct val="100000"/>
              <a:buChar char="•"/>
            </a:pPr>
            <a:r>
              <a:rPr lang="en-US" sz="1500" dirty="0">
                <a:solidFill>
                  <a:schemeClr val="tx1"/>
                </a:solidFill>
              </a:rPr>
              <a:t>List&lt;Workout&gt; for the catalogue</a:t>
            </a:r>
            <a:endParaRPr lang="en-US" sz="1500" dirty="0"/>
          </a:p>
          <a:p>
            <a:pPr marL="342900" indent="-342900">
              <a:spcAft>
                <a:spcPts val="800"/>
              </a:spcAft>
              <a:buSzPct val="100000"/>
              <a:buChar char="•"/>
            </a:pPr>
            <a:r>
              <a:rPr lang="en-US" sz="1500" dirty="0">
                <a:solidFill>
                  <a:schemeClr val="tx1"/>
                </a:solidFill>
              </a:rPr>
              <a:t>Set&lt;Integer&gt; for fast enrolled checks</a:t>
            </a:r>
            <a:endParaRPr lang="en-US" sz="1500" dirty="0"/>
          </a:p>
          <a:p>
            <a:pPr marL="342900" indent="-342900">
              <a:spcAft>
                <a:spcPts val="800"/>
              </a:spcAft>
              <a:buSzPct val="100000"/>
              <a:buChar char="•"/>
            </a:pPr>
            <a:r>
              <a:rPr lang="en-US" sz="1500" dirty="0">
                <a:solidFill>
                  <a:schemeClr val="tx1"/>
                </a:solidFill>
              </a:rPr>
              <a:t>TreeMap + streams: calories per workout</a:t>
            </a:r>
            <a:endParaRPr lang="en-US" sz="1500" dirty="0"/>
          </a:p>
          <a:p>
            <a:pPr marL="342900" indent="-342900">
              <a:spcAft>
                <a:spcPts val="800"/>
              </a:spcAft>
              <a:buSzPct val="100000"/>
              <a:buChar char="•"/>
            </a:pPr>
            <a:r>
              <a:rPr lang="en-US" sz="1500" dirty="0">
                <a:solidFill>
                  <a:schemeClr val="tx1"/>
                </a:solidFill>
              </a:rPr>
              <a:t>Optional&lt;T&gt; instead of null returns</a:t>
            </a:r>
            <a:endParaRPr lang="en-US" sz="1500" dirty="0"/>
          </a:p>
        </p:txBody>
      </p:sp>
      <p:sp>
        <p:nvSpPr>
          <p:cNvPr id="7" name="exc-card"/>
          <p:cNvSpPr/>
          <p:nvPr/>
        </p:nvSpPr>
        <p:spPr>
          <a:xfrm>
            <a:off x="6263640" y="1463040"/>
            <a:ext cx="5394960" cy="3383280"/>
          </a:xfrm>
          <a:prstGeom prst="roundRect">
            <a:avLst>
              <a:gd name="adj" fmla="val 3243"/>
            </a:avLst>
          </a:prstGeom>
          <a:solidFill>
            <a:schemeClr val="bg2"/>
          </a:solidFill>
          <a:ln/>
        </p:spPr>
      </p:sp>
      <p:sp>
        <p:nvSpPr>
          <p:cNvPr id="8" name="Text 5"/>
          <p:cNvSpPr txBox="1"/>
          <p:nvPr/>
        </p:nvSpPr>
        <p:spPr>
          <a:xfrm>
            <a:off x="6583680" y="1691640"/>
            <a:ext cx="4754880" cy="457200"/>
          </a:xfrm>
          <a:prstGeom prst="rect">
            <a:avLst/>
          </a:prstGeom>
          <a:noFill/>
          <a:ln/>
        </p:spPr>
        <p:txBody>
          <a:bodyPr wrap="square" lIns="0" tIns="0" rIns="0" bIns="0" rtlCol="0" anchor="t"/>
          <a:lstStyle/>
          <a:p>
            <a:pPr marL="0" indent="0">
              <a:buNone/>
            </a:pPr>
            <a:r>
              <a:rPr lang="en-US" sz="2000" b="1" dirty="0">
                <a:solidFill>
                  <a:schemeClr val="tx1"/>
                </a:solidFill>
              </a:rPr>
              <a:t>Exception handling</a:t>
            </a:r>
            <a:endParaRPr lang="en-US" sz="2000" dirty="0"/>
          </a:p>
        </p:txBody>
      </p:sp>
      <p:sp>
        <p:nvSpPr>
          <p:cNvPr id="9" name="Text 6"/>
          <p:cNvSpPr txBox="1"/>
          <p:nvPr/>
        </p:nvSpPr>
        <p:spPr>
          <a:xfrm>
            <a:off x="6583680" y="2286000"/>
            <a:ext cx="4754880" cy="24688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Custom checked AppException</a:t>
            </a:r>
            <a:endParaRPr lang="en-US" sz="1500" dirty="0"/>
          </a:p>
          <a:p>
            <a:pPr marL="342900" indent="-342900">
              <a:spcAft>
                <a:spcPts val="800"/>
              </a:spcAft>
              <a:buSzPct val="100000"/>
              <a:buChar char="•"/>
            </a:pPr>
            <a:r>
              <a:rPr lang="en-US" sz="1500" dirty="0">
                <a:solidFill>
                  <a:schemeClr val="tx1"/>
                </a:solidFill>
              </a:rPr>
              <a:t>DAOs wrap SQLException with clear messages</a:t>
            </a:r>
            <a:endParaRPr lang="en-US" sz="1500" dirty="0"/>
          </a:p>
          <a:p>
            <a:pPr marL="342900" indent="-342900">
              <a:spcAft>
                <a:spcPts val="800"/>
              </a:spcAft>
              <a:buSzPct val="100000"/>
              <a:buChar char="•"/>
            </a:pPr>
            <a:r>
              <a:rPr lang="en-US" sz="1500" dirty="0">
                <a:solidFill>
                  <a:schemeClr val="tx1"/>
                </a:solidFill>
              </a:rPr>
              <a:t>try-with-resources closes every connection</a:t>
            </a:r>
            <a:endParaRPr lang="en-US" sz="1500" dirty="0"/>
          </a:p>
          <a:p>
            <a:pPr marL="342900" indent="-342900">
              <a:spcAft>
                <a:spcPts val="800"/>
              </a:spcAft>
              <a:buSzPct val="100000"/>
              <a:buChar char="•"/>
            </a:pPr>
            <a:r>
              <a:rPr lang="en-US" sz="1500" dirty="0">
                <a:solidFill>
                  <a:schemeClr val="tx1"/>
                </a:solidFill>
              </a:rPr>
              <a:t>Servlets catch and show a friendly alert</a:t>
            </a:r>
            <a:endParaRPr lang="en-US" sz="1500" dirty="0"/>
          </a:p>
          <a:p>
            <a:pPr marL="342900" indent="-342900">
              <a:spcAft>
                <a:spcPts val="800"/>
              </a:spcAft>
              <a:buSzPct val="100000"/>
              <a:buChar char="•"/>
            </a:pPr>
            <a:r>
              <a:rPr lang="en-US" sz="1500" dirty="0">
                <a:solidFill>
                  <a:schemeClr val="tx1"/>
                </a:solidFill>
              </a:rPr>
              <a:t>Login errors stay generic (no user hints)</a:t>
            </a:r>
            <a:endParaRPr lang="en-US" sz="1500" dirty="0"/>
          </a:p>
        </p:txBody>
      </p:sp>
      <p:sp>
        <p:nvSpPr>
          <p:cNvPr id="10" name="code-card"/>
          <p:cNvSpPr/>
          <p:nvPr/>
        </p:nvSpPr>
        <p:spPr>
          <a:xfrm>
            <a:off x="548640" y="5074920"/>
            <a:ext cx="11109960" cy="1097280"/>
          </a:xfrm>
          <a:prstGeom prst="roundRect">
            <a:avLst>
              <a:gd name="adj" fmla="val 10000"/>
            </a:avLst>
          </a:prstGeom>
          <a:solidFill>
            <a:schemeClr val="tx1"/>
          </a:solidFill>
          <a:ln/>
        </p:spPr>
      </p:sp>
      <p:sp>
        <p:nvSpPr>
          <p:cNvPr id="11" name="Text 8"/>
          <p:cNvSpPr txBox="1"/>
          <p:nvPr/>
        </p:nvSpPr>
        <p:spPr>
          <a:xfrm>
            <a:off x="868680" y="5074920"/>
            <a:ext cx="10424160" cy="1097280"/>
          </a:xfrm>
          <a:prstGeom prst="rect">
            <a:avLst/>
          </a:prstGeom>
          <a:noFill/>
          <a:ln/>
        </p:spPr>
        <p:txBody>
          <a:bodyPr wrap="square" lIns="0" tIns="0" rIns="0" bIns="0" rtlCol="0" anchor="ctr"/>
          <a:lstStyle/>
          <a:p>
            <a:pPr marL="0" indent="0">
              <a:buNone/>
            </a:pPr>
            <a:r>
              <a:rPr lang="en-US" sz="1300" dirty="0">
                <a:solidFill>
                  <a:schemeClr val="bg1"/>
                </a:solidFill>
                <a:latin typeface="Courier New" pitchFamily="34" charset="0"/>
                <a:ea typeface="Courier New" pitchFamily="34" charset="-122"/>
                <a:cs typeface="Courier New" pitchFamily="34" charset="-120"/>
              </a:rPr>
              <a:t>public interface BaseDAO&lt;T, ID&gt; {</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Optional&lt;T&gt; findById(ID id) throws AppException;</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List&lt;T&gt; findAll() throws AppException;</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Multithreading and synchronization</a:t>
            </a:r>
            <a:endParaRPr lang="en-US" sz="3400" dirty="0"/>
          </a:p>
        </p:txBody>
      </p:sp>
      <p:sp>
        <p:nvSpPr>
          <p:cNvPr id="4" name="thread-card"/>
          <p:cNvSpPr/>
          <p:nvPr/>
        </p:nvSpPr>
        <p:spPr>
          <a:xfrm>
            <a:off x="548640" y="1463040"/>
            <a:ext cx="5120640" cy="4572000"/>
          </a:xfrm>
          <a:prstGeom prst="roundRect">
            <a:avLst>
              <a:gd name="adj" fmla="val 2400"/>
            </a:avLst>
          </a:prstGeom>
          <a:solidFill>
            <a:schemeClr val="bg2"/>
          </a:solidFill>
          <a:ln/>
        </p:spPr>
      </p:sp>
      <p:sp>
        <p:nvSpPr>
          <p:cNvPr id="5" name="Text 2"/>
          <p:cNvSpPr txBox="1"/>
          <p:nvPr/>
        </p:nvSpPr>
        <p:spPr>
          <a:xfrm>
            <a:off x="868680" y="1691640"/>
            <a:ext cx="4480560" cy="457200"/>
          </a:xfrm>
          <a:prstGeom prst="rect">
            <a:avLst/>
          </a:prstGeom>
          <a:noFill/>
          <a:ln/>
        </p:spPr>
        <p:txBody>
          <a:bodyPr wrap="square" lIns="0" tIns="0" rIns="0" bIns="0" rtlCol="0" anchor="t"/>
          <a:lstStyle/>
          <a:p>
            <a:pPr marL="0" indent="0">
              <a:buNone/>
            </a:pPr>
            <a:r>
              <a:rPr lang="en-US" sz="2000" b="1" dirty="0">
                <a:solidFill>
                  <a:schemeClr val="tx1"/>
                </a:solidFill>
              </a:rPr>
              <a:t>Why threads here?</a:t>
            </a:r>
            <a:endParaRPr lang="en-US" sz="2000" dirty="0"/>
          </a:p>
        </p:txBody>
      </p:sp>
      <p:sp>
        <p:nvSpPr>
          <p:cNvPr id="6" name="Text 3"/>
          <p:cNvSpPr txBox="1"/>
          <p:nvPr/>
        </p:nvSpPr>
        <p:spPr>
          <a:xfrm>
            <a:off x="868680" y="2286000"/>
            <a:ext cx="4480560" cy="35661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Registration returns instantly</a:t>
            </a:r>
            <a:endParaRPr lang="en-US" sz="1600" dirty="0"/>
          </a:p>
          <a:p>
            <a:pPr marL="342900" indent="-342900">
              <a:spcAft>
                <a:spcPts val="800"/>
              </a:spcAft>
              <a:buSzPct val="100000"/>
              <a:buChar char="•"/>
            </a:pPr>
            <a:r>
              <a:rPr lang="en-US" sz="1600" dirty="0">
                <a:solidFill>
                  <a:schemeClr val="tx1"/>
                </a:solidFill>
              </a:rPr>
              <a:t>ExecutorService with 2 worker threads</a:t>
            </a:r>
            <a:endParaRPr lang="en-US" sz="1600" dirty="0"/>
          </a:p>
          <a:p>
            <a:pPr marL="342900" indent="-342900">
              <a:spcAft>
                <a:spcPts val="800"/>
              </a:spcAft>
              <a:buSzPct val="100000"/>
              <a:buChar char="•"/>
            </a:pPr>
            <a:r>
              <a:rPr lang="en-US" sz="1600" dirty="0">
                <a:solidFill>
                  <a:schemeClr val="tx1"/>
                </a:solidFill>
              </a:rPr>
              <a:t>Shared counter guarded by synchronized</a:t>
            </a:r>
            <a:endParaRPr lang="en-US" sz="1600" dirty="0"/>
          </a:p>
          <a:p>
            <a:pPr marL="342900" indent="-342900">
              <a:spcAft>
                <a:spcPts val="800"/>
              </a:spcAft>
              <a:buSzPct val="100000"/>
              <a:buChar char="•"/>
            </a:pPr>
            <a:r>
              <a:rPr lang="en-US" sz="1600" dirty="0">
                <a:solidFill>
                  <a:schemeClr val="tx1"/>
                </a:solidFill>
              </a:rPr>
              <a:t>Pool shut down cleanly by the listener</a:t>
            </a:r>
            <a:endParaRPr lang="en-US" sz="1600" dirty="0"/>
          </a:p>
          <a:p>
            <a:pPr marL="342900" indent="-342900">
              <a:spcAft>
                <a:spcPts val="800"/>
              </a:spcAft>
              <a:buSzPct val="100000"/>
              <a:buChar char="•"/>
            </a:pPr>
            <a:r>
              <a:rPr lang="en-US" sz="1600" dirty="0">
                <a:solidFill>
                  <a:schemeClr val="tx1"/>
                </a:solidFill>
              </a:rPr>
              <a:t>Real gateway (email/SMS) can replace the stub</a:t>
            </a:r>
            <a:endParaRPr lang="en-US" sz="1600" dirty="0"/>
          </a:p>
        </p:txBody>
      </p:sp>
      <p:sp>
        <p:nvSpPr>
          <p:cNvPr id="7" name="node"/>
          <p:cNvSpPr/>
          <p:nvPr/>
        </p:nvSpPr>
        <p:spPr>
          <a:xfrm>
            <a:off x="5943600" y="1463040"/>
            <a:ext cx="1645920" cy="1097280"/>
          </a:xfrm>
          <a:prstGeom prst="roundRect">
            <a:avLst>
              <a:gd name="adj" fmla="val 8333"/>
            </a:avLst>
          </a:prstGeom>
          <a:solidFill>
            <a:schemeClr val="tx1"/>
          </a:solidFill>
          <a:ln/>
        </p:spPr>
      </p:sp>
      <p:sp>
        <p:nvSpPr>
          <p:cNvPr id="8" name="Text 5"/>
          <p:cNvSpPr txBox="1"/>
          <p:nvPr/>
        </p:nvSpPr>
        <p:spPr>
          <a:xfrm>
            <a:off x="5943600" y="1463040"/>
            <a:ext cx="1645920" cy="1097280"/>
          </a:xfrm>
          <a:prstGeom prst="rect">
            <a:avLst/>
          </a:prstGeom>
          <a:noFill/>
          <a:ln/>
        </p:spPr>
        <p:txBody>
          <a:bodyPr wrap="square" lIns="0" tIns="0" rIns="0" bIns="0" rtlCol="0" anchor="ctr"/>
          <a:lstStyle/>
          <a:p>
            <a:pPr marL="0" indent="0" algn="ctr">
              <a:buNone/>
            </a:pPr>
            <a:r>
              <a:rPr lang="en-US" sz="1400" b="1" dirty="0">
                <a:solidFill>
                  <a:schemeClr val="bg1"/>
                </a:solidFill>
              </a:rPr>
              <a:t>Request</a:t>
            </a:r>
            <a:endParaRPr lang="en-US" sz="1400" dirty="0"/>
          </a:p>
          <a:p>
            <a:pPr marL="0" indent="0" algn="ctr">
              <a:buNone/>
            </a:pPr>
            <a:r>
              <a:rPr lang="en-US" sz="1400" b="1" dirty="0">
                <a:solidFill>
                  <a:schemeClr val="bg1"/>
                </a:solidFill>
              </a:rPr>
              <a:t>thread</a:t>
            </a:r>
            <a:endParaRPr lang="en-US" sz="1400" dirty="0"/>
          </a:p>
        </p:txBody>
      </p:sp>
      <p:sp>
        <p:nvSpPr>
          <p:cNvPr id="9" name="arrow"/>
          <p:cNvSpPr/>
          <p:nvPr/>
        </p:nvSpPr>
        <p:spPr>
          <a:xfrm>
            <a:off x="7616952" y="1874520"/>
            <a:ext cx="320040" cy="274320"/>
          </a:xfrm>
          <a:prstGeom prst="rightArrow">
            <a:avLst/>
          </a:prstGeom>
          <a:solidFill>
            <a:schemeClr val="accent1"/>
          </a:solidFill>
          <a:ln/>
        </p:spPr>
      </p:sp>
      <p:sp>
        <p:nvSpPr>
          <p:cNvPr id="10" name="node"/>
          <p:cNvSpPr/>
          <p:nvPr/>
        </p:nvSpPr>
        <p:spPr>
          <a:xfrm>
            <a:off x="8001000" y="1463040"/>
            <a:ext cx="1645920" cy="1097280"/>
          </a:xfrm>
          <a:prstGeom prst="roundRect">
            <a:avLst>
              <a:gd name="adj" fmla="val 8333"/>
            </a:avLst>
          </a:prstGeom>
          <a:solidFill>
            <a:schemeClr val="accent2"/>
          </a:solidFill>
          <a:ln/>
        </p:spPr>
      </p:sp>
      <p:sp>
        <p:nvSpPr>
          <p:cNvPr id="11" name="Text 8"/>
          <p:cNvSpPr txBox="1"/>
          <p:nvPr/>
        </p:nvSpPr>
        <p:spPr>
          <a:xfrm>
            <a:off x="8001000" y="1463040"/>
            <a:ext cx="1645920" cy="1097280"/>
          </a:xfrm>
          <a:prstGeom prst="rect">
            <a:avLst/>
          </a:prstGeom>
          <a:noFill/>
          <a:ln/>
        </p:spPr>
        <p:txBody>
          <a:bodyPr wrap="square" lIns="0" tIns="0" rIns="0" bIns="0" rtlCol="0" anchor="ctr"/>
          <a:lstStyle/>
          <a:p>
            <a:pPr marL="0" indent="0" algn="ctr">
              <a:buNone/>
            </a:pPr>
            <a:r>
              <a:rPr lang="en-US" sz="1400" b="1" dirty="0">
                <a:solidFill>
                  <a:schemeClr val="bg1"/>
                </a:solidFill>
              </a:rPr>
              <a:t>Thread pool</a:t>
            </a:r>
            <a:endParaRPr lang="en-US" sz="1400" dirty="0"/>
          </a:p>
          <a:p>
            <a:pPr marL="0" indent="0" algn="ctr">
              <a:buNone/>
            </a:pPr>
            <a:r>
              <a:rPr lang="en-US" sz="1400" b="1" dirty="0">
                <a:solidFill>
                  <a:schemeClr val="bg1"/>
                </a:solidFill>
              </a:rPr>
              <a:t>(2 workers)</a:t>
            </a:r>
            <a:endParaRPr lang="en-US" sz="1400" dirty="0"/>
          </a:p>
        </p:txBody>
      </p:sp>
      <p:sp>
        <p:nvSpPr>
          <p:cNvPr id="12" name="arrow"/>
          <p:cNvSpPr/>
          <p:nvPr/>
        </p:nvSpPr>
        <p:spPr>
          <a:xfrm>
            <a:off x="9674352" y="1874520"/>
            <a:ext cx="320040" cy="274320"/>
          </a:xfrm>
          <a:prstGeom prst="rightArrow">
            <a:avLst/>
          </a:prstGeom>
          <a:solidFill>
            <a:schemeClr val="accent1"/>
          </a:solidFill>
          <a:ln/>
        </p:spPr>
      </p:sp>
      <p:sp>
        <p:nvSpPr>
          <p:cNvPr id="13" name="node"/>
          <p:cNvSpPr/>
          <p:nvPr/>
        </p:nvSpPr>
        <p:spPr>
          <a:xfrm>
            <a:off x="10058400" y="1463040"/>
            <a:ext cx="1645920" cy="1097280"/>
          </a:xfrm>
          <a:prstGeom prst="roundRect">
            <a:avLst>
              <a:gd name="adj" fmla="val 8333"/>
            </a:avLst>
          </a:prstGeom>
          <a:solidFill>
            <a:schemeClr val="accent1"/>
          </a:solidFill>
          <a:ln/>
        </p:spPr>
      </p:sp>
      <p:sp>
        <p:nvSpPr>
          <p:cNvPr id="14" name="Text 11"/>
          <p:cNvSpPr txBox="1"/>
          <p:nvPr/>
        </p:nvSpPr>
        <p:spPr>
          <a:xfrm>
            <a:off x="10058400" y="1463040"/>
            <a:ext cx="1645920" cy="1097280"/>
          </a:xfrm>
          <a:prstGeom prst="rect">
            <a:avLst/>
          </a:prstGeom>
          <a:noFill/>
          <a:ln/>
        </p:spPr>
        <p:txBody>
          <a:bodyPr wrap="square" lIns="0" tIns="0" rIns="0" bIns="0" rtlCol="0" anchor="ctr"/>
          <a:lstStyle/>
          <a:p>
            <a:pPr marL="0" indent="0" algn="ctr">
              <a:buNone/>
            </a:pPr>
            <a:r>
              <a:rPr lang="en-US" sz="1400" b="1" dirty="0">
                <a:solidFill>
                  <a:schemeClr val="bg1"/>
                </a:solidFill>
              </a:rPr>
              <a:t>Synchronized</a:t>
            </a:r>
            <a:endParaRPr lang="en-US" sz="1400" dirty="0"/>
          </a:p>
          <a:p>
            <a:pPr marL="0" indent="0" algn="ctr">
              <a:buNone/>
            </a:pPr>
            <a:r>
              <a:rPr lang="en-US" sz="1400" b="1" dirty="0">
                <a:solidFill>
                  <a:schemeClr val="bg1"/>
                </a:solidFill>
              </a:rPr>
              <a:t>counter</a:t>
            </a:r>
            <a:endParaRPr lang="en-US" sz="1400" dirty="0"/>
          </a:p>
        </p:txBody>
      </p:sp>
      <p:sp>
        <p:nvSpPr>
          <p:cNvPr id="15" name="thread-code"/>
          <p:cNvSpPr/>
          <p:nvPr/>
        </p:nvSpPr>
        <p:spPr>
          <a:xfrm>
            <a:off x="5943600" y="2926080"/>
            <a:ext cx="5760720" cy="3108960"/>
          </a:xfrm>
          <a:prstGeom prst="roundRect">
            <a:avLst>
              <a:gd name="adj" fmla="val 3529"/>
            </a:avLst>
          </a:prstGeom>
          <a:solidFill>
            <a:schemeClr val="tx1"/>
          </a:solidFill>
          <a:ln/>
        </p:spPr>
      </p:sp>
      <p:sp>
        <p:nvSpPr>
          <p:cNvPr id="16" name="Text 13"/>
          <p:cNvSpPr txBox="1"/>
          <p:nvPr/>
        </p:nvSpPr>
        <p:spPr>
          <a:xfrm>
            <a:off x="6217920" y="3108960"/>
            <a:ext cx="5303520" cy="2743200"/>
          </a:xfrm>
          <a:prstGeom prst="rect">
            <a:avLst/>
          </a:prstGeom>
          <a:noFill/>
          <a:ln/>
        </p:spPr>
        <p:txBody>
          <a:bodyPr wrap="square" lIns="0" tIns="0" rIns="0" bIns="0" rtlCol="0" anchor="ctr"/>
          <a:lstStyle/>
          <a:p>
            <a:pPr marL="0" indent="0">
              <a:buNone/>
            </a:pPr>
            <a:r>
              <a:rPr lang="en-US" sz="1300" dirty="0">
                <a:solidFill>
                  <a:schemeClr val="bg1"/>
                </a:solidFill>
                <a:latin typeface="Courier New" pitchFamily="34" charset="0"/>
                <a:ea typeface="Courier New" pitchFamily="34" charset="-122"/>
                <a:cs typeface="Courier New" pitchFamily="34" charset="-120"/>
              </a:rPr>
              <a:t>pool.submit(() -&gt; {</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Thread.sleep(300);      // gateway delay</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int n = increment();    // thread-safe</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LOG.info("notification #" + n);</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marL="0" indent="0">
              <a:buNone/>
            </a:pP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private synchronized int increment() {</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return ++sentCount;</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JDBC and servlet integration</a:t>
            </a:r>
            <a:endParaRPr lang="en-US" sz="3400" dirty="0"/>
          </a:p>
        </p:txBody>
      </p:sp>
      <p:sp>
        <p:nvSpPr>
          <p:cNvPr id="4" name="jdbc-card"/>
          <p:cNvSpPr/>
          <p:nvPr/>
        </p:nvSpPr>
        <p:spPr>
          <a:xfrm>
            <a:off x="548640" y="1463040"/>
            <a:ext cx="5212080" cy="4572000"/>
          </a:xfrm>
          <a:prstGeom prst="roundRect">
            <a:avLst>
              <a:gd name="adj" fmla="val 2400"/>
            </a:avLst>
          </a:prstGeom>
          <a:solidFill>
            <a:schemeClr val="bg2"/>
          </a:solidFill>
          <a:ln/>
        </p:spPr>
      </p:sp>
      <p:sp>
        <p:nvSpPr>
          <p:cNvPr id="5" name="icon-circle"/>
          <p:cNvSpPr/>
          <p:nvPr/>
        </p:nvSpPr>
        <p:spPr>
          <a:xfrm>
            <a:off x="868680" y="1737360"/>
            <a:ext cx="640080" cy="640080"/>
          </a:xfrm>
          <a:prstGeom prst="ellipse">
            <a:avLst/>
          </a:prstGeom>
          <a:solidFill>
            <a:schemeClr val="accent1"/>
          </a:solidFill>
          <a:ln/>
        </p:spPr>
      </p:sp>
      <p:pic>
        <p:nvPicPr>
          <p:cNvPr id="6" name="icon" descr="preencoded.png"/>
          <p:cNvPicPr>
            <a:picLocks noChangeAspect="1"/>
          </p:cNvPicPr>
          <p:nvPr/>
        </p:nvPicPr>
        <p:blipFill>
          <a:blip r:embed="rId3"/>
          <a:stretch>
            <a:fillRect/>
          </a:stretch>
        </p:blipFill>
        <p:spPr>
          <a:xfrm>
            <a:off x="1009498" y="1878178"/>
            <a:ext cx="358445" cy="358445"/>
          </a:xfrm>
          <a:prstGeom prst="rect">
            <a:avLst/>
          </a:prstGeom>
        </p:spPr>
      </p:pic>
      <p:sp>
        <p:nvSpPr>
          <p:cNvPr id="7" name="Text 3"/>
          <p:cNvSpPr txBox="1"/>
          <p:nvPr/>
        </p:nvSpPr>
        <p:spPr>
          <a:xfrm>
            <a:off x="1691640" y="1828800"/>
            <a:ext cx="3657600" cy="457200"/>
          </a:xfrm>
          <a:prstGeom prst="rect">
            <a:avLst/>
          </a:prstGeom>
          <a:noFill/>
          <a:ln/>
        </p:spPr>
        <p:txBody>
          <a:bodyPr wrap="square" lIns="0" tIns="0" rIns="0" bIns="0" rtlCol="0" anchor="t"/>
          <a:lstStyle/>
          <a:p>
            <a:pPr marL="0" indent="0">
              <a:buNone/>
            </a:pPr>
            <a:r>
              <a:rPr lang="en-US" sz="2000" b="1" dirty="0">
                <a:solidFill>
                  <a:schemeClr val="tx1"/>
                </a:solidFill>
              </a:rPr>
              <a:t>JDBC layer</a:t>
            </a:r>
            <a:endParaRPr lang="en-US" sz="2000" dirty="0"/>
          </a:p>
        </p:txBody>
      </p:sp>
      <p:sp>
        <p:nvSpPr>
          <p:cNvPr id="8" name="Text 4"/>
          <p:cNvSpPr txBox="1"/>
          <p:nvPr/>
        </p:nvSpPr>
        <p:spPr>
          <a:xfrm>
            <a:off x="868680" y="2697480"/>
            <a:ext cx="4572000" cy="32004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DBConnection loads the driver and settings once</a:t>
            </a:r>
            <a:endParaRPr lang="en-US" sz="1500" dirty="0"/>
          </a:p>
          <a:p>
            <a:pPr marL="342900" indent="-342900">
              <a:spcAft>
                <a:spcPts val="800"/>
              </a:spcAft>
              <a:buSzPct val="100000"/>
              <a:buChar char="•"/>
            </a:pPr>
            <a:r>
              <a:rPr lang="en-US" sz="1500" dirty="0">
                <a:solidFill>
                  <a:schemeClr val="tx1"/>
                </a:solidFill>
              </a:rPr>
              <a:t>db.properties, overridable by environment variables</a:t>
            </a:r>
            <a:endParaRPr lang="en-US" sz="1500" dirty="0"/>
          </a:p>
          <a:p>
            <a:pPr marL="342900" indent="-342900">
              <a:spcAft>
                <a:spcPts val="800"/>
              </a:spcAft>
              <a:buSzPct val="100000"/>
              <a:buChar char="•"/>
            </a:pPr>
            <a:r>
              <a:rPr lang="en-US" sz="1500" dirty="0">
                <a:solidFill>
                  <a:schemeClr val="tx1"/>
                </a:solidFill>
              </a:rPr>
              <a:t>PreparedStatement for every query</a:t>
            </a:r>
            <a:endParaRPr lang="en-US" sz="1500" dirty="0"/>
          </a:p>
          <a:p>
            <a:pPr marL="342900" indent="-342900">
              <a:spcAft>
                <a:spcPts val="800"/>
              </a:spcAft>
              <a:buSzPct val="100000"/>
              <a:buChar char="•"/>
            </a:pPr>
            <a:r>
              <a:rPr lang="en-US" sz="1500" dirty="0">
                <a:solidFill>
                  <a:schemeClr val="tx1"/>
                </a:solidFill>
              </a:rPr>
              <a:t>try-with-resources for connections and results</a:t>
            </a:r>
            <a:endParaRPr lang="en-US" sz="1500" dirty="0"/>
          </a:p>
          <a:p>
            <a:pPr marL="342900" indent="-342900">
              <a:spcAft>
                <a:spcPts val="800"/>
              </a:spcAft>
              <a:buSzPct val="100000"/>
              <a:buChar char="•"/>
            </a:pPr>
            <a:r>
              <a:rPr lang="en-US" sz="1500" dirty="0">
                <a:solidFill>
                  <a:schemeClr val="tx1"/>
                </a:solidFill>
              </a:rPr>
              <a:t>Four DAOs: User, Workout, Enrollment, Progress</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035040" y="1463040"/>
          <a:ext cx="5669280" cy="3520440"/>
        </p:xfrm>
        <a:graphic>
          <a:graphicData uri="http://schemas.openxmlformats.org/drawingml/2006/table">
            <a:tbl>
              <a:tblPr/>
              <a:tblGrid>
                <a:gridCol w="182880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tblGrid>
              <a:tr h="502920">
                <a:tc>
                  <a:txBody>
                    <a:bodyPr/>
                    <a:lstStyle/>
                    <a:p>
                      <a:pPr marL="0" indent="0">
                        <a:buNone/>
                      </a:pPr>
                      <a:r>
                        <a:rPr lang="en-US" sz="1400" b="1" dirty="0">
                          <a:solidFill>
                            <a:srgbClr val="FFFFFF"/>
                          </a:solidFill>
                        </a:rPr>
                        <a:t>URL</a:t>
                      </a:r>
                      <a:endParaRPr lang="en-US" sz="1400" dirty="0"/>
                    </a:p>
                  </a:txBody>
                  <a:tcPr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4213D"/>
                    </a:solidFill>
                  </a:tcPr>
                </a:tc>
                <a:tc>
                  <a:txBody>
                    <a:bodyPr/>
                    <a:lstStyle/>
                    <a:p>
                      <a:pPr marL="0" indent="0">
                        <a:buNone/>
                      </a:pPr>
                      <a:r>
                        <a:rPr lang="en-US" sz="1400" b="1" dirty="0">
                          <a:solidFill>
                            <a:srgbClr val="FFFFFF"/>
                          </a:solidFill>
                        </a:rPr>
                        <a:t>Servlet and purpose</a:t>
                      </a:r>
                      <a:endParaRPr lang="en-US" sz="1400" dirty="0"/>
                    </a:p>
                  </a:txBody>
                  <a:tcPr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502920">
                <a:tc>
                  <a:txBody>
                    <a:bodyPr/>
                    <a:lstStyle/>
                    <a:p>
                      <a:pPr marL="0" indent="0">
                        <a:buNone/>
                      </a:pPr>
                      <a:r>
                        <a:rPr lang="en-US" sz="1400" dirty="0">
                          <a:solidFill>
                            <a:srgbClr val="14213D"/>
                          </a:solidFill>
                        </a:rPr>
                        <a:t>/login</a:t>
                      </a:r>
                      <a:endParaRPr lang="en-US" sz="1400" dirty="0"/>
                    </a:p>
                  </a:txBody>
                  <a:tcPr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400" dirty="0">
                          <a:solidFill>
                            <a:srgbClr val="14213D"/>
                          </a:solidFill>
                        </a:rPr>
                        <a:t>LoginServlet: authenticate</a:t>
                      </a:r>
                      <a:endParaRPr lang="en-US" sz="1400" dirty="0"/>
                    </a:p>
                  </a:txBody>
                  <a:tcPr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400" dirty="0">
                          <a:solidFill>
                            <a:srgbClr val="14213D"/>
                          </a:solidFill>
                        </a:rPr>
                        <a:t>/register</a:t>
                      </a:r>
                      <a:endParaRPr lang="en-US" sz="1400" dirty="0"/>
                    </a:p>
                  </a:txBody>
                  <a:tcPr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400" dirty="0">
                          <a:solidFill>
                            <a:srgbClr val="14213D"/>
                          </a:solidFill>
                        </a:rPr>
                        <a:t>RegisterServlet: sign up</a:t>
                      </a:r>
                      <a:endParaRPr lang="en-US" sz="1400" dirty="0"/>
                    </a:p>
                  </a:txBody>
                  <a:tcPr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400" dirty="0">
                          <a:solidFill>
                            <a:srgbClr val="14213D"/>
                          </a:solidFill>
                        </a:rPr>
                        <a:t>/app/dashboard</a:t>
                      </a:r>
                      <a:endParaRPr lang="en-US" sz="1400" dirty="0"/>
                    </a:p>
                  </a:txBody>
                  <a:tcPr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400" dirty="0">
                          <a:solidFill>
                            <a:srgbClr val="14213D"/>
                          </a:solidFill>
                        </a:rPr>
                        <a:t>DashboardServlet: statistics</a:t>
                      </a:r>
                      <a:endParaRPr lang="en-US" sz="1400" dirty="0"/>
                    </a:p>
                  </a:txBody>
                  <a:tcPr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400" dirty="0">
                          <a:solidFill>
                            <a:srgbClr val="14213D"/>
                          </a:solidFill>
                        </a:rPr>
                        <a:t>/app/workouts</a:t>
                      </a:r>
                      <a:endParaRPr lang="en-US" sz="1400" dirty="0"/>
                    </a:p>
                  </a:txBody>
                  <a:tcPr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400" dirty="0">
                          <a:solidFill>
                            <a:srgbClr val="14213D"/>
                          </a:solidFill>
                        </a:rPr>
                        <a:t>WorkoutServlet: list, enrol, publish</a:t>
                      </a:r>
                      <a:endParaRPr lang="en-US" sz="1400" dirty="0"/>
                    </a:p>
                  </a:txBody>
                  <a:tcPr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buNone/>
                      </a:pPr>
                      <a:r>
                        <a:rPr lang="en-US" sz="1400" dirty="0">
                          <a:solidFill>
                            <a:srgbClr val="14213D"/>
                          </a:solidFill>
                        </a:rPr>
                        <a:t>/app/progress</a:t>
                      </a:r>
                      <a:endParaRPr lang="en-US" sz="1400" dirty="0"/>
                    </a:p>
                  </a:txBody>
                  <a:tcPr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400" dirty="0">
                          <a:solidFill>
                            <a:srgbClr val="14213D"/>
                          </a:solidFill>
                        </a:rPr>
                        <a:t>ProgressServlet: log sessions</a:t>
                      </a:r>
                      <a:endParaRPr lang="en-US" sz="1400" dirty="0"/>
                    </a:p>
                  </a:txBody>
                  <a:tcPr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5"/>
                  </a:ext>
                </a:extLst>
              </a:tr>
              <a:tr h="502920">
                <a:tc>
                  <a:txBody>
                    <a:bodyPr/>
                    <a:lstStyle/>
                    <a:p>
                      <a:pPr marL="0" indent="0">
                        <a:buNone/>
                      </a:pPr>
                      <a:r>
                        <a:rPr lang="en-US" sz="1400" dirty="0">
                          <a:solidFill>
                            <a:srgbClr val="14213D"/>
                          </a:solidFill>
                        </a:rPr>
                        <a:t>/app/logout</a:t>
                      </a:r>
                      <a:endParaRPr lang="en-US" sz="1400" dirty="0"/>
                    </a:p>
                  </a:txBody>
                  <a:tcPr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400" dirty="0">
                          <a:solidFill>
                            <a:srgbClr val="14213D"/>
                          </a:solidFill>
                        </a:rPr>
                        <a:t>LogoutServlet: end session</a:t>
                      </a:r>
                      <a:endParaRPr lang="en-US" sz="1400" dirty="0"/>
                    </a:p>
                  </a:txBody>
                  <a:tcPr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0" name="Text 5"/>
          <p:cNvSpPr txBox="1"/>
          <p:nvPr/>
        </p:nvSpPr>
        <p:spPr>
          <a:xfrm>
            <a:off x="6035040" y="5257800"/>
            <a:ext cx="5669280" cy="365760"/>
          </a:xfrm>
          <a:prstGeom prst="rect">
            <a:avLst/>
          </a:prstGeom>
          <a:noFill/>
          <a:ln/>
        </p:spPr>
        <p:txBody>
          <a:bodyPr wrap="square" lIns="0" tIns="0" rIns="0" bIns="0" rtlCol="0" anchor="t"/>
          <a:lstStyle/>
          <a:p>
            <a:pPr marL="0" indent="0">
              <a:buNone/>
            </a:pPr>
            <a:r>
              <a:rPr lang="en-US" sz="1400" dirty="0">
                <a:solidFill>
                  <a:schemeClr val="accent5"/>
                </a:solidFill>
              </a:rPr>
              <a:t>Every /app/* URL passes through AuthFilter first.</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Security measures</a:t>
            </a:r>
            <a:endParaRPr lang="en-US" sz="3400" dirty="0"/>
          </a:p>
        </p:txBody>
      </p:sp>
      <p:sp>
        <p:nvSpPr>
          <p:cNvPr id="4" name="sec-card"/>
          <p:cNvSpPr/>
          <p:nvPr/>
        </p:nvSpPr>
        <p:spPr>
          <a:xfrm>
            <a:off x="548640" y="1463040"/>
            <a:ext cx="5394960" cy="2148840"/>
          </a:xfrm>
          <a:prstGeom prst="roundRect">
            <a:avLst>
              <a:gd name="adj" fmla="val 5106"/>
            </a:avLst>
          </a:prstGeom>
          <a:solidFill>
            <a:schemeClr val="bg2"/>
          </a:solidFill>
          <a:ln/>
        </p:spPr>
      </p:sp>
      <p:sp>
        <p:nvSpPr>
          <p:cNvPr id="5" name="icon-circle"/>
          <p:cNvSpPr/>
          <p:nvPr/>
        </p:nvSpPr>
        <p:spPr>
          <a:xfrm>
            <a:off x="868680" y="1828800"/>
            <a:ext cx="777240" cy="777240"/>
          </a:xfrm>
          <a:prstGeom prst="ellipse">
            <a:avLst/>
          </a:prstGeom>
          <a:solidFill>
            <a:schemeClr val="accent1"/>
          </a:solidFill>
          <a:ln/>
        </p:spPr>
      </p:sp>
      <p:pic>
        <p:nvPicPr>
          <p:cNvPr id="6" name="icon" descr="preencoded.png"/>
          <p:cNvPicPr>
            <a:picLocks noChangeAspect="1"/>
          </p:cNvPicPr>
          <p:nvPr/>
        </p:nvPicPr>
        <p:blipFill>
          <a:blip r:embed="rId3"/>
          <a:stretch>
            <a:fillRect/>
          </a:stretch>
        </p:blipFill>
        <p:spPr>
          <a:xfrm>
            <a:off x="1039673" y="1999793"/>
            <a:ext cx="435254" cy="435254"/>
          </a:xfrm>
          <a:prstGeom prst="rect">
            <a:avLst/>
          </a:prstGeom>
        </p:spPr>
      </p:pic>
      <p:sp>
        <p:nvSpPr>
          <p:cNvPr id="7" name="Text 3"/>
          <p:cNvSpPr txBox="1"/>
          <p:nvPr/>
        </p:nvSpPr>
        <p:spPr>
          <a:xfrm>
            <a:off x="1920240" y="1828800"/>
            <a:ext cx="3749040" cy="457200"/>
          </a:xfrm>
          <a:prstGeom prst="rect">
            <a:avLst/>
          </a:prstGeom>
          <a:noFill/>
          <a:ln/>
        </p:spPr>
        <p:txBody>
          <a:bodyPr wrap="square" lIns="0" tIns="0" rIns="0" bIns="0" rtlCol="0" anchor="t"/>
          <a:lstStyle/>
          <a:p>
            <a:pPr marL="0" indent="0">
              <a:buNone/>
            </a:pPr>
            <a:r>
              <a:rPr lang="en-US" sz="2000" b="1" dirty="0">
                <a:solidFill>
                  <a:schemeClr val="tx1"/>
                </a:solidFill>
              </a:rPr>
              <a:t>Password hashing</a:t>
            </a:r>
            <a:endParaRPr lang="en-US" sz="2000" dirty="0"/>
          </a:p>
        </p:txBody>
      </p:sp>
      <p:sp>
        <p:nvSpPr>
          <p:cNvPr id="8" name="Text 4"/>
          <p:cNvSpPr txBox="1"/>
          <p:nvPr/>
        </p:nvSpPr>
        <p:spPr>
          <a:xfrm>
            <a:off x="1920240" y="2377440"/>
            <a:ext cx="3749040" cy="1097280"/>
          </a:xfrm>
          <a:prstGeom prst="rect">
            <a:avLst/>
          </a:prstGeom>
          <a:noFill/>
          <a:ln/>
        </p:spPr>
        <p:txBody>
          <a:bodyPr wrap="square" lIns="0" tIns="0" rIns="0" bIns="0" rtlCol="0" anchor="t"/>
          <a:lstStyle/>
          <a:p>
            <a:pPr marL="0" indent="0">
              <a:buNone/>
            </a:pPr>
            <a:r>
              <a:rPr lang="en-US" sz="1400" dirty="0">
                <a:solidFill>
                  <a:schemeClr val="tx1"/>
                </a:solidFill>
              </a:rPr>
              <a:t>PBKDF2-HMAC-SHA256 with a random salt. Plain passwords are never stored.</a:t>
            </a:r>
            <a:endParaRPr lang="en-US" sz="1400" dirty="0"/>
          </a:p>
        </p:txBody>
      </p:sp>
      <p:sp>
        <p:nvSpPr>
          <p:cNvPr id="9" name="sec-card"/>
          <p:cNvSpPr/>
          <p:nvPr/>
        </p:nvSpPr>
        <p:spPr>
          <a:xfrm>
            <a:off x="6263640" y="1463040"/>
            <a:ext cx="5394960" cy="2148840"/>
          </a:xfrm>
          <a:prstGeom prst="roundRect">
            <a:avLst>
              <a:gd name="adj" fmla="val 5106"/>
            </a:avLst>
          </a:prstGeom>
          <a:solidFill>
            <a:schemeClr val="bg2"/>
          </a:solidFill>
          <a:ln/>
        </p:spPr>
      </p:sp>
      <p:sp>
        <p:nvSpPr>
          <p:cNvPr id="10" name="icon-circle"/>
          <p:cNvSpPr/>
          <p:nvPr/>
        </p:nvSpPr>
        <p:spPr>
          <a:xfrm>
            <a:off x="6583680" y="1828800"/>
            <a:ext cx="777240" cy="777240"/>
          </a:xfrm>
          <a:prstGeom prst="ellipse">
            <a:avLst/>
          </a:prstGeom>
          <a:solidFill>
            <a:schemeClr val="accent2"/>
          </a:solidFill>
          <a:ln/>
        </p:spPr>
      </p:sp>
      <p:pic>
        <p:nvPicPr>
          <p:cNvPr id="11" name="icon" descr="preencoded.png"/>
          <p:cNvPicPr>
            <a:picLocks noChangeAspect="1"/>
          </p:cNvPicPr>
          <p:nvPr/>
        </p:nvPicPr>
        <p:blipFill>
          <a:blip r:embed="rId4"/>
          <a:stretch>
            <a:fillRect/>
          </a:stretch>
        </p:blipFill>
        <p:spPr>
          <a:xfrm>
            <a:off x="6754673" y="1999793"/>
            <a:ext cx="435254" cy="435254"/>
          </a:xfrm>
          <a:prstGeom prst="rect">
            <a:avLst/>
          </a:prstGeom>
        </p:spPr>
      </p:pic>
      <p:sp>
        <p:nvSpPr>
          <p:cNvPr id="12" name="Text 7"/>
          <p:cNvSpPr txBox="1"/>
          <p:nvPr/>
        </p:nvSpPr>
        <p:spPr>
          <a:xfrm>
            <a:off x="7635240" y="1828800"/>
            <a:ext cx="3749040" cy="457200"/>
          </a:xfrm>
          <a:prstGeom prst="rect">
            <a:avLst/>
          </a:prstGeom>
          <a:noFill/>
          <a:ln/>
        </p:spPr>
        <p:txBody>
          <a:bodyPr wrap="square" lIns="0" tIns="0" rIns="0" bIns="0" rtlCol="0" anchor="t"/>
          <a:lstStyle/>
          <a:p>
            <a:pPr marL="0" indent="0">
              <a:buNone/>
            </a:pPr>
            <a:r>
              <a:rPr lang="en-US" sz="2000" b="1" dirty="0">
                <a:solidFill>
                  <a:schemeClr val="tx1"/>
                </a:solidFill>
              </a:rPr>
              <a:t>SQL injection</a:t>
            </a:r>
            <a:endParaRPr lang="en-US" sz="2000" dirty="0"/>
          </a:p>
        </p:txBody>
      </p:sp>
      <p:sp>
        <p:nvSpPr>
          <p:cNvPr id="13" name="Text 8"/>
          <p:cNvSpPr txBox="1"/>
          <p:nvPr/>
        </p:nvSpPr>
        <p:spPr>
          <a:xfrm>
            <a:off x="7635240" y="2377440"/>
            <a:ext cx="3749040" cy="1097280"/>
          </a:xfrm>
          <a:prstGeom prst="rect">
            <a:avLst/>
          </a:prstGeom>
          <a:noFill/>
          <a:ln/>
        </p:spPr>
        <p:txBody>
          <a:bodyPr wrap="square" lIns="0" tIns="0" rIns="0" bIns="0" rtlCol="0" anchor="t"/>
          <a:lstStyle/>
          <a:p>
            <a:pPr marL="0" indent="0">
              <a:buNone/>
            </a:pPr>
            <a:r>
              <a:rPr lang="en-US" sz="1400" dirty="0">
                <a:solidFill>
                  <a:schemeClr val="tx1"/>
                </a:solidFill>
              </a:rPr>
              <a:t>Every query uses PreparedStatement with bound parameters.</a:t>
            </a:r>
            <a:endParaRPr lang="en-US" sz="1400" dirty="0"/>
          </a:p>
        </p:txBody>
      </p:sp>
      <p:sp>
        <p:nvSpPr>
          <p:cNvPr id="14" name="sec-card"/>
          <p:cNvSpPr/>
          <p:nvPr/>
        </p:nvSpPr>
        <p:spPr>
          <a:xfrm>
            <a:off x="548640" y="3840480"/>
            <a:ext cx="5394960" cy="2148840"/>
          </a:xfrm>
          <a:prstGeom prst="roundRect">
            <a:avLst>
              <a:gd name="adj" fmla="val 5106"/>
            </a:avLst>
          </a:prstGeom>
          <a:solidFill>
            <a:schemeClr val="bg2"/>
          </a:solidFill>
          <a:ln/>
        </p:spPr>
      </p:sp>
      <p:sp>
        <p:nvSpPr>
          <p:cNvPr id="15" name="icon-circle"/>
          <p:cNvSpPr/>
          <p:nvPr/>
        </p:nvSpPr>
        <p:spPr>
          <a:xfrm>
            <a:off x="868680" y="4206240"/>
            <a:ext cx="777240" cy="777240"/>
          </a:xfrm>
          <a:prstGeom prst="ellipse">
            <a:avLst/>
          </a:prstGeom>
          <a:solidFill>
            <a:schemeClr val="accent1"/>
          </a:solidFill>
          <a:ln/>
        </p:spPr>
      </p:sp>
      <p:pic>
        <p:nvPicPr>
          <p:cNvPr id="16" name="icon" descr="preencoded.png"/>
          <p:cNvPicPr>
            <a:picLocks noChangeAspect="1"/>
          </p:cNvPicPr>
          <p:nvPr/>
        </p:nvPicPr>
        <p:blipFill>
          <a:blip r:embed="rId5"/>
          <a:stretch>
            <a:fillRect/>
          </a:stretch>
        </p:blipFill>
        <p:spPr>
          <a:xfrm>
            <a:off x="1039673" y="4377233"/>
            <a:ext cx="435254" cy="435254"/>
          </a:xfrm>
          <a:prstGeom prst="rect">
            <a:avLst/>
          </a:prstGeom>
        </p:spPr>
      </p:pic>
      <p:sp>
        <p:nvSpPr>
          <p:cNvPr id="17" name="Text 11"/>
          <p:cNvSpPr txBox="1"/>
          <p:nvPr/>
        </p:nvSpPr>
        <p:spPr>
          <a:xfrm>
            <a:off x="1920240" y="4206240"/>
            <a:ext cx="3749040" cy="457200"/>
          </a:xfrm>
          <a:prstGeom prst="rect">
            <a:avLst/>
          </a:prstGeom>
          <a:noFill/>
          <a:ln/>
        </p:spPr>
        <p:txBody>
          <a:bodyPr wrap="square" lIns="0" tIns="0" rIns="0" bIns="0" rtlCol="0" anchor="t"/>
          <a:lstStyle/>
          <a:p>
            <a:pPr marL="0" indent="0">
              <a:buNone/>
            </a:pPr>
            <a:r>
              <a:rPr lang="en-US" sz="2000" b="1" dirty="0">
                <a:solidFill>
                  <a:schemeClr val="tx1"/>
                </a:solidFill>
              </a:rPr>
              <a:t>Cross-site scripting</a:t>
            </a:r>
            <a:endParaRPr lang="en-US" sz="2000" dirty="0"/>
          </a:p>
        </p:txBody>
      </p:sp>
      <p:sp>
        <p:nvSpPr>
          <p:cNvPr id="18" name="Text 12"/>
          <p:cNvSpPr txBox="1"/>
          <p:nvPr/>
        </p:nvSpPr>
        <p:spPr>
          <a:xfrm>
            <a:off x="1920240" y="4754880"/>
            <a:ext cx="3749040" cy="1097280"/>
          </a:xfrm>
          <a:prstGeom prst="rect">
            <a:avLst/>
          </a:prstGeom>
          <a:noFill/>
          <a:ln/>
        </p:spPr>
        <p:txBody>
          <a:bodyPr wrap="square" lIns="0" tIns="0" rIns="0" bIns="0" rtlCol="0" anchor="t"/>
          <a:lstStyle/>
          <a:p>
            <a:pPr marL="0" indent="0">
              <a:buNone/>
            </a:pPr>
            <a:r>
              <a:rPr lang="en-US" sz="1400" dirty="0">
                <a:solidFill>
                  <a:schemeClr val="tx1"/>
                </a:solidFill>
              </a:rPr>
              <a:t>All JSP output goes through c:out so user text is escaped.</a:t>
            </a:r>
            <a:endParaRPr lang="en-US" sz="1400" dirty="0"/>
          </a:p>
        </p:txBody>
      </p:sp>
      <p:sp>
        <p:nvSpPr>
          <p:cNvPr id="19" name="sec-card"/>
          <p:cNvSpPr/>
          <p:nvPr/>
        </p:nvSpPr>
        <p:spPr>
          <a:xfrm>
            <a:off x="6263640" y="3840480"/>
            <a:ext cx="5394960" cy="2148840"/>
          </a:xfrm>
          <a:prstGeom prst="roundRect">
            <a:avLst>
              <a:gd name="adj" fmla="val 5106"/>
            </a:avLst>
          </a:prstGeom>
          <a:solidFill>
            <a:schemeClr val="bg2"/>
          </a:solidFill>
          <a:ln/>
        </p:spPr>
      </p:sp>
      <p:sp>
        <p:nvSpPr>
          <p:cNvPr id="20" name="icon-circle"/>
          <p:cNvSpPr/>
          <p:nvPr/>
        </p:nvSpPr>
        <p:spPr>
          <a:xfrm>
            <a:off x="6583680" y="4206240"/>
            <a:ext cx="777240" cy="777240"/>
          </a:xfrm>
          <a:prstGeom prst="ellipse">
            <a:avLst/>
          </a:prstGeom>
          <a:solidFill>
            <a:schemeClr val="accent2"/>
          </a:solidFill>
          <a:ln/>
        </p:spPr>
      </p:sp>
      <p:pic>
        <p:nvPicPr>
          <p:cNvPr id="21" name="icon" descr="preencoded.png"/>
          <p:cNvPicPr>
            <a:picLocks noChangeAspect="1"/>
          </p:cNvPicPr>
          <p:nvPr/>
        </p:nvPicPr>
        <p:blipFill>
          <a:blip r:embed="rId6"/>
          <a:stretch>
            <a:fillRect/>
          </a:stretch>
        </p:blipFill>
        <p:spPr>
          <a:xfrm>
            <a:off x="6754673" y="4377233"/>
            <a:ext cx="435254" cy="435254"/>
          </a:xfrm>
          <a:prstGeom prst="rect">
            <a:avLst/>
          </a:prstGeom>
        </p:spPr>
      </p:pic>
      <p:sp>
        <p:nvSpPr>
          <p:cNvPr id="22" name="Text 15"/>
          <p:cNvSpPr txBox="1"/>
          <p:nvPr/>
        </p:nvSpPr>
        <p:spPr>
          <a:xfrm>
            <a:off x="7635240" y="4206240"/>
            <a:ext cx="3749040" cy="457200"/>
          </a:xfrm>
          <a:prstGeom prst="rect">
            <a:avLst/>
          </a:prstGeom>
          <a:noFill/>
          <a:ln/>
        </p:spPr>
        <p:txBody>
          <a:bodyPr wrap="square" lIns="0" tIns="0" rIns="0" bIns="0" rtlCol="0" anchor="t"/>
          <a:lstStyle/>
          <a:p>
            <a:pPr marL="0" indent="0">
              <a:buNone/>
            </a:pPr>
            <a:r>
              <a:rPr lang="en-US" sz="2000" b="1" dirty="0">
                <a:solidFill>
                  <a:schemeClr val="tx1"/>
                </a:solidFill>
              </a:rPr>
              <a:t>Sessions and roles</a:t>
            </a:r>
            <a:endParaRPr lang="en-US" sz="2000" dirty="0"/>
          </a:p>
        </p:txBody>
      </p:sp>
      <p:sp>
        <p:nvSpPr>
          <p:cNvPr id="23" name="Text 16"/>
          <p:cNvSpPr txBox="1"/>
          <p:nvPr/>
        </p:nvSpPr>
        <p:spPr>
          <a:xfrm>
            <a:off x="7635240" y="4754880"/>
            <a:ext cx="3749040" cy="1097280"/>
          </a:xfrm>
          <a:prstGeom prst="rect">
            <a:avLst/>
          </a:prstGeom>
          <a:noFill/>
          <a:ln/>
        </p:spPr>
        <p:txBody>
          <a:bodyPr wrap="square" lIns="0" tIns="0" rIns="0" bIns="0" rtlCol="0" anchor="t"/>
          <a:lstStyle/>
          <a:p>
            <a:pPr marL="0" indent="0">
              <a:buNone/>
            </a:pPr>
            <a:r>
              <a:rPr lang="en-US" sz="1400" dirty="0">
                <a:solidFill>
                  <a:schemeClr val="tx1"/>
                </a:solidFill>
              </a:rPr>
              <a:t>Session regenerated at login, HttpOnly cookies, role checks on the server.</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Rubric coverage</a:t>
            </a:r>
            <a:endParaRPr lang="en-US" sz="3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680960" cy="3886200"/>
        </p:xfrm>
        <a:graphic>
          <a:graphicData uri="http://schemas.openxmlformats.org/drawingml/2006/table">
            <a:tbl>
              <a:tblPr/>
              <a:tblGrid>
                <a:gridCol w="31089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777240">
                <a:tc>
                  <a:txBody>
                    <a:bodyPr/>
                    <a:lstStyle/>
                    <a:p>
                      <a:pPr marL="0" indent="0">
                        <a:buNone/>
                      </a:pPr>
                      <a:r>
                        <a:rPr lang="en-US" sz="1400" b="1" dirty="0">
                          <a:solidFill>
                            <a:srgbClr val="FFFFFF"/>
                          </a:solidFill>
                        </a:rPr>
                        <a:t>Criterion</a:t>
                      </a:r>
                      <a:endParaRPr lang="en-US" sz="1400" dirty="0"/>
                    </a:p>
                  </a:txBody>
                  <a:tcPr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4213D"/>
                    </a:solidFill>
                  </a:tcPr>
                </a:tc>
                <a:tc>
                  <a:txBody>
                    <a:bodyPr/>
                    <a:lstStyle/>
                    <a:p>
                      <a:pPr marL="0" indent="0">
                        <a:buNone/>
                      </a:pPr>
                      <a:r>
                        <a:rPr lang="en-US" sz="1400" b="1" dirty="0">
                          <a:solidFill>
                            <a:srgbClr val="FFFFFF"/>
                          </a:solidFill>
                        </a:rPr>
                        <a:t>Marks</a:t>
                      </a:r>
                      <a:endParaRPr lang="en-US" sz="1400" dirty="0"/>
                    </a:p>
                  </a:txBody>
                  <a:tcPr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4213D"/>
                    </a:solidFill>
                  </a:tcPr>
                </a:tc>
                <a:tc>
                  <a:txBody>
                    <a:bodyPr/>
                    <a:lstStyle/>
                    <a:p>
                      <a:pPr marL="0" indent="0">
                        <a:buNone/>
                      </a:pPr>
                      <a:r>
                        <a:rPr lang="en-US" sz="1400" b="1" dirty="0">
                          <a:solidFill>
                            <a:srgbClr val="FFFFFF"/>
                          </a:solidFill>
                        </a:rPr>
                        <a:t>Evidence in FitPro</a:t>
                      </a:r>
                      <a:endParaRPr lang="en-US" sz="1400" dirty="0"/>
                    </a:p>
                  </a:txBody>
                  <a:tcPr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777240">
                <a:tc>
                  <a:txBody>
                    <a:bodyPr/>
                    <a:lstStyle/>
                    <a:p>
                      <a:pPr marL="0" indent="0">
                        <a:buNone/>
                      </a:pPr>
                      <a:r>
                        <a:rPr lang="en-US" sz="1400" dirty="0">
                          <a:solidFill>
                            <a:srgbClr val="14213D"/>
                          </a:solidFill>
                        </a:rPr>
                        <a:t>Problem understanding and solution design</a:t>
                      </a:r>
                      <a:endParaRPr lang="en-US" sz="1400" dirty="0"/>
                    </a:p>
                  </a:txBody>
                  <a:tcPr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400" dirty="0">
                          <a:solidFill>
                            <a:srgbClr val="14213D"/>
                          </a:solidFill>
                        </a:rPr>
                        <a:t>8</a:t>
                      </a:r>
                      <a:endParaRPr lang="en-US" sz="1400" dirty="0"/>
                    </a:p>
                  </a:txBody>
                  <a:tcPr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400" dirty="0">
                          <a:solidFill>
                            <a:srgbClr val="14213D"/>
                          </a:solidFill>
                        </a:rPr>
                        <a:t>Role-based platform, layered MVC design</a:t>
                      </a:r>
                      <a:endParaRPr lang="en-US" sz="1400" dirty="0"/>
                    </a:p>
                  </a:txBody>
                  <a:tcPr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1"/>
                  </a:ext>
                </a:extLst>
              </a:tr>
              <a:tr h="777240">
                <a:tc>
                  <a:txBody>
                    <a:bodyPr/>
                    <a:lstStyle/>
                    <a:p>
                      <a:pPr marL="0" indent="0">
                        <a:buNone/>
                      </a:pPr>
                      <a:r>
                        <a:rPr lang="en-US" sz="1400" dirty="0">
                          <a:solidFill>
                            <a:srgbClr val="14213D"/>
                          </a:solidFill>
                        </a:rPr>
                        <a:t>Core Java concepts</a:t>
                      </a:r>
                      <a:endParaRPr lang="en-US" sz="1400" dirty="0"/>
                    </a:p>
                  </a:txBody>
                  <a:tcPr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400" dirty="0">
                          <a:solidFill>
                            <a:srgbClr val="14213D"/>
                          </a:solidFill>
                        </a:rPr>
                        <a:t>10</a:t>
                      </a:r>
                      <a:endParaRPr lang="en-US" sz="1400" dirty="0"/>
                    </a:p>
                  </a:txBody>
                  <a:tcPr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400" dirty="0">
                          <a:solidFill>
                            <a:srgbClr val="14213D"/>
                          </a:solidFill>
                        </a:rPr>
                        <a:t>OOP, collections, generics, exceptions, threads</a:t>
                      </a:r>
                      <a:endParaRPr lang="en-US" sz="1400" dirty="0"/>
                    </a:p>
                  </a:txBody>
                  <a:tcPr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2"/>
                  </a:ext>
                </a:extLst>
              </a:tr>
              <a:tr h="777240">
                <a:tc>
                  <a:txBody>
                    <a:bodyPr/>
                    <a:lstStyle/>
                    <a:p>
                      <a:pPr marL="0" indent="0">
                        <a:buNone/>
                      </a:pPr>
                      <a:r>
                        <a:rPr lang="en-US" sz="1400" dirty="0">
                          <a:solidFill>
                            <a:srgbClr val="14213D"/>
                          </a:solidFill>
                        </a:rPr>
                        <a:t>Database integration (JDBC)</a:t>
                      </a:r>
                      <a:endParaRPr lang="en-US" sz="1400" dirty="0"/>
                    </a:p>
                  </a:txBody>
                  <a:tcPr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400" dirty="0">
                          <a:solidFill>
                            <a:srgbClr val="14213D"/>
                          </a:solidFill>
                        </a:rPr>
                        <a:t>8</a:t>
                      </a:r>
                      <a:endParaRPr lang="en-US" sz="1400" dirty="0"/>
                    </a:p>
                  </a:txBody>
                  <a:tcPr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400" dirty="0">
                          <a:solidFill>
                            <a:srgbClr val="14213D"/>
                          </a:solidFill>
                        </a:rPr>
                        <a:t>DBConnection, 4 DAOs, PreparedStatement</a:t>
                      </a:r>
                      <a:endParaRPr lang="en-US" sz="1400" dirty="0"/>
                    </a:p>
                  </a:txBody>
                  <a:tcPr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3"/>
                  </a:ext>
                </a:extLst>
              </a:tr>
              <a:tr h="777240">
                <a:tc>
                  <a:txBody>
                    <a:bodyPr/>
                    <a:lstStyle/>
                    <a:p>
                      <a:pPr marL="0" indent="0">
                        <a:buNone/>
                      </a:pPr>
                      <a:r>
                        <a:rPr lang="en-US" sz="1400" dirty="0">
                          <a:solidFill>
                            <a:srgbClr val="14213D"/>
                          </a:solidFill>
                        </a:rPr>
                        <a:t>Servlets and web integration</a:t>
                      </a:r>
                      <a:endParaRPr lang="en-US" sz="1400" dirty="0"/>
                    </a:p>
                  </a:txBody>
                  <a:tcPr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400" dirty="0">
                          <a:solidFill>
                            <a:srgbClr val="14213D"/>
                          </a:solidFill>
                        </a:rPr>
                        <a:t>7</a:t>
                      </a:r>
                      <a:endParaRPr lang="en-US" sz="1400" dirty="0"/>
                    </a:p>
                  </a:txBody>
                  <a:tcPr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400" dirty="0">
                          <a:solidFill>
                            <a:srgbClr val="14213D"/>
                          </a:solidFill>
                        </a:rPr>
                        <a:t>6 servlets, filter, listener, JSP and JSTL</a:t>
                      </a:r>
                      <a:endParaRPr lang="en-US" sz="1400" dirty="0"/>
                    </a:p>
                  </a:txBody>
                  <a:tcPr marT="0" marB="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marks-card"/>
          <p:cNvSpPr/>
          <p:nvPr/>
        </p:nvSpPr>
        <p:spPr>
          <a:xfrm>
            <a:off x="8595360" y="1463040"/>
            <a:ext cx="3108960" cy="2468880"/>
          </a:xfrm>
          <a:prstGeom prst="roundRect">
            <a:avLst>
              <a:gd name="adj" fmla="val 4444"/>
            </a:avLst>
          </a:prstGeom>
          <a:solidFill>
            <a:schemeClr val="tx1"/>
          </a:solidFill>
          <a:ln/>
        </p:spPr>
      </p:sp>
      <p:sp>
        <p:nvSpPr>
          <p:cNvPr id="6" name="Text 2"/>
          <p:cNvSpPr txBox="1"/>
          <p:nvPr/>
        </p:nvSpPr>
        <p:spPr>
          <a:xfrm>
            <a:off x="8595360" y="1645920"/>
            <a:ext cx="3108960" cy="1188720"/>
          </a:xfrm>
          <a:prstGeom prst="rect">
            <a:avLst/>
          </a:prstGeom>
          <a:noFill/>
          <a:ln/>
        </p:spPr>
        <p:txBody>
          <a:bodyPr wrap="square" lIns="0" tIns="0" rIns="0" bIns="0" rtlCol="0" anchor="t"/>
          <a:lstStyle/>
          <a:p>
            <a:pPr marL="0" indent="0" algn="ctr">
              <a:buNone/>
            </a:pPr>
            <a:r>
              <a:rPr lang="en-US" sz="8000" b="1" dirty="0">
                <a:solidFill>
                  <a:schemeClr val="accent1"/>
                </a:solidFill>
              </a:rPr>
              <a:t>33</a:t>
            </a:r>
            <a:endParaRPr lang="en-US" sz="8000" dirty="0"/>
          </a:p>
        </p:txBody>
      </p:sp>
      <p:sp>
        <p:nvSpPr>
          <p:cNvPr id="7" name="Text 3"/>
          <p:cNvSpPr txBox="1"/>
          <p:nvPr/>
        </p:nvSpPr>
        <p:spPr>
          <a:xfrm>
            <a:off x="8595360" y="3017520"/>
            <a:ext cx="3108960" cy="457200"/>
          </a:xfrm>
          <a:prstGeom prst="rect">
            <a:avLst/>
          </a:prstGeom>
          <a:noFill/>
          <a:ln/>
        </p:spPr>
        <p:txBody>
          <a:bodyPr wrap="square" lIns="0" tIns="0" rIns="0" bIns="0" rtlCol="0" anchor="t"/>
          <a:lstStyle/>
          <a:p>
            <a:pPr marL="0" indent="0" algn="ctr">
              <a:buNone/>
            </a:pPr>
            <a:r>
              <a:rPr lang="en-US" sz="1800" dirty="0">
                <a:solidFill>
                  <a:schemeClr val="bg1"/>
                </a:solidFill>
              </a:rPr>
              <a:t>marks addressed</a:t>
            </a:r>
            <a:endParaRPr lang="en-US" sz="1800" dirty="0"/>
          </a:p>
        </p:txBody>
      </p:sp>
      <p:sp>
        <p:nvSpPr>
          <p:cNvPr id="8" name="bonus-card"/>
          <p:cNvSpPr/>
          <p:nvPr/>
        </p:nvSpPr>
        <p:spPr>
          <a:xfrm>
            <a:off x="8595360" y="4160520"/>
            <a:ext cx="3108960" cy="1874520"/>
          </a:xfrm>
          <a:prstGeom prst="roundRect">
            <a:avLst>
              <a:gd name="adj" fmla="val 5854"/>
            </a:avLst>
          </a:prstGeom>
          <a:solidFill>
            <a:schemeClr val="bg2"/>
          </a:solidFill>
          <a:ln/>
        </p:spPr>
      </p:sp>
      <p:sp>
        <p:nvSpPr>
          <p:cNvPr id="9" name="Text 5"/>
          <p:cNvSpPr txBox="1"/>
          <p:nvPr/>
        </p:nvSpPr>
        <p:spPr>
          <a:xfrm>
            <a:off x="8823960" y="4297680"/>
            <a:ext cx="2651760" cy="1645920"/>
          </a:xfrm>
          <a:prstGeom prst="rect">
            <a:avLst/>
          </a:prstGeom>
          <a:noFill/>
          <a:ln/>
        </p:spPr>
        <p:txBody>
          <a:bodyPr wrap="square" lIns="0" tIns="0" rIns="0" bIns="0" rtlCol="0" anchor="ctr"/>
          <a:lstStyle/>
          <a:p>
            <a:pPr marL="0" indent="0">
              <a:buNone/>
            </a:pPr>
            <a:r>
              <a:rPr lang="en-US" sz="1400" dirty="0">
                <a:solidFill>
                  <a:schemeClr val="tx1"/>
                </a:solidFill>
              </a:rPr>
              <a:t>Bonus: topics from the GUI rubric are also covered (collections, threads, DB classes).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bg1"/>
                </a:solidFill>
              </a:rPr>
              <a:t>Live demo flow and future scope</a:t>
            </a:r>
            <a:endParaRPr lang="en-US" sz="3400" dirty="0"/>
          </a:p>
        </p:txBody>
      </p:sp>
      <p:sp>
        <p:nvSpPr>
          <p:cNvPr id="4" name="step-circle"/>
          <p:cNvSpPr/>
          <p:nvPr/>
        </p:nvSpPr>
        <p:spPr>
          <a:xfrm>
            <a:off x="640080" y="1554480"/>
            <a:ext cx="731520" cy="731520"/>
          </a:xfrm>
          <a:prstGeom prst="ellipse">
            <a:avLst/>
          </a:prstGeom>
          <a:solidFill>
            <a:schemeClr val="accent1"/>
          </a:solidFill>
          <a:ln/>
        </p:spPr>
      </p:sp>
      <p:sp>
        <p:nvSpPr>
          <p:cNvPr id="5" name="Text 2"/>
          <p:cNvSpPr txBox="1"/>
          <p:nvPr/>
        </p:nvSpPr>
        <p:spPr>
          <a:xfrm>
            <a:off x="640080" y="1554480"/>
            <a:ext cx="731520" cy="731520"/>
          </a:xfrm>
          <a:prstGeom prst="rect">
            <a:avLst/>
          </a:prstGeom>
          <a:noFill/>
          <a:ln/>
        </p:spPr>
        <p:txBody>
          <a:bodyPr wrap="square" lIns="0" tIns="0" rIns="0" bIns="0" rtlCol="0" anchor="ctr"/>
          <a:lstStyle/>
          <a:p>
            <a:pPr marL="0" indent="0" algn="ctr">
              <a:buNone/>
            </a:pPr>
            <a:r>
              <a:rPr lang="en-US" sz="2400" b="1" dirty="0">
                <a:solidFill>
                  <a:schemeClr val="bg1"/>
                </a:solidFill>
              </a:rPr>
              <a:t>1</a:t>
            </a:r>
            <a:endParaRPr lang="en-US" sz="2400" dirty="0"/>
          </a:p>
        </p:txBody>
      </p:sp>
      <p:sp>
        <p:nvSpPr>
          <p:cNvPr id="6" name="Text 3"/>
          <p:cNvSpPr txBox="1"/>
          <p:nvPr/>
        </p:nvSpPr>
        <p:spPr>
          <a:xfrm>
            <a:off x="1645920" y="1554480"/>
            <a:ext cx="4572000" cy="731520"/>
          </a:xfrm>
          <a:prstGeom prst="rect">
            <a:avLst/>
          </a:prstGeom>
          <a:noFill/>
          <a:ln/>
        </p:spPr>
        <p:txBody>
          <a:bodyPr wrap="square" lIns="0" tIns="0" rIns="0" bIns="0" rtlCol="0" anchor="ctr"/>
          <a:lstStyle/>
          <a:p>
            <a:pPr marL="0" indent="0">
              <a:buNone/>
            </a:pPr>
            <a:r>
              <a:rPr lang="en-US" sz="1800" dirty="0">
                <a:solidFill>
                  <a:schemeClr val="bg1"/>
                </a:solidFill>
              </a:rPr>
              <a:t>Register a Trainer and publish a program</a:t>
            </a:r>
            <a:endParaRPr lang="en-US" sz="1800" dirty="0"/>
          </a:p>
        </p:txBody>
      </p:sp>
      <p:sp>
        <p:nvSpPr>
          <p:cNvPr id="7" name="step-circle"/>
          <p:cNvSpPr/>
          <p:nvPr/>
        </p:nvSpPr>
        <p:spPr>
          <a:xfrm>
            <a:off x="640080" y="2651760"/>
            <a:ext cx="731520" cy="731520"/>
          </a:xfrm>
          <a:prstGeom prst="ellipse">
            <a:avLst/>
          </a:prstGeom>
          <a:solidFill>
            <a:schemeClr val="accent1"/>
          </a:solidFill>
          <a:ln/>
        </p:spPr>
      </p:sp>
      <p:sp>
        <p:nvSpPr>
          <p:cNvPr id="8" name="Text 5"/>
          <p:cNvSpPr txBox="1"/>
          <p:nvPr/>
        </p:nvSpPr>
        <p:spPr>
          <a:xfrm>
            <a:off x="640080" y="2651760"/>
            <a:ext cx="731520" cy="731520"/>
          </a:xfrm>
          <a:prstGeom prst="rect">
            <a:avLst/>
          </a:prstGeom>
          <a:noFill/>
          <a:ln/>
        </p:spPr>
        <p:txBody>
          <a:bodyPr wrap="square" lIns="0" tIns="0" rIns="0" bIns="0" rtlCol="0" anchor="ctr"/>
          <a:lstStyle/>
          <a:p>
            <a:pPr marL="0" indent="0" algn="ctr">
              <a:buNone/>
            </a:pPr>
            <a:r>
              <a:rPr lang="en-US" sz="2400" b="1" dirty="0">
                <a:solidFill>
                  <a:schemeClr val="bg1"/>
                </a:solidFill>
              </a:rPr>
              <a:t>2</a:t>
            </a:r>
            <a:endParaRPr lang="en-US" sz="2400" dirty="0"/>
          </a:p>
        </p:txBody>
      </p:sp>
      <p:sp>
        <p:nvSpPr>
          <p:cNvPr id="9" name="Text 6"/>
          <p:cNvSpPr txBox="1"/>
          <p:nvPr/>
        </p:nvSpPr>
        <p:spPr>
          <a:xfrm>
            <a:off x="1645920" y="2651760"/>
            <a:ext cx="4572000" cy="731520"/>
          </a:xfrm>
          <a:prstGeom prst="rect">
            <a:avLst/>
          </a:prstGeom>
          <a:noFill/>
          <a:ln/>
        </p:spPr>
        <p:txBody>
          <a:bodyPr wrap="square" lIns="0" tIns="0" rIns="0" bIns="0" rtlCol="0" anchor="ctr"/>
          <a:lstStyle/>
          <a:p>
            <a:pPr marL="0" indent="0">
              <a:buNone/>
            </a:pPr>
            <a:r>
              <a:rPr lang="en-US" sz="1800" dirty="0">
                <a:solidFill>
                  <a:schemeClr val="bg1"/>
                </a:solidFill>
              </a:rPr>
              <a:t>Register a Member and browse workouts</a:t>
            </a:r>
            <a:endParaRPr lang="en-US" sz="1800" dirty="0"/>
          </a:p>
        </p:txBody>
      </p:sp>
      <p:sp>
        <p:nvSpPr>
          <p:cNvPr id="10" name="step-circle"/>
          <p:cNvSpPr/>
          <p:nvPr/>
        </p:nvSpPr>
        <p:spPr>
          <a:xfrm>
            <a:off x="640080" y="3749040"/>
            <a:ext cx="731520" cy="731520"/>
          </a:xfrm>
          <a:prstGeom prst="ellipse">
            <a:avLst/>
          </a:prstGeom>
          <a:solidFill>
            <a:schemeClr val="accent1"/>
          </a:solidFill>
          <a:ln/>
        </p:spPr>
      </p:sp>
      <p:sp>
        <p:nvSpPr>
          <p:cNvPr id="11" name="Text 8"/>
          <p:cNvSpPr txBox="1"/>
          <p:nvPr/>
        </p:nvSpPr>
        <p:spPr>
          <a:xfrm>
            <a:off x="640080" y="3749040"/>
            <a:ext cx="731520" cy="731520"/>
          </a:xfrm>
          <a:prstGeom prst="rect">
            <a:avLst/>
          </a:prstGeom>
          <a:noFill/>
          <a:ln/>
        </p:spPr>
        <p:txBody>
          <a:bodyPr wrap="square" lIns="0" tIns="0" rIns="0" bIns="0" rtlCol="0" anchor="ctr"/>
          <a:lstStyle/>
          <a:p>
            <a:pPr marL="0" indent="0" algn="ctr">
              <a:buNone/>
            </a:pPr>
            <a:r>
              <a:rPr lang="en-US" sz="2400" b="1" dirty="0">
                <a:solidFill>
                  <a:schemeClr val="bg1"/>
                </a:solidFill>
              </a:rPr>
              <a:t>3</a:t>
            </a:r>
            <a:endParaRPr lang="en-US" sz="2400" dirty="0"/>
          </a:p>
        </p:txBody>
      </p:sp>
      <p:sp>
        <p:nvSpPr>
          <p:cNvPr id="12" name="Text 9"/>
          <p:cNvSpPr txBox="1"/>
          <p:nvPr/>
        </p:nvSpPr>
        <p:spPr>
          <a:xfrm>
            <a:off x="1645920" y="3749040"/>
            <a:ext cx="4572000" cy="731520"/>
          </a:xfrm>
          <a:prstGeom prst="rect">
            <a:avLst/>
          </a:prstGeom>
          <a:noFill/>
          <a:ln/>
        </p:spPr>
        <p:txBody>
          <a:bodyPr wrap="square" lIns="0" tIns="0" rIns="0" bIns="0" rtlCol="0" anchor="ctr"/>
          <a:lstStyle/>
          <a:p>
            <a:pPr marL="0" indent="0">
              <a:buNone/>
            </a:pPr>
            <a:r>
              <a:rPr lang="en-US" sz="1800" dirty="0">
                <a:solidFill>
                  <a:schemeClr val="bg1"/>
                </a:solidFill>
              </a:rPr>
              <a:t>Enrol in a program from the catalogue</a:t>
            </a:r>
            <a:endParaRPr lang="en-US" sz="1800" dirty="0"/>
          </a:p>
        </p:txBody>
      </p:sp>
      <p:sp>
        <p:nvSpPr>
          <p:cNvPr id="13" name="step-circle"/>
          <p:cNvSpPr/>
          <p:nvPr/>
        </p:nvSpPr>
        <p:spPr>
          <a:xfrm>
            <a:off x="640080" y="4846320"/>
            <a:ext cx="731520" cy="731520"/>
          </a:xfrm>
          <a:prstGeom prst="ellipse">
            <a:avLst/>
          </a:prstGeom>
          <a:solidFill>
            <a:schemeClr val="accent1"/>
          </a:solidFill>
          <a:ln/>
        </p:spPr>
      </p:sp>
      <p:sp>
        <p:nvSpPr>
          <p:cNvPr id="14" name="Text 11"/>
          <p:cNvSpPr txBox="1"/>
          <p:nvPr/>
        </p:nvSpPr>
        <p:spPr>
          <a:xfrm>
            <a:off x="640080" y="4846320"/>
            <a:ext cx="731520" cy="731520"/>
          </a:xfrm>
          <a:prstGeom prst="rect">
            <a:avLst/>
          </a:prstGeom>
          <a:noFill/>
          <a:ln/>
        </p:spPr>
        <p:txBody>
          <a:bodyPr wrap="square" lIns="0" tIns="0" rIns="0" bIns="0" rtlCol="0" anchor="ctr"/>
          <a:lstStyle/>
          <a:p>
            <a:pPr marL="0" indent="0" algn="ctr">
              <a:buNone/>
            </a:pPr>
            <a:r>
              <a:rPr lang="en-US" sz="2400" b="1" dirty="0">
                <a:solidFill>
                  <a:schemeClr val="bg1"/>
                </a:solidFill>
              </a:rPr>
              <a:t>4</a:t>
            </a:r>
            <a:endParaRPr lang="en-US" sz="2400" dirty="0"/>
          </a:p>
        </p:txBody>
      </p:sp>
      <p:sp>
        <p:nvSpPr>
          <p:cNvPr id="15" name="Text 12"/>
          <p:cNvSpPr txBox="1"/>
          <p:nvPr/>
        </p:nvSpPr>
        <p:spPr>
          <a:xfrm>
            <a:off x="1645920" y="4846320"/>
            <a:ext cx="4572000" cy="731520"/>
          </a:xfrm>
          <a:prstGeom prst="rect">
            <a:avLst/>
          </a:prstGeom>
          <a:noFill/>
          <a:ln/>
        </p:spPr>
        <p:txBody>
          <a:bodyPr wrap="square" lIns="0" tIns="0" rIns="0" bIns="0" rtlCol="0" anchor="ctr"/>
          <a:lstStyle/>
          <a:p>
            <a:pPr marL="0" indent="0">
              <a:buNone/>
            </a:pPr>
            <a:r>
              <a:rPr lang="en-US" sz="1800" dirty="0">
                <a:solidFill>
                  <a:schemeClr val="bg1"/>
                </a:solidFill>
              </a:rPr>
              <a:t>Log a session and open the dashboard</a:t>
            </a:r>
            <a:endParaRPr lang="en-US" sz="1800" dirty="0"/>
          </a:p>
        </p:txBody>
      </p:sp>
      <p:sp>
        <p:nvSpPr>
          <p:cNvPr id="16" name="future-card"/>
          <p:cNvSpPr/>
          <p:nvPr/>
        </p:nvSpPr>
        <p:spPr>
          <a:xfrm>
            <a:off x="6675120" y="1463040"/>
            <a:ext cx="5029200" cy="4572000"/>
          </a:xfrm>
          <a:prstGeom prst="roundRect">
            <a:avLst>
              <a:gd name="adj" fmla="val 2400"/>
            </a:avLst>
          </a:prstGeom>
          <a:solidFill>
            <a:schemeClr val="tx2"/>
          </a:solidFill>
          <a:ln/>
        </p:spPr>
      </p:sp>
      <p:sp>
        <p:nvSpPr>
          <p:cNvPr id="17" name="Text 14"/>
          <p:cNvSpPr txBox="1"/>
          <p:nvPr/>
        </p:nvSpPr>
        <p:spPr>
          <a:xfrm>
            <a:off x="7040880" y="1737360"/>
            <a:ext cx="4297680" cy="457200"/>
          </a:xfrm>
          <a:prstGeom prst="rect">
            <a:avLst/>
          </a:prstGeom>
          <a:noFill/>
          <a:ln/>
        </p:spPr>
        <p:txBody>
          <a:bodyPr wrap="square" lIns="0" tIns="0" rIns="0" bIns="0" rtlCol="0" anchor="t"/>
          <a:lstStyle/>
          <a:p>
            <a:pPr marL="0" indent="0">
              <a:buNone/>
            </a:pPr>
            <a:r>
              <a:rPr lang="en-US" sz="2400" b="1" dirty="0">
                <a:solidFill>
                  <a:schemeClr val="bg1"/>
                </a:solidFill>
              </a:rPr>
              <a:t>Future scope</a:t>
            </a:r>
            <a:endParaRPr lang="en-US" sz="2400" dirty="0"/>
          </a:p>
        </p:txBody>
      </p:sp>
      <p:sp>
        <p:nvSpPr>
          <p:cNvPr id="18" name="Text 15"/>
          <p:cNvSpPr txBox="1"/>
          <p:nvPr/>
        </p:nvSpPr>
        <p:spPr>
          <a:xfrm>
            <a:off x="7040880" y="2468880"/>
            <a:ext cx="4297680" cy="32918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1"/>
                </a:solidFill>
              </a:rPr>
              <a:t>CSRF tokens on all forms</a:t>
            </a:r>
            <a:endParaRPr lang="en-US" sz="1600" dirty="0"/>
          </a:p>
          <a:p>
            <a:pPr marL="342900" indent="-342900">
              <a:spcAft>
                <a:spcPts val="800"/>
              </a:spcAft>
              <a:buSzPct val="100000"/>
              <a:buChar char="•"/>
            </a:pPr>
            <a:r>
              <a:rPr lang="en-US" sz="1600" dirty="0">
                <a:solidFill>
                  <a:schemeClr val="bg1"/>
                </a:solidFill>
              </a:rPr>
              <a:t>Admin approval for trainer accounts</a:t>
            </a:r>
            <a:endParaRPr lang="en-US" sz="1600" dirty="0"/>
          </a:p>
          <a:p>
            <a:pPr marL="342900" indent="-342900">
              <a:spcAft>
                <a:spcPts val="800"/>
              </a:spcAft>
              <a:buSzPct val="100000"/>
              <a:buChar char="•"/>
            </a:pPr>
            <a:r>
              <a:rPr lang="en-US" sz="1600" dirty="0">
                <a:solidFill>
                  <a:schemeClr val="bg1"/>
                </a:solidFill>
              </a:rPr>
              <a:t>Video lessons and weekly goals</a:t>
            </a:r>
            <a:endParaRPr lang="en-US" sz="1600" dirty="0"/>
          </a:p>
          <a:p>
            <a:pPr marL="342900" indent="-342900">
              <a:spcAft>
                <a:spcPts val="800"/>
              </a:spcAft>
              <a:buSzPct val="100000"/>
              <a:buChar char="•"/>
            </a:pPr>
            <a:r>
              <a:rPr lang="en-US" sz="1600" dirty="0">
                <a:solidFill>
                  <a:schemeClr val="bg1"/>
                </a:solidFill>
              </a:rPr>
              <a:t>Charts with Chart.js</a:t>
            </a:r>
            <a:endParaRPr lang="en-US" sz="1600" dirty="0"/>
          </a:p>
          <a:p>
            <a:pPr marL="342900" indent="-342900">
              <a:spcAft>
                <a:spcPts val="800"/>
              </a:spcAft>
              <a:buSzPct val="100000"/>
              <a:buChar char="•"/>
            </a:pPr>
            <a:r>
              <a:rPr lang="en-US" sz="1600" dirty="0">
                <a:solidFill>
                  <a:schemeClr val="bg1"/>
                </a:solidFill>
              </a:rPr>
              <a:t>REST API / Spring Boot version</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CA3AF"/>
                </a:solidFil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6949440" cy="1371600"/>
          </a:xfrm>
          <a:prstGeom prst="rect">
            <a:avLst/>
          </a:prstGeom>
          <a:noFill/>
          <a:ln/>
        </p:spPr>
        <p:txBody>
          <a:bodyPr wrap="square" lIns="0" tIns="0" rIns="0" bIns="0" rtlCol="0" anchor="b"/>
          <a:lstStyle/>
          <a:p>
            <a:pPr marL="0" indent="0" algn="l">
              <a:buNone/>
            </a:pPr>
            <a:r>
              <a:rPr lang="en-US" sz="6000" b="1" dirty="0">
                <a:solidFill>
                  <a:schemeClr val="bg1"/>
                </a:solidFill>
              </a:rPr>
              <a:t>Thank you</a:t>
            </a:r>
            <a:endParaRPr lang="en-US" sz="6000" dirty="0"/>
          </a:p>
        </p:txBody>
      </p:sp>
      <p:sp>
        <p:nvSpPr>
          <p:cNvPr id="3" name="Text 1"/>
          <p:cNvSpPr txBox="1"/>
          <p:nvPr/>
        </p:nvSpPr>
        <p:spPr>
          <a:xfrm>
            <a:off x="731520" y="3566160"/>
            <a:ext cx="6949440" cy="548640"/>
          </a:xfrm>
          <a:prstGeom prst="rect">
            <a:avLst/>
          </a:prstGeom>
          <a:noFill/>
          <a:ln/>
        </p:spPr>
        <p:txBody>
          <a:bodyPr wrap="square" lIns="0" tIns="0" rIns="0" bIns="0" rtlCol="0" anchor="t"/>
          <a:lstStyle/>
          <a:p>
            <a:pPr marL="0" indent="0">
              <a:buNone/>
            </a:pPr>
            <a:endParaRPr lang="en-US" sz="2800" dirty="0"/>
          </a:p>
        </p:txBody>
      </p:sp>
      <p:sp>
        <p:nvSpPr>
          <p:cNvPr id="4" name="Text 2"/>
          <p:cNvSpPr txBox="1"/>
          <p:nvPr/>
        </p:nvSpPr>
        <p:spPr>
          <a:xfrm>
            <a:off x="731520" y="4297680"/>
            <a:ext cx="6949440" cy="365760"/>
          </a:xfrm>
          <a:prstGeom prst="rect">
            <a:avLst/>
          </a:prstGeom>
          <a:noFill/>
          <a:ln/>
        </p:spPr>
        <p:txBody>
          <a:bodyPr wrap="square" lIns="0" tIns="0" rIns="0" bIns="0" rtlCol="0" anchor="t"/>
          <a:lstStyle/>
          <a:p>
            <a:r>
              <a:rPr lang="en-US" dirty="0">
                <a:solidFill>
                  <a:srgbClr val="FF5A00"/>
                </a:solidFill>
              </a:rPr>
              <a:t>https://github.com/adiithakurr110/FitPro-Fitness-Platform</a:t>
            </a:r>
            <a:endParaRPr lang="en-US" sz="1800" dirty="0">
              <a:solidFill>
                <a:srgbClr val="FF5A00"/>
              </a:solidFill>
            </a:endParaRPr>
          </a:p>
        </p:txBody>
      </p:sp>
      <p:sp>
        <p:nvSpPr>
          <p:cNvPr id="5" name="hero-circle"/>
          <p:cNvSpPr/>
          <p:nvPr/>
        </p:nvSpPr>
        <p:spPr>
          <a:xfrm>
            <a:off x="8229600" y="1554480"/>
            <a:ext cx="3474720" cy="3474720"/>
          </a:xfrm>
          <a:prstGeom prst="ellipse">
            <a:avLst/>
          </a:prstGeom>
          <a:solidFill>
            <a:schemeClr val="accent1"/>
          </a:solidFill>
          <a:ln/>
        </p:spPr>
      </p:sp>
      <p:pic>
        <p:nvPicPr>
          <p:cNvPr id="6" name="hero-icon" descr="preencoded.png"/>
          <p:cNvPicPr>
            <a:picLocks noChangeAspect="1"/>
          </p:cNvPicPr>
          <p:nvPr/>
        </p:nvPicPr>
        <p:blipFill>
          <a:blip r:embed="rId3"/>
          <a:stretch>
            <a:fillRect/>
          </a:stretch>
        </p:blipFill>
        <p:spPr>
          <a:xfrm>
            <a:off x="8961120" y="2286000"/>
            <a:ext cx="2011680" cy="2011680"/>
          </a:xfrm>
          <a:prstGeom prst="rect">
            <a:avLst/>
          </a:prstGeom>
        </p:spPr>
      </p:pic>
    </p:spTree>
  </p:cSld>
  <p:clrMapOvr>
    <a:masterClrMapping/>
  </p:clrMapOvr>
</p:sld>
</file>

<file path=ppt/theme/theme1.xml><?xml version="1.0" encoding="utf-8"?>
<a:theme xmlns:a="http://schemas.openxmlformats.org/drawingml/2006/main" name="FitPro">
  <a:themeElements>
    <a:clrScheme name="FitPro">
      <a:dk1>
        <a:srgbClr val="14213D"/>
      </a:dk1>
      <a:lt1>
        <a:srgbClr val="FFFFFF"/>
      </a:lt1>
      <a:dk2>
        <a:srgbClr val="28407A"/>
      </a:dk2>
      <a:lt2>
        <a:srgbClr val="F4F6FB"/>
      </a:lt2>
      <a:accent1>
        <a:srgbClr val="FF5A1F"/>
      </a:accent1>
      <a:accent2>
        <a:srgbClr val="1E40AF"/>
      </a:accent2>
      <a:accent3>
        <a:srgbClr val="16A34A"/>
      </a:accent3>
      <a:accent4>
        <a:srgbClr val="F59E0B"/>
      </a:accent4>
      <a:accent5>
        <a:srgbClr val="6B7280"/>
      </a:accent5>
      <a:accent6>
        <a:srgbClr val="DC2626"/>
      </a:accent6>
      <a:hlink>
        <a:srgbClr val="1E40AF"/>
      </a:hlink>
      <a:folHlink>
        <a:srgbClr val="6B7280"/>
      </a:folHlink>
    </a:clrScheme>
    <a:fontScheme name="FitPr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2402</Words>
  <Application>Microsoft Office PowerPoint</Application>
  <PresentationFormat>Widescreen</PresentationFormat>
  <Paragraphs>361</Paragraphs>
  <Slides>19</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Arial Black</vt:lpstr>
      <vt:lpstr>Arial Rounded MT Bold</vt:lpstr>
      <vt:lpstr>Calibri</vt:lpstr>
      <vt:lpstr>Cambria</vt:lpstr>
      <vt:lpstr>Courier New</vt:lpstr>
      <vt:lpstr>FitPro</vt:lpstr>
      <vt:lpstr>FitPro</vt:lpstr>
      <vt:lpstr>What this presentation covers</vt:lpstr>
      <vt:lpstr>The problem and our solution</vt:lpstr>
      <vt:lpstr>Key features by role</vt:lpstr>
      <vt:lpstr>Screen 1: Login page</vt:lpstr>
      <vt:lpstr>Screen 2: Member dashboard</vt:lpstr>
      <vt:lpstr>Screen 3: Workout programs</vt:lpstr>
      <vt:lpstr>Technology stack</vt:lpstr>
      <vt:lpstr>Layered MVC architecture</vt:lpstr>
      <vt:lpstr>Project structure</vt:lpstr>
      <vt:lpstr>Database design</vt:lpstr>
      <vt:lpstr>OOP: inheritance, interfaces, polymorphism</vt:lpstr>
      <vt:lpstr>Collections, generics and exception handling</vt:lpstr>
      <vt:lpstr>Multithreading and synchronization</vt:lpstr>
      <vt:lpstr>JDBC and servlet integration</vt:lpstr>
      <vt:lpstr>Security measures</vt:lpstr>
      <vt:lpstr>Rubric coverage</vt:lpstr>
      <vt:lpstr>Live demo flow and future scope</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FitPro - Online Fitness Training Platform</dc:title>
  <dc:subject>PptxGenJS Presentation</dc:subject>
  <dc:creator>PptxGenJS</dc:creator>
  <cp:lastModifiedBy>Sunder Singh</cp:lastModifiedBy>
  <cp:revision>5</cp:revision>
  <dcterms:created xsi:type="dcterms:W3CDTF">2026-10-06T05:51:39Z</dcterms:created>
  <dcterms:modified xsi:type="dcterms:W3CDTF">2026-10-10T10:14:34Z</dcterms:modified>
</cp:coreProperties>
</file>