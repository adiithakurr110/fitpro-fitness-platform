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ca72e9c1-1d60-864c-74e1-adba353ca26f}">
          <p14:sldIdLst>
            <p14:sldId id="256"/>
            <p14:sldId id="257"/>
            <p14:sldId id="258"/>
          </p14:sldIdLst>
        </p14:section>
        <p14:section name="Design" id="{644e8959-92dd-cec8-d217-aaac8bc083a9}">
          <p14:sldIdLst>
            <p14:sldId id="259"/>
            <p14:sldId id="260"/>
            <p14:sldId id="261"/>
            <p14:sldId id="262"/>
          </p14:sldIdLst>
        </p14:section>
        <p14:section name="Implementation" id="{3f8b2162-a3b9-b60e-dfca-09704d54eda0}">
          <p14:sldIdLst>
            <p14:sldId id="263"/>
            <p14:sldId id="264"/>
            <p14:sldId id="265"/>
            <p14:sldId id="266"/>
            <p14:sldId id="267"/>
          </p14:sldIdLst>
        </p14:section>
        <p14:section name="Wrap-up" id="{5c24eb3a-7e08-423b-9c47-fcd194417377}">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FitPro is a full-stack Java web application where trainers publish workout programs and members enrol, log sessions and track calories. It is built with Servlets, JSP, JDBC and MySQL.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gap: people want structured training and progress tracking without expensive gym memberships, and independent trainers lack a simple place to publish programs. FitPro solves both with one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roles share one login system. Members train and track; trainers publish programs. Role checks are enforced on the server, not only hidden in the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layer uses a standard, industry-relevant technology. JSP with JSTL for the views, Java 11 servlets for control, MySQL accessed through plain JDBC, Maven for the build and Tomcat 9 as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request flows left to right: the browser calls a servlet (controller), which delegates to a service (business rules), which uses a DAO (JDBC) to talk to MySQL. JSP pages render the response. Keeping layers separate makes the code modular and easy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is organised by responsibility. Model holds entities, dao holds JDBC code, service holds logic, servlet holds controllers. This clean structure is what the README documents for anyone cloning the project from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tables. users stores both roles. workouts are optionally owned by a trainer. enrollments is a join table between members and workouts with a unique constraint. progress_logs stores each session with the calories calculated by the workout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is abstract with two subclasses that override getRole and getWelcomeMessage. Workout is abstract and implements the CalorieCalculable interface. Each workout type has its own formula, so the same method call gives different results. The numbers shown come from running the actual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BaseDAO is a generic interface reused by every DAO. Sets give constant-time enrolment checks, TreeMap with streams groups calories by workout. A single checked AppException wraps low-level SQL errors so the user only ever sees a friendly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Sending a welcome or enrolment notification is slow in real life, so it runs on a two-thread pool and the web request returns immediately. Several pool threads update one shared counter, so the increment is synchronized to avoid race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DBConnection loads the driver once and reads db.properties, with environment variables overriding it. All SQL uses PreparedStatement. On the web side, six servlets cover the whole application and AuthFilter protects every URL under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built in at several levels: salted PBKDF2 password hashing, prepared statements against SQL injection, escaped output against XSS, and session handling plus server-side role checks. CSRF tokens are listed as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the Java Web Based Projects rubric to what was built. The GUI rubric topics, collections and generics, multithreading and synchronization, and database classes, are covered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demo in this order: it shows both roles and every layer. Then mention the planned improvements: CSRF tokens, admin approval for trainers, video lessons, chat and a REST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thanking the audience and inviting questions. Share the GitHub link so they can clone and run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6949440" cy="137160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6B7280"/>
                </a:solidFill>
              </a:rPr>
              <a:t>FitPro  |  Online Fitness Training Platform</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9CA3AF"/>
                </a:solidFill>
              </a:rPr>
              <a:t>FitPro  |  Online Fitness Training Platform</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6949440" cy="1371600"/>
          </a:xfrm>
          <a:prstGeom prst="rect">
            <a:avLst/>
          </a:prstGeom>
          <a:noFill/>
          <a:ln/>
        </p:spPr>
        <p:txBody>
          <a:bodyPr wrap="square" lIns="0" tIns="0" rIns="0" bIns="0" rtlCol="0" anchor="b"/>
          <a:lstStyle/>
          <a:p>
            <a:pPr algn="l" indent="0" marL="0">
              <a:buNone/>
            </a:pPr>
            <a:r>
              <a:rPr lang="en-US" sz="6000" b="1" dirty="0">
                <a:solidFill>
                  <a:schemeClr val="bg1"/>
                </a:solidFill>
              </a:rPr>
              <a:t>FitPro</a:t>
            </a:r>
            <a:endParaRPr lang="en-US" sz="6000" dirty="0"/>
          </a:p>
        </p:txBody>
      </p:sp>
      <p:sp>
        <p:nvSpPr>
          <p:cNvPr id="3" name="Text 1"/>
          <p:cNvSpPr txBox="1"/>
          <p:nvPr/>
        </p:nvSpPr>
        <p:spPr>
          <a:xfrm>
            <a:off x="731520" y="3566160"/>
            <a:ext cx="6949440" cy="548640"/>
          </a:xfrm>
          <a:prstGeom prst="rect">
            <a:avLst/>
          </a:prstGeom>
          <a:noFill/>
          <a:ln/>
        </p:spPr>
        <p:txBody>
          <a:bodyPr wrap="square" lIns="0" tIns="0" rIns="0" bIns="0" rtlCol="0" anchor="t"/>
          <a:lstStyle/>
          <a:p>
            <a:pPr indent="0" marL="0">
              <a:buNone/>
            </a:pPr>
            <a:r>
              <a:rPr lang="en-US" sz="2600" b="1" dirty="0">
                <a:solidFill>
                  <a:schemeClr val="accent1"/>
                </a:solidFill>
              </a:rPr>
              <a:t>Online Fitness Training Platform</a:t>
            </a:r>
            <a:endParaRPr lang="en-US" sz="2600" dirty="0"/>
          </a:p>
        </p:txBody>
      </p:sp>
      <p:sp>
        <p:nvSpPr>
          <p:cNvPr id="4" name="Text 2"/>
          <p:cNvSpPr txBox="1"/>
          <p:nvPr/>
        </p:nvSpPr>
        <p:spPr>
          <a:xfrm>
            <a:off x="731520" y="4206240"/>
            <a:ext cx="6949440" cy="365760"/>
          </a:xfrm>
          <a:prstGeom prst="rect">
            <a:avLst/>
          </a:prstGeom>
          <a:noFill/>
          <a:ln/>
        </p:spPr>
        <p:txBody>
          <a:bodyPr wrap="square" lIns="0" tIns="0" rIns="0" bIns="0" rtlCol="0" anchor="t"/>
          <a:lstStyle/>
          <a:p>
            <a:pPr indent="0" marL="0">
              <a:buNone/>
            </a:pPr>
            <a:r>
              <a:rPr lang="en-US" sz="1800" dirty="0">
                <a:solidFill>
                  <a:schemeClr val="bg1"/>
                </a:solidFill>
              </a:rPr>
              <a:t>Java Servlets  |  JSP  |  JDBC  |  MySQL</a:t>
            </a:r>
            <a:endParaRPr lang="en-US" sz="1800" dirty="0"/>
          </a:p>
        </p:txBody>
      </p:sp>
      <p:sp>
        <p:nvSpPr>
          <p:cNvPr id="5" name="Text 3"/>
          <p:cNvSpPr txBox="1"/>
          <p:nvPr/>
        </p:nvSpPr>
        <p:spPr>
          <a:xfrm>
            <a:off x="731520" y="5760720"/>
            <a:ext cx="6949440" cy="365760"/>
          </a:xfrm>
          <a:prstGeom prst="rect">
            <a:avLst/>
          </a:prstGeom>
          <a:noFill/>
          <a:ln/>
        </p:spPr>
        <p:txBody>
          <a:bodyPr wrap="square" lIns="0" tIns="0" rIns="0" bIns="0" rtlCol="0" anchor="t"/>
          <a:lstStyle/>
          <a:p>
            <a:pPr indent="0" marL="0">
              <a:buNone/>
            </a:pPr>
            <a:r>
              <a:rPr lang="en-US" sz="1400" dirty="0">
                <a:solidFill>
                  <a:schemeClr val="bg2"/>
                </a:solidFill>
              </a:rPr>
              <a:t>Your Name  |  Roll No.  |  Course / Institute</a:t>
            </a:r>
            <a:endParaRPr lang="en-US" sz="1400" dirty="0"/>
          </a:p>
        </p:txBody>
      </p:sp>
      <p:sp>
        <p:nvSpPr>
          <p:cNvPr id="6" name="hero-circle"/>
          <p:cNvSpPr/>
          <p:nvPr/>
        </p:nvSpPr>
        <p:spPr>
          <a:xfrm>
            <a:off x="8229600" y="1554480"/>
            <a:ext cx="3474720" cy="3474720"/>
          </a:xfrm>
          <a:prstGeom prst="ellipse">
            <a:avLst/>
          </a:prstGeom>
          <a:solidFill>
            <a:schemeClr val="accent1"/>
          </a:solidFill>
          <a:ln/>
        </p:spPr>
      </p:sp>
      <p:pic>
        <p:nvPicPr>
          <p:cNvPr id="7" name="hero-icon" descr="preencoded.png">    </p:cNvPr>
          <p:cNvPicPr>
            <a:picLocks noChangeAspect="1"/>
          </p:cNvPicPr>
          <p:nvPr/>
        </p:nvPicPr>
        <p:blipFill>
          <a:blip r:embed="rId1"/>
          <a:stretch>
            <a:fillRect/>
          </a:stretch>
        </p:blipFill>
        <p:spPr>
          <a:xfrm>
            <a:off x="8961120" y="2286000"/>
            <a:ext cx="2011680" cy="20116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The problem and our solution</a:t>
            </a:r>
            <a:endParaRPr lang="en-US" sz="3400" dirty="0"/>
          </a:p>
        </p:txBody>
      </p:sp>
      <p:sp>
        <p:nvSpPr>
          <p:cNvPr id="4" name="problem-card"/>
          <p:cNvSpPr/>
          <p:nvPr/>
        </p:nvSpPr>
        <p:spPr>
          <a:xfrm>
            <a:off x="548640" y="1463040"/>
            <a:ext cx="5394960" cy="4572000"/>
          </a:xfrm>
          <a:prstGeom prst="roundRect">
            <a:avLst>
              <a:gd name="adj" fmla="val 2400"/>
            </a:avLst>
          </a:prstGeom>
          <a:solidFill>
            <a:schemeClr val="bg2"/>
          </a:solidFill>
          <a:ln/>
        </p:spPr>
      </p:sp>
      <p:sp>
        <p:nvSpPr>
          <p:cNvPr id="5" name="icon-circle"/>
          <p:cNvSpPr/>
          <p:nvPr/>
        </p:nvSpPr>
        <p:spPr>
          <a:xfrm>
            <a:off x="868680" y="1783080"/>
            <a:ext cx="685800" cy="685800"/>
          </a:xfrm>
          <a:prstGeom prst="ellipse">
            <a:avLst/>
          </a:prstGeom>
          <a:solidFill>
            <a:schemeClr val="accent6"/>
          </a:solidFill>
          <a:ln/>
        </p:spPr>
      </p:sp>
      <p:pic>
        <p:nvPicPr>
          <p:cNvPr id="6" name="icon" descr="preencoded.png">    </p:cNvPr>
          <p:cNvPicPr>
            <a:picLocks noChangeAspect="1"/>
          </p:cNvPicPr>
          <p:nvPr/>
        </p:nvPicPr>
        <p:blipFill>
          <a:blip r:embed="rId1"/>
          <a:stretch>
            <a:fillRect/>
          </a:stretch>
        </p:blipFill>
        <p:spPr>
          <a:xfrm>
            <a:off x="1019556" y="1933956"/>
            <a:ext cx="384048" cy="384048"/>
          </a:xfrm>
          <a:prstGeom prst="rect">
            <a:avLst/>
          </a:prstGeom>
        </p:spPr>
      </p:pic>
      <p:sp>
        <p:nvSpPr>
          <p:cNvPr id="7" name="Text 3"/>
          <p:cNvSpPr txBox="1"/>
          <p:nvPr/>
        </p:nvSpPr>
        <p:spPr>
          <a:xfrm>
            <a:off x="1783080" y="1920240"/>
            <a:ext cx="3657600" cy="457200"/>
          </a:xfrm>
          <a:prstGeom prst="rect">
            <a:avLst/>
          </a:prstGeom>
          <a:noFill/>
          <a:ln/>
        </p:spPr>
        <p:txBody>
          <a:bodyPr wrap="square" lIns="0" tIns="0" rIns="0" bIns="0" rtlCol="0" anchor="t"/>
          <a:lstStyle/>
          <a:p>
            <a:pPr indent="0" marL="0">
              <a:buNone/>
            </a:pPr>
            <a:r>
              <a:rPr lang="en-US" sz="2400" b="1" dirty="0">
                <a:solidFill>
                  <a:schemeClr val="tx1"/>
                </a:solidFill>
              </a:rPr>
              <a:t>The problem</a:t>
            </a:r>
            <a:endParaRPr lang="en-US" sz="2400" dirty="0"/>
          </a:p>
        </p:txBody>
      </p:sp>
      <p:sp>
        <p:nvSpPr>
          <p:cNvPr id="8" name="Text 4"/>
          <p:cNvSpPr txBox="1"/>
          <p:nvPr/>
        </p:nvSpPr>
        <p:spPr>
          <a:xfrm>
            <a:off x="914400" y="2834640"/>
            <a:ext cx="4663440" cy="30175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Gym memberships are costly and time-bound</a:t>
            </a:r>
            <a:endParaRPr lang="en-US" sz="1800" dirty="0"/>
          </a:p>
          <a:p>
            <a:pPr marL="342900" indent="-342900">
              <a:spcAft>
                <a:spcPts val="800"/>
              </a:spcAft>
              <a:buSzPct val="100000"/>
              <a:buChar char="•"/>
            </a:pPr>
            <a:r>
              <a:rPr lang="en-US" sz="1800" dirty="0">
                <a:solidFill>
                  <a:schemeClr val="tx1"/>
                </a:solidFill>
              </a:rPr>
              <a:t>Workouts are rarely tracked, so progress is invisible</a:t>
            </a:r>
            <a:endParaRPr lang="en-US" sz="1800" dirty="0"/>
          </a:p>
          <a:p>
            <a:pPr marL="342900" indent="-342900">
              <a:spcAft>
                <a:spcPts val="800"/>
              </a:spcAft>
              <a:buSzPct val="100000"/>
              <a:buChar char="•"/>
            </a:pPr>
            <a:r>
              <a:rPr lang="en-US" sz="1800" dirty="0">
                <a:solidFill>
                  <a:schemeClr val="tx1"/>
                </a:solidFill>
              </a:rPr>
              <a:t>Trainers have no simple way to publish structured programs</a:t>
            </a:r>
            <a:endParaRPr lang="en-US" sz="1800" dirty="0"/>
          </a:p>
          <a:p>
            <a:pPr marL="342900" indent="-342900">
              <a:spcAft>
                <a:spcPts val="800"/>
              </a:spcAft>
              <a:buSzPct val="100000"/>
              <a:buChar char="•"/>
            </a:pPr>
            <a:r>
              <a:rPr lang="en-US" sz="1800" dirty="0">
                <a:solidFill>
                  <a:schemeClr val="tx1"/>
                </a:solidFill>
              </a:rPr>
              <a:t>Members cannot see calories or trends in one place</a:t>
            </a:r>
            <a:endParaRPr lang="en-US" sz="1800" dirty="0"/>
          </a:p>
        </p:txBody>
      </p:sp>
      <p:sp>
        <p:nvSpPr>
          <p:cNvPr id="9" name="solution-card"/>
          <p:cNvSpPr/>
          <p:nvPr/>
        </p:nvSpPr>
        <p:spPr>
          <a:xfrm>
            <a:off x="6263640" y="1463040"/>
            <a:ext cx="5394960" cy="4572000"/>
          </a:xfrm>
          <a:prstGeom prst="roundRect">
            <a:avLst>
              <a:gd name="adj" fmla="val 2400"/>
            </a:avLst>
          </a:prstGeom>
          <a:solidFill>
            <a:schemeClr val="tx1"/>
          </a:solidFill>
          <a:ln/>
        </p:spPr>
      </p:sp>
      <p:sp>
        <p:nvSpPr>
          <p:cNvPr id="10" name="icon-circle"/>
          <p:cNvSpPr/>
          <p:nvPr/>
        </p:nvSpPr>
        <p:spPr>
          <a:xfrm>
            <a:off x="6583680" y="1783080"/>
            <a:ext cx="685800" cy="685800"/>
          </a:xfrm>
          <a:prstGeom prst="ellipse">
            <a:avLst/>
          </a:prstGeom>
          <a:solidFill>
            <a:schemeClr val="accent3"/>
          </a:solidFill>
          <a:ln/>
        </p:spPr>
      </p:sp>
      <p:pic>
        <p:nvPicPr>
          <p:cNvPr id="11" name="icon" descr="preencoded.png">    </p:cNvPr>
          <p:cNvPicPr>
            <a:picLocks noChangeAspect="1"/>
          </p:cNvPicPr>
          <p:nvPr/>
        </p:nvPicPr>
        <p:blipFill>
          <a:blip r:embed="rId2"/>
          <a:stretch>
            <a:fillRect/>
          </a:stretch>
        </p:blipFill>
        <p:spPr>
          <a:xfrm>
            <a:off x="6734556" y="1933956"/>
            <a:ext cx="384048" cy="384048"/>
          </a:xfrm>
          <a:prstGeom prst="rect">
            <a:avLst/>
          </a:prstGeom>
        </p:spPr>
      </p:pic>
      <p:sp>
        <p:nvSpPr>
          <p:cNvPr id="12" name="Text 7"/>
          <p:cNvSpPr txBox="1"/>
          <p:nvPr/>
        </p:nvSpPr>
        <p:spPr>
          <a:xfrm>
            <a:off x="7498080" y="1920240"/>
            <a:ext cx="3657600" cy="457200"/>
          </a:xfrm>
          <a:prstGeom prst="rect">
            <a:avLst/>
          </a:prstGeom>
          <a:noFill/>
          <a:ln/>
        </p:spPr>
        <p:txBody>
          <a:bodyPr wrap="square" lIns="0" tIns="0" rIns="0" bIns="0" rtlCol="0" anchor="t"/>
          <a:lstStyle/>
          <a:p>
            <a:pPr indent="0" marL="0">
              <a:buNone/>
            </a:pPr>
            <a:r>
              <a:rPr lang="en-US" sz="2400" b="1" dirty="0">
                <a:solidFill>
                  <a:schemeClr val="bg1"/>
                </a:solidFill>
              </a:rPr>
              <a:t>Our solution</a:t>
            </a:r>
            <a:endParaRPr lang="en-US" sz="2400" dirty="0"/>
          </a:p>
        </p:txBody>
      </p:sp>
      <p:sp>
        <p:nvSpPr>
          <p:cNvPr id="13" name="Text 8"/>
          <p:cNvSpPr txBox="1"/>
          <p:nvPr/>
        </p:nvSpPr>
        <p:spPr>
          <a:xfrm>
            <a:off x="6629400" y="2834640"/>
            <a:ext cx="4663440" cy="30175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bg1"/>
                </a:solidFill>
              </a:rPr>
              <a:t>One web platform for members and trainers</a:t>
            </a:r>
            <a:endParaRPr lang="en-US" sz="1800" dirty="0"/>
          </a:p>
          <a:p>
            <a:pPr marL="342900" indent="-342900">
              <a:spcAft>
                <a:spcPts val="800"/>
              </a:spcAft>
              <a:buSzPct val="100000"/>
              <a:buChar char="•"/>
            </a:pPr>
            <a:r>
              <a:rPr lang="en-US" sz="1800" dirty="0">
                <a:solidFill>
                  <a:schemeClr val="bg1"/>
                </a:solidFill>
              </a:rPr>
              <a:t>Trainers publish Cardio, Strength and Yoga programs</a:t>
            </a:r>
            <a:endParaRPr lang="en-US" sz="1800" dirty="0"/>
          </a:p>
          <a:p>
            <a:pPr marL="342900" indent="-342900">
              <a:spcAft>
                <a:spcPts val="800"/>
              </a:spcAft>
              <a:buSzPct val="100000"/>
              <a:buChar char="•"/>
            </a:pPr>
            <a:r>
              <a:rPr lang="en-US" sz="1800" dirty="0">
                <a:solidFill>
                  <a:schemeClr val="bg1"/>
                </a:solidFill>
              </a:rPr>
              <a:t>Members enrol, log sessions and see calories burned</a:t>
            </a:r>
            <a:endParaRPr lang="en-US" sz="1800" dirty="0"/>
          </a:p>
          <a:p>
            <a:pPr marL="342900" indent="-342900">
              <a:spcAft>
                <a:spcPts val="800"/>
              </a:spcAft>
              <a:buSzPct val="100000"/>
              <a:buChar char="•"/>
            </a:pPr>
            <a:r>
              <a:rPr lang="en-US" sz="1800" dirty="0">
                <a:solidFill>
                  <a:schemeClr val="bg1"/>
                </a:solidFill>
              </a:rPr>
              <a:t>Dashboard turns raw logs into clear statistics</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Key features by role</a:t>
            </a:r>
            <a:endParaRPr lang="en-US" sz="3400" dirty="0"/>
          </a:p>
        </p:txBody>
      </p:sp>
      <p:sp>
        <p:nvSpPr>
          <p:cNvPr id="4" name="Member-card"/>
          <p:cNvSpPr/>
          <p:nvPr/>
        </p:nvSpPr>
        <p:spPr>
          <a:xfrm>
            <a:off x="548640" y="1463040"/>
            <a:ext cx="5394960" cy="4206240"/>
          </a:xfrm>
          <a:prstGeom prst="roundRect">
            <a:avLst>
              <a:gd name="adj" fmla="val 2609"/>
            </a:avLst>
          </a:prstGeom>
          <a:solidFill>
            <a:schemeClr val="bg2"/>
          </a:solidFill>
          <a:ln/>
        </p:spPr>
      </p:sp>
      <p:sp>
        <p:nvSpPr>
          <p:cNvPr id="5" name="icon-circle"/>
          <p:cNvSpPr/>
          <p:nvPr/>
        </p:nvSpPr>
        <p:spPr>
          <a:xfrm>
            <a:off x="868680" y="1783080"/>
            <a:ext cx="731520" cy="731520"/>
          </a:xfrm>
          <a:prstGeom prst="ellipse">
            <a:avLst/>
          </a:prstGeom>
          <a:solidFill>
            <a:schemeClr val="accent1"/>
          </a:solidFill>
          <a:ln/>
        </p:spPr>
      </p:sp>
      <p:pic>
        <p:nvPicPr>
          <p:cNvPr id="6" name="icon" descr="preencoded.png">    </p:cNvPr>
          <p:cNvPicPr>
            <a:picLocks noChangeAspect="1"/>
          </p:cNvPicPr>
          <p:nvPr/>
        </p:nvPicPr>
        <p:blipFill>
          <a:blip r:embed="rId1"/>
          <a:stretch>
            <a:fillRect/>
          </a:stretch>
        </p:blipFill>
        <p:spPr>
          <a:xfrm>
            <a:off x="1029614" y="1944014"/>
            <a:ext cx="409651" cy="409651"/>
          </a:xfrm>
          <a:prstGeom prst="rect">
            <a:avLst/>
          </a:prstGeom>
        </p:spPr>
      </p:pic>
      <p:sp>
        <p:nvSpPr>
          <p:cNvPr id="7" name="Text 3"/>
          <p:cNvSpPr txBox="1"/>
          <p:nvPr/>
        </p:nvSpPr>
        <p:spPr>
          <a:xfrm>
            <a:off x="1828800" y="1965960"/>
            <a:ext cx="3657600" cy="457200"/>
          </a:xfrm>
          <a:prstGeom prst="rect">
            <a:avLst/>
          </a:prstGeom>
          <a:noFill/>
          <a:ln/>
        </p:spPr>
        <p:txBody>
          <a:bodyPr wrap="square" lIns="0" tIns="0" rIns="0" bIns="0" rtlCol="0" anchor="t"/>
          <a:lstStyle/>
          <a:p>
            <a:pPr indent="0" marL="0">
              <a:buNone/>
            </a:pPr>
            <a:r>
              <a:rPr lang="en-US" sz="2400" b="1" dirty="0">
                <a:solidFill>
                  <a:schemeClr val="tx1"/>
                </a:solidFill>
              </a:rPr>
              <a:t>Member</a:t>
            </a:r>
            <a:endParaRPr lang="en-US" sz="2400" dirty="0"/>
          </a:p>
        </p:txBody>
      </p:sp>
      <p:sp>
        <p:nvSpPr>
          <p:cNvPr id="8" name="Text 4"/>
          <p:cNvSpPr txBox="1"/>
          <p:nvPr/>
        </p:nvSpPr>
        <p:spPr>
          <a:xfrm>
            <a:off x="960120" y="2834640"/>
            <a:ext cx="4572000" cy="26517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Register and log in securely</a:t>
            </a:r>
            <a:endParaRPr lang="en-US" sz="1800" dirty="0"/>
          </a:p>
          <a:p>
            <a:pPr marL="342900" indent="-342900">
              <a:spcAft>
                <a:spcPts val="800"/>
              </a:spcAft>
              <a:buSzPct val="100000"/>
              <a:buChar char="•"/>
            </a:pPr>
            <a:r>
              <a:rPr lang="en-US" sz="1800" dirty="0">
                <a:solidFill>
                  <a:schemeClr val="tx1"/>
                </a:solidFill>
              </a:rPr>
              <a:t>Browse and filter workouts by type</a:t>
            </a:r>
            <a:endParaRPr lang="en-US" sz="1800" dirty="0"/>
          </a:p>
          <a:p>
            <a:pPr marL="342900" indent="-342900">
              <a:spcAft>
                <a:spcPts val="800"/>
              </a:spcAft>
              <a:buSzPct val="100000"/>
              <a:buChar char="•"/>
            </a:pPr>
            <a:r>
              <a:rPr lang="en-US" sz="1800" dirty="0">
                <a:solidFill>
                  <a:schemeClr val="tx1"/>
                </a:solidFill>
              </a:rPr>
              <a:t>Enrol in programs</a:t>
            </a:r>
            <a:endParaRPr lang="en-US" sz="1800" dirty="0"/>
          </a:p>
          <a:p>
            <a:pPr marL="342900" indent="-342900">
              <a:spcAft>
                <a:spcPts val="800"/>
              </a:spcAft>
              <a:buSzPct val="100000"/>
              <a:buChar char="•"/>
            </a:pPr>
            <a:r>
              <a:rPr lang="en-US" sz="1800" dirty="0">
                <a:solidFill>
                  <a:schemeClr val="tx1"/>
                </a:solidFill>
              </a:rPr>
              <a:t>Log minutes and body weight</a:t>
            </a:r>
            <a:endParaRPr lang="en-US" sz="1800" dirty="0"/>
          </a:p>
          <a:p>
            <a:pPr marL="342900" indent="-342900">
              <a:spcAft>
                <a:spcPts val="800"/>
              </a:spcAft>
              <a:buSzPct val="100000"/>
              <a:buChar char="•"/>
            </a:pPr>
            <a:r>
              <a:rPr lang="en-US" sz="1800" dirty="0">
                <a:solidFill>
                  <a:schemeClr val="tx1"/>
                </a:solidFill>
              </a:rPr>
              <a:t>See calories, totals and a chart</a:t>
            </a:r>
            <a:endParaRPr lang="en-US" sz="1800" dirty="0"/>
          </a:p>
        </p:txBody>
      </p:sp>
      <p:sp>
        <p:nvSpPr>
          <p:cNvPr id="9" name="Trainer-card"/>
          <p:cNvSpPr/>
          <p:nvPr/>
        </p:nvSpPr>
        <p:spPr>
          <a:xfrm>
            <a:off x="6263640" y="1463040"/>
            <a:ext cx="5394960" cy="4206240"/>
          </a:xfrm>
          <a:prstGeom prst="roundRect">
            <a:avLst>
              <a:gd name="adj" fmla="val 2609"/>
            </a:avLst>
          </a:prstGeom>
          <a:solidFill>
            <a:schemeClr val="bg2"/>
          </a:solidFill>
          <a:ln/>
        </p:spPr>
      </p:sp>
      <p:sp>
        <p:nvSpPr>
          <p:cNvPr id="10" name="icon-circle"/>
          <p:cNvSpPr/>
          <p:nvPr/>
        </p:nvSpPr>
        <p:spPr>
          <a:xfrm>
            <a:off x="6583680" y="1783080"/>
            <a:ext cx="731520" cy="731520"/>
          </a:xfrm>
          <a:prstGeom prst="ellipse">
            <a:avLst/>
          </a:prstGeom>
          <a:solidFill>
            <a:schemeClr val="accent2"/>
          </a:solidFill>
          <a:ln/>
        </p:spPr>
      </p:sp>
      <p:pic>
        <p:nvPicPr>
          <p:cNvPr id="11" name="icon" descr="preencoded.png">    </p:cNvPr>
          <p:cNvPicPr>
            <a:picLocks noChangeAspect="1"/>
          </p:cNvPicPr>
          <p:nvPr/>
        </p:nvPicPr>
        <p:blipFill>
          <a:blip r:embed="rId2"/>
          <a:stretch>
            <a:fillRect/>
          </a:stretch>
        </p:blipFill>
        <p:spPr>
          <a:xfrm>
            <a:off x="6744614" y="1944014"/>
            <a:ext cx="409651" cy="409651"/>
          </a:xfrm>
          <a:prstGeom prst="rect">
            <a:avLst/>
          </a:prstGeom>
        </p:spPr>
      </p:pic>
      <p:sp>
        <p:nvSpPr>
          <p:cNvPr id="12" name="Text 7"/>
          <p:cNvSpPr txBox="1"/>
          <p:nvPr/>
        </p:nvSpPr>
        <p:spPr>
          <a:xfrm>
            <a:off x="7543800" y="1965960"/>
            <a:ext cx="3657600" cy="457200"/>
          </a:xfrm>
          <a:prstGeom prst="rect">
            <a:avLst/>
          </a:prstGeom>
          <a:noFill/>
          <a:ln/>
        </p:spPr>
        <p:txBody>
          <a:bodyPr wrap="square" lIns="0" tIns="0" rIns="0" bIns="0" rtlCol="0" anchor="t"/>
          <a:lstStyle/>
          <a:p>
            <a:pPr indent="0" marL="0">
              <a:buNone/>
            </a:pPr>
            <a:r>
              <a:rPr lang="en-US" sz="2400" b="1" dirty="0">
                <a:solidFill>
                  <a:schemeClr val="tx1"/>
                </a:solidFill>
              </a:rPr>
              <a:t>Trainer</a:t>
            </a:r>
            <a:endParaRPr lang="en-US" sz="2400" dirty="0"/>
          </a:p>
        </p:txBody>
      </p:sp>
      <p:sp>
        <p:nvSpPr>
          <p:cNvPr id="13" name="Text 8"/>
          <p:cNvSpPr txBox="1"/>
          <p:nvPr/>
        </p:nvSpPr>
        <p:spPr>
          <a:xfrm>
            <a:off x="6675120" y="2834640"/>
            <a:ext cx="4572000" cy="26517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Register and log in securely</a:t>
            </a:r>
            <a:endParaRPr lang="en-US" sz="1800" dirty="0"/>
          </a:p>
          <a:p>
            <a:pPr marL="342900" indent="-342900">
              <a:spcAft>
                <a:spcPts val="800"/>
              </a:spcAft>
              <a:buSzPct val="100000"/>
              <a:buChar char="•"/>
            </a:pPr>
            <a:r>
              <a:rPr lang="en-US" sz="1800" dirty="0">
                <a:solidFill>
                  <a:schemeClr val="tx1"/>
                </a:solidFill>
              </a:rPr>
              <a:t>Publish programs with level and intensity</a:t>
            </a:r>
            <a:endParaRPr lang="en-US" sz="1800" dirty="0"/>
          </a:p>
          <a:p>
            <a:pPr marL="342900" indent="-342900">
              <a:spcAft>
                <a:spcPts val="800"/>
              </a:spcAft>
              <a:buSzPct val="100000"/>
              <a:buChar char="•"/>
            </a:pPr>
            <a:r>
              <a:rPr lang="en-US" sz="1800" dirty="0">
                <a:solidFill>
                  <a:schemeClr val="tx1"/>
                </a:solidFill>
              </a:rPr>
              <a:t>Choose Cardio, Strength or Yoga</a:t>
            </a:r>
            <a:endParaRPr lang="en-US" sz="1800" dirty="0"/>
          </a:p>
          <a:p>
            <a:pPr marL="342900" indent="-342900">
              <a:spcAft>
                <a:spcPts val="800"/>
              </a:spcAft>
              <a:buSzPct val="100000"/>
              <a:buChar char="•"/>
            </a:pPr>
            <a:r>
              <a:rPr lang="en-US" sz="1800" dirty="0">
                <a:solidFill>
                  <a:schemeClr val="tx1"/>
                </a:solidFill>
              </a:rPr>
              <a:t>Programs appear for every member</a:t>
            </a:r>
            <a:endParaRPr lang="en-US" sz="1800" dirty="0"/>
          </a:p>
          <a:p>
            <a:pPr marL="342900" indent="-342900">
              <a:spcAft>
                <a:spcPts val="800"/>
              </a:spcAft>
              <a:buSzPct val="100000"/>
              <a:buChar char="•"/>
            </a:pPr>
            <a:r>
              <a:rPr lang="en-US" sz="1800" dirty="0">
                <a:solidFill>
                  <a:schemeClr val="tx1"/>
                </a:solidFill>
              </a:rPr>
              <a:t>Role-specific dashboard</a:t>
            </a:r>
            <a:endParaRPr lang="en-US" sz="1800" dirty="0"/>
          </a:p>
        </p:txBody>
      </p:sp>
      <p:sp>
        <p:nvSpPr>
          <p:cNvPr id="14" name="Text 9"/>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400" dirty="0">
                <a:solidFill>
                  <a:schemeClr val="accent5"/>
                </a:solidFill>
              </a:rPr>
              <a:t>Shared: password hashing, session login, input validation, friendly error messages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Technology stack</a:t>
            </a:r>
            <a:endParaRPr lang="en-US" sz="3400" dirty="0"/>
          </a:p>
        </p:txBody>
      </p:sp>
      <p:sp>
        <p:nvSpPr>
          <p:cNvPr id="4" name="tech-tile"/>
          <p:cNvSpPr/>
          <p:nvPr/>
        </p:nvSpPr>
        <p:spPr>
          <a:xfrm>
            <a:off x="457200" y="1554480"/>
            <a:ext cx="2103120" cy="3383280"/>
          </a:xfrm>
          <a:prstGeom prst="roundRect">
            <a:avLst>
              <a:gd name="adj" fmla="val 5217"/>
            </a:avLst>
          </a:prstGeom>
          <a:solidFill>
            <a:schemeClr val="bg2"/>
          </a:solidFill>
          <a:ln/>
        </p:spPr>
      </p:sp>
      <p:sp>
        <p:nvSpPr>
          <p:cNvPr id="5" name="icon-circle"/>
          <p:cNvSpPr/>
          <p:nvPr/>
        </p:nvSpPr>
        <p:spPr>
          <a:xfrm>
            <a:off x="640080" y="1828800"/>
            <a:ext cx="822960" cy="822960"/>
          </a:xfrm>
          <a:prstGeom prst="ellipse">
            <a:avLst/>
          </a:prstGeom>
          <a:solidFill>
            <a:schemeClr val="accent1"/>
          </a:solidFill>
          <a:ln/>
        </p:spPr>
      </p:sp>
      <p:pic>
        <p:nvPicPr>
          <p:cNvPr id="6" name="icon" descr="preencoded.png">    </p:cNvPr>
          <p:cNvPicPr>
            <a:picLocks noChangeAspect="1"/>
          </p:cNvPicPr>
          <p:nvPr/>
        </p:nvPicPr>
        <p:blipFill>
          <a:blip r:embed="rId1"/>
          <a:stretch>
            <a:fillRect/>
          </a:stretch>
        </p:blipFill>
        <p:spPr>
          <a:xfrm>
            <a:off x="821131" y="2009851"/>
            <a:ext cx="460858" cy="460858"/>
          </a:xfrm>
          <a:prstGeom prst="rect">
            <a:avLst/>
          </a:prstGeom>
        </p:spPr>
      </p:pic>
      <p:sp>
        <p:nvSpPr>
          <p:cNvPr id="7" name="Text 3"/>
          <p:cNvSpPr txBox="1"/>
          <p:nvPr/>
        </p:nvSpPr>
        <p:spPr>
          <a:xfrm>
            <a:off x="640080" y="2880360"/>
            <a:ext cx="1737360" cy="411480"/>
          </a:xfrm>
          <a:prstGeom prst="rect">
            <a:avLst/>
          </a:prstGeom>
          <a:noFill/>
          <a:ln/>
        </p:spPr>
        <p:txBody>
          <a:bodyPr wrap="square" lIns="0" tIns="0" rIns="0" bIns="0" rtlCol="0" anchor="t"/>
          <a:lstStyle/>
          <a:p>
            <a:pPr indent="0" marL="0">
              <a:buNone/>
            </a:pPr>
            <a:r>
              <a:rPr lang="en-US" sz="2000" b="1" dirty="0">
                <a:solidFill>
                  <a:schemeClr val="tx1"/>
                </a:solidFill>
              </a:rPr>
              <a:t>Frontend</a:t>
            </a:r>
            <a:endParaRPr lang="en-US" sz="2000" dirty="0"/>
          </a:p>
        </p:txBody>
      </p:sp>
      <p:sp>
        <p:nvSpPr>
          <p:cNvPr id="8" name="Text 4"/>
          <p:cNvSpPr txBox="1"/>
          <p:nvPr/>
        </p:nvSpPr>
        <p:spPr>
          <a:xfrm>
            <a:off x="640080" y="3383280"/>
            <a:ext cx="1737360" cy="1371600"/>
          </a:xfrm>
          <a:prstGeom prst="rect">
            <a:avLst/>
          </a:prstGeom>
          <a:noFill/>
          <a:ln/>
        </p:spPr>
        <p:txBody>
          <a:bodyPr wrap="square" lIns="0" tIns="0" rIns="0" bIns="0" rtlCol="0" anchor="t"/>
          <a:lstStyle/>
          <a:p>
            <a:pPr indent="0" marL="0">
              <a:buNone/>
            </a:pPr>
            <a:r>
              <a:rPr lang="en-US" sz="1400" dirty="0">
                <a:solidFill>
                  <a:schemeClr val="tx1"/>
                </a:solidFill>
              </a:rPr>
              <a:t>JSP, JSTL, HTML5, CSS3, vanilla JavaScript</a:t>
            </a:r>
            <a:endParaRPr lang="en-US" sz="1400" dirty="0"/>
          </a:p>
        </p:txBody>
      </p:sp>
      <p:sp>
        <p:nvSpPr>
          <p:cNvPr id="9" name="tech-tile"/>
          <p:cNvSpPr/>
          <p:nvPr/>
        </p:nvSpPr>
        <p:spPr>
          <a:xfrm>
            <a:off x="2743200" y="1554480"/>
            <a:ext cx="2103120" cy="3383280"/>
          </a:xfrm>
          <a:prstGeom prst="roundRect">
            <a:avLst>
              <a:gd name="adj" fmla="val 5217"/>
            </a:avLst>
          </a:prstGeom>
          <a:solidFill>
            <a:schemeClr val="bg2"/>
          </a:solidFill>
          <a:ln/>
        </p:spPr>
      </p:sp>
      <p:sp>
        <p:nvSpPr>
          <p:cNvPr id="10" name="icon-circle"/>
          <p:cNvSpPr/>
          <p:nvPr/>
        </p:nvSpPr>
        <p:spPr>
          <a:xfrm>
            <a:off x="2926080" y="1828800"/>
            <a:ext cx="822960" cy="822960"/>
          </a:xfrm>
          <a:prstGeom prst="ellipse">
            <a:avLst/>
          </a:prstGeom>
          <a:solidFill>
            <a:schemeClr val="accent2"/>
          </a:solidFill>
          <a:ln/>
        </p:spPr>
      </p:sp>
      <p:pic>
        <p:nvPicPr>
          <p:cNvPr id="11" name="icon" descr="preencoded.png">    </p:cNvPr>
          <p:cNvPicPr>
            <a:picLocks noChangeAspect="1"/>
          </p:cNvPicPr>
          <p:nvPr/>
        </p:nvPicPr>
        <p:blipFill>
          <a:blip r:embed="rId2"/>
          <a:stretch>
            <a:fillRect/>
          </a:stretch>
        </p:blipFill>
        <p:spPr>
          <a:xfrm>
            <a:off x="3107131" y="2009851"/>
            <a:ext cx="460858" cy="460858"/>
          </a:xfrm>
          <a:prstGeom prst="rect">
            <a:avLst/>
          </a:prstGeom>
        </p:spPr>
      </p:pic>
      <p:sp>
        <p:nvSpPr>
          <p:cNvPr id="12" name="Text 7"/>
          <p:cNvSpPr txBox="1"/>
          <p:nvPr/>
        </p:nvSpPr>
        <p:spPr>
          <a:xfrm>
            <a:off x="2926080" y="2880360"/>
            <a:ext cx="1737360" cy="411480"/>
          </a:xfrm>
          <a:prstGeom prst="rect">
            <a:avLst/>
          </a:prstGeom>
          <a:noFill/>
          <a:ln/>
        </p:spPr>
        <p:txBody>
          <a:bodyPr wrap="square" lIns="0" tIns="0" rIns="0" bIns="0" rtlCol="0" anchor="t"/>
          <a:lstStyle/>
          <a:p>
            <a:pPr indent="0" marL="0">
              <a:buNone/>
            </a:pPr>
            <a:r>
              <a:rPr lang="en-US" sz="2000" b="1" dirty="0">
                <a:solidFill>
                  <a:schemeClr val="tx1"/>
                </a:solidFill>
              </a:rPr>
              <a:t>Backend</a:t>
            </a:r>
            <a:endParaRPr lang="en-US" sz="2000" dirty="0"/>
          </a:p>
        </p:txBody>
      </p:sp>
      <p:sp>
        <p:nvSpPr>
          <p:cNvPr id="13" name="Text 8"/>
          <p:cNvSpPr txBox="1"/>
          <p:nvPr/>
        </p:nvSpPr>
        <p:spPr>
          <a:xfrm>
            <a:off x="2926080" y="3383280"/>
            <a:ext cx="1737360" cy="1371600"/>
          </a:xfrm>
          <a:prstGeom prst="rect">
            <a:avLst/>
          </a:prstGeom>
          <a:noFill/>
          <a:ln/>
        </p:spPr>
        <p:txBody>
          <a:bodyPr wrap="square" lIns="0" tIns="0" rIns="0" bIns="0" rtlCol="0" anchor="t"/>
          <a:lstStyle/>
          <a:p>
            <a:pPr indent="0" marL="0">
              <a:buNone/>
            </a:pPr>
            <a:r>
              <a:rPr lang="en-US" sz="1400" dirty="0">
                <a:solidFill>
                  <a:schemeClr val="tx1"/>
                </a:solidFill>
              </a:rPr>
              <a:t>Java 11, Servlets 4.0, Filters, Listeners</a:t>
            </a:r>
            <a:endParaRPr lang="en-US" sz="1400" dirty="0"/>
          </a:p>
        </p:txBody>
      </p:sp>
      <p:sp>
        <p:nvSpPr>
          <p:cNvPr id="14" name="tech-tile"/>
          <p:cNvSpPr/>
          <p:nvPr/>
        </p:nvSpPr>
        <p:spPr>
          <a:xfrm>
            <a:off x="5029200" y="1554480"/>
            <a:ext cx="2103120" cy="3383280"/>
          </a:xfrm>
          <a:prstGeom prst="roundRect">
            <a:avLst>
              <a:gd name="adj" fmla="val 5217"/>
            </a:avLst>
          </a:prstGeom>
          <a:solidFill>
            <a:schemeClr val="bg2"/>
          </a:solidFill>
          <a:ln/>
        </p:spPr>
      </p:sp>
      <p:sp>
        <p:nvSpPr>
          <p:cNvPr id="15" name="icon-circle"/>
          <p:cNvSpPr/>
          <p:nvPr/>
        </p:nvSpPr>
        <p:spPr>
          <a:xfrm>
            <a:off x="5212080" y="1828800"/>
            <a:ext cx="822960" cy="822960"/>
          </a:xfrm>
          <a:prstGeom prst="ellipse">
            <a:avLst/>
          </a:prstGeom>
          <a:solidFill>
            <a:schemeClr val="accent1"/>
          </a:solidFill>
          <a:ln/>
        </p:spPr>
      </p:sp>
      <p:pic>
        <p:nvPicPr>
          <p:cNvPr id="16" name="icon" descr="preencoded.png">    </p:cNvPr>
          <p:cNvPicPr>
            <a:picLocks noChangeAspect="1"/>
          </p:cNvPicPr>
          <p:nvPr/>
        </p:nvPicPr>
        <p:blipFill>
          <a:blip r:embed="rId3"/>
          <a:stretch>
            <a:fillRect/>
          </a:stretch>
        </p:blipFill>
        <p:spPr>
          <a:xfrm>
            <a:off x="5393131" y="2009851"/>
            <a:ext cx="460858" cy="460858"/>
          </a:xfrm>
          <a:prstGeom prst="rect">
            <a:avLst/>
          </a:prstGeom>
        </p:spPr>
      </p:pic>
      <p:sp>
        <p:nvSpPr>
          <p:cNvPr id="17" name="Text 11"/>
          <p:cNvSpPr txBox="1"/>
          <p:nvPr/>
        </p:nvSpPr>
        <p:spPr>
          <a:xfrm>
            <a:off x="5212080" y="2880360"/>
            <a:ext cx="1737360" cy="411480"/>
          </a:xfrm>
          <a:prstGeom prst="rect">
            <a:avLst/>
          </a:prstGeom>
          <a:noFill/>
          <a:ln/>
        </p:spPr>
        <p:txBody>
          <a:bodyPr wrap="square" lIns="0" tIns="0" rIns="0" bIns="0" rtlCol="0" anchor="t"/>
          <a:lstStyle/>
          <a:p>
            <a:pPr indent="0" marL="0">
              <a:buNone/>
            </a:pPr>
            <a:r>
              <a:rPr lang="en-US" sz="2000" b="1" dirty="0">
                <a:solidFill>
                  <a:schemeClr val="tx1"/>
                </a:solidFill>
              </a:rPr>
              <a:t>Database</a:t>
            </a:r>
            <a:endParaRPr lang="en-US" sz="2000" dirty="0"/>
          </a:p>
        </p:txBody>
      </p:sp>
      <p:sp>
        <p:nvSpPr>
          <p:cNvPr id="18" name="Text 12"/>
          <p:cNvSpPr txBox="1"/>
          <p:nvPr/>
        </p:nvSpPr>
        <p:spPr>
          <a:xfrm>
            <a:off x="5212080" y="3383280"/>
            <a:ext cx="1737360" cy="1371600"/>
          </a:xfrm>
          <a:prstGeom prst="rect">
            <a:avLst/>
          </a:prstGeom>
          <a:noFill/>
          <a:ln/>
        </p:spPr>
        <p:txBody>
          <a:bodyPr wrap="square" lIns="0" tIns="0" rIns="0" bIns="0" rtlCol="0" anchor="t"/>
          <a:lstStyle/>
          <a:p>
            <a:pPr indent="0" marL="0">
              <a:buNone/>
            </a:pPr>
            <a:r>
              <a:rPr lang="en-US" sz="1400" dirty="0">
                <a:solidFill>
                  <a:schemeClr val="tx1"/>
                </a:solidFill>
              </a:rPr>
              <a:t>MySQL 8 accessed through JDBC</a:t>
            </a:r>
            <a:endParaRPr lang="en-US" sz="1400" dirty="0"/>
          </a:p>
        </p:txBody>
      </p:sp>
      <p:sp>
        <p:nvSpPr>
          <p:cNvPr id="19" name="tech-tile"/>
          <p:cNvSpPr/>
          <p:nvPr/>
        </p:nvSpPr>
        <p:spPr>
          <a:xfrm>
            <a:off x="7315200" y="1554480"/>
            <a:ext cx="2103120" cy="3383280"/>
          </a:xfrm>
          <a:prstGeom prst="roundRect">
            <a:avLst>
              <a:gd name="adj" fmla="val 5217"/>
            </a:avLst>
          </a:prstGeom>
          <a:solidFill>
            <a:schemeClr val="bg2"/>
          </a:solidFill>
          <a:ln/>
        </p:spPr>
      </p:sp>
      <p:sp>
        <p:nvSpPr>
          <p:cNvPr id="20" name="icon-circle"/>
          <p:cNvSpPr/>
          <p:nvPr/>
        </p:nvSpPr>
        <p:spPr>
          <a:xfrm>
            <a:off x="7498080" y="1828800"/>
            <a:ext cx="822960" cy="822960"/>
          </a:xfrm>
          <a:prstGeom prst="ellipse">
            <a:avLst/>
          </a:prstGeom>
          <a:solidFill>
            <a:schemeClr val="accent2"/>
          </a:solidFill>
          <a:ln/>
        </p:spPr>
      </p:sp>
      <p:pic>
        <p:nvPicPr>
          <p:cNvPr id="21" name="icon" descr="preencoded.png">    </p:cNvPr>
          <p:cNvPicPr>
            <a:picLocks noChangeAspect="1"/>
          </p:cNvPicPr>
          <p:nvPr/>
        </p:nvPicPr>
        <p:blipFill>
          <a:blip r:embed="rId4"/>
          <a:stretch>
            <a:fillRect/>
          </a:stretch>
        </p:blipFill>
        <p:spPr>
          <a:xfrm>
            <a:off x="7679131" y="2009851"/>
            <a:ext cx="460858" cy="460858"/>
          </a:xfrm>
          <a:prstGeom prst="rect">
            <a:avLst/>
          </a:prstGeom>
        </p:spPr>
      </p:pic>
      <p:sp>
        <p:nvSpPr>
          <p:cNvPr id="22" name="Text 15"/>
          <p:cNvSpPr txBox="1"/>
          <p:nvPr/>
        </p:nvSpPr>
        <p:spPr>
          <a:xfrm>
            <a:off x="7498080" y="2880360"/>
            <a:ext cx="1737360" cy="411480"/>
          </a:xfrm>
          <a:prstGeom prst="rect">
            <a:avLst/>
          </a:prstGeom>
          <a:noFill/>
          <a:ln/>
        </p:spPr>
        <p:txBody>
          <a:bodyPr wrap="square" lIns="0" tIns="0" rIns="0" bIns="0" rtlCol="0" anchor="t"/>
          <a:lstStyle/>
          <a:p>
            <a:pPr indent="0" marL="0">
              <a:buNone/>
            </a:pPr>
            <a:r>
              <a:rPr lang="en-US" sz="2000" b="1" dirty="0">
                <a:solidFill>
                  <a:schemeClr val="tx1"/>
                </a:solidFill>
              </a:rPr>
              <a:t>Build</a:t>
            </a:r>
            <a:endParaRPr lang="en-US" sz="2000" dirty="0"/>
          </a:p>
        </p:txBody>
      </p:sp>
      <p:sp>
        <p:nvSpPr>
          <p:cNvPr id="23" name="Text 16"/>
          <p:cNvSpPr txBox="1"/>
          <p:nvPr/>
        </p:nvSpPr>
        <p:spPr>
          <a:xfrm>
            <a:off x="7498080" y="3383280"/>
            <a:ext cx="1737360" cy="1371600"/>
          </a:xfrm>
          <a:prstGeom prst="rect">
            <a:avLst/>
          </a:prstGeom>
          <a:noFill/>
          <a:ln/>
        </p:spPr>
        <p:txBody>
          <a:bodyPr wrap="square" lIns="0" tIns="0" rIns="0" bIns="0" rtlCol="0" anchor="t"/>
          <a:lstStyle/>
          <a:p>
            <a:pPr indent="0" marL="0">
              <a:buNone/>
            </a:pPr>
            <a:r>
              <a:rPr lang="en-US" sz="1400" dirty="0">
                <a:solidFill>
                  <a:schemeClr val="tx1"/>
                </a:solidFill>
              </a:rPr>
              <a:t>Maven, packaged as a WAR file</a:t>
            </a:r>
            <a:endParaRPr lang="en-US" sz="1400" dirty="0"/>
          </a:p>
        </p:txBody>
      </p:sp>
      <p:sp>
        <p:nvSpPr>
          <p:cNvPr id="24" name="tech-tile"/>
          <p:cNvSpPr/>
          <p:nvPr/>
        </p:nvSpPr>
        <p:spPr>
          <a:xfrm>
            <a:off x="9601200" y="1554480"/>
            <a:ext cx="2103120" cy="3383280"/>
          </a:xfrm>
          <a:prstGeom prst="roundRect">
            <a:avLst>
              <a:gd name="adj" fmla="val 5217"/>
            </a:avLst>
          </a:prstGeom>
          <a:solidFill>
            <a:schemeClr val="bg2"/>
          </a:solidFill>
          <a:ln/>
        </p:spPr>
      </p:sp>
      <p:sp>
        <p:nvSpPr>
          <p:cNvPr id="25" name="icon-circle"/>
          <p:cNvSpPr/>
          <p:nvPr/>
        </p:nvSpPr>
        <p:spPr>
          <a:xfrm>
            <a:off x="9784080" y="1828800"/>
            <a:ext cx="822960" cy="822960"/>
          </a:xfrm>
          <a:prstGeom prst="ellipse">
            <a:avLst/>
          </a:prstGeom>
          <a:solidFill>
            <a:schemeClr val="accent1"/>
          </a:solidFill>
          <a:ln/>
        </p:spPr>
      </p:sp>
      <p:pic>
        <p:nvPicPr>
          <p:cNvPr id="26" name="icon" descr="preencoded.png">    </p:cNvPr>
          <p:cNvPicPr>
            <a:picLocks noChangeAspect="1"/>
          </p:cNvPicPr>
          <p:nvPr/>
        </p:nvPicPr>
        <p:blipFill>
          <a:blip r:embed="rId5"/>
          <a:stretch>
            <a:fillRect/>
          </a:stretch>
        </p:blipFill>
        <p:spPr>
          <a:xfrm>
            <a:off x="9965131" y="2009851"/>
            <a:ext cx="460858" cy="460858"/>
          </a:xfrm>
          <a:prstGeom prst="rect">
            <a:avLst/>
          </a:prstGeom>
        </p:spPr>
      </p:pic>
      <p:sp>
        <p:nvSpPr>
          <p:cNvPr id="27" name="Text 19"/>
          <p:cNvSpPr txBox="1"/>
          <p:nvPr/>
        </p:nvSpPr>
        <p:spPr>
          <a:xfrm>
            <a:off x="9784080" y="2880360"/>
            <a:ext cx="1737360" cy="411480"/>
          </a:xfrm>
          <a:prstGeom prst="rect">
            <a:avLst/>
          </a:prstGeom>
          <a:noFill/>
          <a:ln/>
        </p:spPr>
        <p:txBody>
          <a:bodyPr wrap="square" lIns="0" tIns="0" rIns="0" bIns="0" rtlCol="0" anchor="t"/>
          <a:lstStyle/>
          <a:p>
            <a:pPr indent="0" marL="0">
              <a:buNone/>
            </a:pPr>
            <a:r>
              <a:rPr lang="en-US" sz="2000" b="1" dirty="0">
                <a:solidFill>
                  <a:schemeClr val="tx1"/>
                </a:solidFill>
              </a:rPr>
              <a:t>Server</a:t>
            </a:r>
            <a:endParaRPr lang="en-US" sz="2000" dirty="0"/>
          </a:p>
        </p:txBody>
      </p:sp>
      <p:sp>
        <p:nvSpPr>
          <p:cNvPr id="28" name="Text 20"/>
          <p:cNvSpPr txBox="1"/>
          <p:nvPr/>
        </p:nvSpPr>
        <p:spPr>
          <a:xfrm>
            <a:off x="9784080" y="3383280"/>
            <a:ext cx="1737360" cy="1371600"/>
          </a:xfrm>
          <a:prstGeom prst="rect">
            <a:avLst/>
          </a:prstGeom>
          <a:noFill/>
          <a:ln/>
        </p:spPr>
        <p:txBody>
          <a:bodyPr wrap="square" lIns="0" tIns="0" rIns="0" bIns="0" rtlCol="0" anchor="t"/>
          <a:lstStyle/>
          <a:p>
            <a:pPr indent="0" marL="0">
              <a:buNone/>
            </a:pPr>
            <a:r>
              <a:rPr lang="en-US" sz="1400" dirty="0">
                <a:solidFill>
                  <a:schemeClr val="tx1"/>
                </a:solidFill>
              </a:rPr>
              <a:t>Apache Tomcat 9 (javax.servlet)</a:t>
            </a:r>
            <a:endParaRPr lang="en-US" sz="1400" dirty="0"/>
          </a:p>
        </p:txBody>
      </p:sp>
      <p:sp>
        <p:nvSpPr>
          <p:cNvPr id="29" name="stack-note"/>
          <p:cNvSpPr/>
          <p:nvPr/>
        </p:nvSpPr>
        <p:spPr>
          <a:xfrm>
            <a:off x="457200" y="5303520"/>
            <a:ext cx="11247120" cy="822960"/>
          </a:xfrm>
          <a:prstGeom prst="roundRect">
            <a:avLst>
              <a:gd name="adj" fmla="val 13333"/>
            </a:avLst>
          </a:prstGeom>
          <a:solidFill>
            <a:schemeClr val="tx1"/>
          </a:solidFill>
          <a:ln/>
        </p:spPr>
      </p:sp>
      <p:sp>
        <p:nvSpPr>
          <p:cNvPr id="30" name="Text 22"/>
          <p:cNvSpPr txBox="1"/>
          <p:nvPr/>
        </p:nvSpPr>
        <p:spPr>
          <a:xfrm>
            <a:off x="731520" y="5303520"/>
            <a:ext cx="10698480" cy="822960"/>
          </a:xfrm>
          <a:prstGeom prst="rect">
            <a:avLst/>
          </a:prstGeom>
          <a:noFill/>
          <a:ln/>
        </p:spPr>
        <p:txBody>
          <a:bodyPr wrap="square" lIns="0" tIns="0" rIns="0" bIns="0" rtlCol="0" anchor="ctr"/>
          <a:lstStyle/>
          <a:p>
            <a:pPr indent="0" marL="0">
              <a:buNone/>
            </a:pPr>
            <a:r>
              <a:rPr lang="en-US" sz="1600" dirty="0">
                <a:solidFill>
                  <a:schemeClr val="bg1"/>
                </a:solidFill>
              </a:rPr>
              <a:t>Chosen to cover the rubric directly: Core Java, JDBC database integration, and Servlets with web integration.</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Layered MVC architecture</a:t>
            </a:r>
            <a:endParaRPr lang="en-US" sz="3400" dirty="0"/>
          </a:p>
        </p:txBody>
      </p:sp>
      <p:sp>
        <p:nvSpPr>
          <p:cNvPr id="4" name="node"/>
          <p:cNvSpPr/>
          <p:nvPr/>
        </p:nvSpPr>
        <p:spPr>
          <a:xfrm>
            <a:off x="457200" y="1554480"/>
            <a:ext cx="1920240" cy="1188720"/>
          </a:xfrm>
          <a:prstGeom prst="roundRect">
            <a:avLst>
              <a:gd name="adj" fmla="val 7692"/>
            </a:avLst>
          </a:prstGeom>
          <a:solidFill>
            <a:schemeClr val="bg2"/>
          </a:solidFill>
          <a:ln/>
        </p:spPr>
      </p:sp>
      <p:sp>
        <p:nvSpPr>
          <p:cNvPr id="5" name="Text 2"/>
          <p:cNvSpPr txBox="1"/>
          <p:nvPr/>
        </p:nvSpPr>
        <p:spPr>
          <a:xfrm>
            <a:off x="457200" y="1554480"/>
            <a:ext cx="1920240" cy="1188720"/>
          </a:xfrm>
          <a:prstGeom prst="rect">
            <a:avLst/>
          </a:prstGeom>
          <a:noFill/>
          <a:ln/>
        </p:spPr>
        <p:txBody>
          <a:bodyPr wrap="square" lIns="0" tIns="0" rIns="0" bIns="0" rtlCol="0" anchor="ctr"/>
          <a:lstStyle/>
          <a:p>
            <a:pPr algn="ctr" indent="0" marL="0">
              <a:buNone/>
            </a:pPr>
            <a:r>
              <a:rPr lang="en-US" sz="2000" b="1" dirty="0">
                <a:solidFill>
                  <a:schemeClr val="tx1"/>
                </a:solidFill>
              </a:rPr>
              <a:t>Browser</a:t>
            </a:r>
            <a:endParaRPr lang="en-US" sz="1400" dirty="0"/>
          </a:p>
          <a:p>
            <a:pPr algn="ctr" indent="0" marL="0">
              <a:buNone/>
            </a:pPr>
            <a:r>
              <a:rPr lang="en-US" sz="1400" b="1" dirty="0">
                <a:solidFill>
                  <a:schemeClr val="tx1"/>
                </a:solidFill>
              </a:rPr>
              <a:t>JSP views</a:t>
            </a:r>
            <a:endParaRPr lang="en-US" sz="1400" dirty="0"/>
          </a:p>
        </p:txBody>
      </p:sp>
      <p:sp>
        <p:nvSpPr>
          <p:cNvPr id="6" name="arrow"/>
          <p:cNvSpPr/>
          <p:nvPr/>
        </p:nvSpPr>
        <p:spPr>
          <a:xfrm>
            <a:off x="2423160" y="2011680"/>
            <a:ext cx="320040" cy="274320"/>
          </a:xfrm>
          <a:prstGeom prst="rightArrow">
            <a:avLst/>
          </a:prstGeom>
          <a:solidFill>
            <a:schemeClr val="accent1"/>
          </a:solidFill>
          <a:ln/>
        </p:spPr>
      </p:sp>
      <p:sp>
        <p:nvSpPr>
          <p:cNvPr id="7" name="node"/>
          <p:cNvSpPr/>
          <p:nvPr/>
        </p:nvSpPr>
        <p:spPr>
          <a:xfrm>
            <a:off x="2788920" y="1554480"/>
            <a:ext cx="1920240" cy="1188720"/>
          </a:xfrm>
          <a:prstGeom prst="roundRect">
            <a:avLst>
              <a:gd name="adj" fmla="val 7692"/>
            </a:avLst>
          </a:prstGeom>
          <a:solidFill>
            <a:schemeClr val="tx1"/>
          </a:solidFill>
          <a:ln/>
        </p:spPr>
      </p:sp>
      <p:sp>
        <p:nvSpPr>
          <p:cNvPr id="8" name="Text 5"/>
          <p:cNvSpPr txBox="1"/>
          <p:nvPr/>
        </p:nvSpPr>
        <p:spPr>
          <a:xfrm>
            <a:off x="2788920" y="1554480"/>
            <a:ext cx="1920240" cy="1188720"/>
          </a:xfrm>
          <a:prstGeom prst="rect">
            <a:avLst/>
          </a:prstGeom>
          <a:noFill/>
          <a:ln/>
        </p:spPr>
        <p:txBody>
          <a:bodyPr wrap="square" lIns="0" tIns="0" rIns="0" bIns="0" rtlCol="0" anchor="ctr"/>
          <a:lstStyle/>
          <a:p>
            <a:pPr algn="ctr" indent="0" marL="0">
              <a:buNone/>
            </a:pPr>
            <a:r>
              <a:rPr lang="en-US" sz="2000" b="1" dirty="0">
                <a:solidFill>
                  <a:schemeClr val="bg1"/>
                </a:solidFill>
              </a:rPr>
              <a:t>Servlet</a:t>
            </a:r>
            <a:endParaRPr lang="en-US" sz="1400" dirty="0"/>
          </a:p>
          <a:p>
            <a:pPr algn="ctr" indent="0" marL="0">
              <a:buNone/>
            </a:pPr>
            <a:r>
              <a:rPr lang="en-US" sz="1400" b="1" dirty="0">
                <a:solidFill>
                  <a:schemeClr val="bg1"/>
                </a:solidFill>
              </a:rPr>
              <a:t>Controller</a:t>
            </a:r>
            <a:endParaRPr lang="en-US" sz="1400" dirty="0"/>
          </a:p>
        </p:txBody>
      </p:sp>
      <p:sp>
        <p:nvSpPr>
          <p:cNvPr id="9" name="arrow"/>
          <p:cNvSpPr/>
          <p:nvPr/>
        </p:nvSpPr>
        <p:spPr>
          <a:xfrm>
            <a:off x="4754880" y="2011680"/>
            <a:ext cx="320040" cy="274320"/>
          </a:xfrm>
          <a:prstGeom prst="rightArrow">
            <a:avLst/>
          </a:prstGeom>
          <a:solidFill>
            <a:schemeClr val="accent1"/>
          </a:solidFill>
          <a:ln/>
        </p:spPr>
      </p:sp>
      <p:sp>
        <p:nvSpPr>
          <p:cNvPr id="10" name="node"/>
          <p:cNvSpPr/>
          <p:nvPr/>
        </p:nvSpPr>
        <p:spPr>
          <a:xfrm>
            <a:off x="5120640" y="1554480"/>
            <a:ext cx="1920240" cy="1188720"/>
          </a:xfrm>
          <a:prstGeom prst="roundRect">
            <a:avLst>
              <a:gd name="adj" fmla="val 7692"/>
            </a:avLst>
          </a:prstGeom>
          <a:solidFill>
            <a:schemeClr val="tx1"/>
          </a:solidFill>
          <a:ln/>
        </p:spPr>
      </p:sp>
      <p:sp>
        <p:nvSpPr>
          <p:cNvPr id="11" name="Text 8"/>
          <p:cNvSpPr txBox="1"/>
          <p:nvPr/>
        </p:nvSpPr>
        <p:spPr>
          <a:xfrm>
            <a:off x="5120640" y="1554480"/>
            <a:ext cx="1920240" cy="1188720"/>
          </a:xfrm>
          <a:prstGeom prst="rect">
            <a:avLst/>
          </a:prstGeom>
          <a:noFill/>
          <a:ln/>
        </p:spPr>
        <p:txBody>
          <a:bodyPr wrap="square" lIns="0" tIns="0" rIns="0" bIns="0" rtlCol="0" anchor="ctr"/>
          <a:lstStyle/>
          <a:p>
            <a:pPr algn="ctr" indent="0" marL="0">
              <a:buNone/>
            </a:pPr>
            <a:r>
              <a:rPr lang="en-US" sz="2000" b="1" dirty="0">
                <a:solidFill>
                  <a:schemeClr val="bg1"/>
                </a:solidFill>
              </a:rPr>
              <a:t>Service</a:t>
            </a:r>
            <a:endParaRPr lang="en-US" sz="1400" dirty="0"/>
          </a:p>
          <a:p>
            <a:pPr algn="ctr" indent="0" marL="0">
              <a:buNone/>
            </a:pPr>
            <a:r>
              <a:rPr lang="en-US" sz="1400" b="1" dirty="0">
                <a:solidFill>
                  <a:schemeClr val="bg1"/>
                </a:solidFill>
              </a:rPr>
              <a:t>Business rules</a:t>
            </a:r>
            <a:endParaRPr lang="en-US" sz="1400" dirty="0"/>
          </a:p>
        </p:txBody>
      </p:sp>
      <p:sp>
        <p:nvSpPr>
          <p:cNvPr id="12" name="arrow"/>
          <p:cNvSpPr/>
          <p:nvPr/>
        </p:nvSpPr>
        <p:spPr>
          <a:xfrm>
            <a:off x="7086600" y="2011680"/>
            <a:ext cx="320040" cy="274320"/>
          </a:xfrm>
          <a:prstGeom prst="rightArrow">
            <a:avLst/>
          </a:prstGeom>
          <a:solidFill>
            <a:schemeClr val="accent1"/>
          </a:solidFill>
          <a:ln/>
        </p:spPr>
      </p:sp>
      <p:sp>
        <p:nvSpPr>
          <p:cNvPr id="13" name="node"/>
          <p:cNvSpPr/>
          <p:nvPr/>
        </p:nvSpPr>
        <p:spPr>
          <a:xfrm>
            <a:off x="7452360" y="1554480"/>
            <a:ext cx="1920240" cy="1188720"/>
          </a:xfrm>
          <a:prstGeom prst="roundRect">
            <a:avLst>
              <a:gd name="adj" fmla="val 7692"/>
            </a:avLst>
          </a:prstGeom>
          <a:solidFill>
            <a:schemeClr val="tx1"/>
          </a:solidFill>
          <a:ln/>
        </p:spPr>
      </p:sp>
      <p:sp>
        <p:nvSpPr>
          <p:cNvPr id="14" name="Text 11"/>
          <p:cNvSpPr txBox="1"/>
          <p:nvPr/>
        </p:nvSpPr>
        <p:spPr>
          <a:xfrm>
            <a:off x="7452360" y="1554480"/>
            <a:ext cx="1920240" cy="1188720"/>
          </a:xfrm>
          <a:prstGeom prst="rect">
            <a:avLst/>
          </a:prstGeom>
          <a:noFill/>
          <a:ln/>
        </p:spPr>
        <p:txBody>
          <a:bodyPr wrap="square" lIns="0" tIns="0" rIns="0" bIns="0" rtlCol="0" anchor="ctr"/>
          <a:lstStyle/>
          <a:p>
            <a:pPr algn="ctr" indent="0" marL="0">
              <a:buNone/>
            </a:pPr>
            <a:r>
              <a:rPr lang="en-US" sz="2000" b="1" dirty="0">
                <a:solidFill>
                  <a:schemeClr val="bg1"/>
                </a:solidFill>
              </a:rPr>
              <a:t>DAO</a:t>
            </a:r>
            <a:endParaRPr lang="en-US" sz="1400" dirty="0"/>
          </a:p>
          <a:p>
            <a:pPr algn="ctr" indent="0" marL="0">
              <a:buNone/>
            </a:pPr>
            <a:r>
              <a:rPr lang="en-US" sz="1400" b="1" dirty="0">
                <a:solidFill>
                  <a:schemeClr val="bg1"/>
                </a:solidFill>
              </a:rPr>
              <a:t>JDBC queries</a:t>
            </a:r>
            <a:endParaRPr lang="en-US" sz="1400" dirty="0"/>
          </a:p>
        </p:txBody>
      </p:sp>
      <p:sp>
        <p:nvSpPr>
          <p:cNvPr id="15" name="arrow"/>
          <p:cNvSpPr/>
          <p:nvPr/>
        </p:nvSpPr>
        <p:spPr>
          <a:xfrm>
            <a:off x="9418320" y="2011680"/>
            <a:ext cx="320040" cy="274320"/>
          </a:xfrm>
          <a:prstGeom prst="rightArrow">
            <a:avLst/>
          </a:prstGeom>
          <a:solidFill>
            <a:schemeClr val="accent1"/>
          </a:solidFill>
          <a:ln/>
        </p:spPr>
      </p:sp>
      <p:sp>
        <p:nvSpPr>
          <p:cNvPr id="16" name="node"/>
          <p:cNvSpPr/>
          <p:nvPr/>
        </p:nvSpPr>
        <p:spPr>
          <a:xfrm>
            <a:off x="9784080" y="1554480"/>
            <a:ext cx="1920240" cy="1188720"/>
          </a:xfrm>
          <a:prstGeom prst="roundRect">
            <a:avLst>
              <a:gd name="adj" fmla="val 7692"/>
            </a:avLst>
          </a:prstGeom>
          <a:solidFill>
            <a:schemeClr val="accent1"/>
          </a:solidFill>
          <a:ln/>
        </p:spPr>
      </p:sp>
      <p:sp>
        <p:nvSpPr>
          <p:cNvPr id="17" name="Text 14"/>
          <p:cNvSpPr txBox="1"/>
          <p:nvPr/>
        </p:nvSpPr>
        <p:spPr>
          <a:xfrm>
            <a:off x="9784080" y="1554480"/>
            <a:ext cx="1920240" cy="1188720"/>
          </a:xfrm>
          <a:prstGeom prst="rect">
            <a:avLst/>
          </a:prstGeom>
          <a:noFill/>
          <a:ln/>
        </p:spPr>
        <p:txBody>
          <a:bodyPr wrap="square" lIns="0" tIns="0" rIns="0" bIns="0" rtlCol="0" anchor="ctr"/>
          <a:lstStyle/>
          <a:p>
            <a:pPr algn="ctr" indent="0" marL="0">
              <a:buNone/>
            </a:pPr>
            <a:r>
              <a:rPr lang="en-US" sz="2000" b="1" dirty="0">
                <a:solidFill>
                  <a:schemeClr val="bg1"/>
                </a:solidFill>
              </a:rPr>
              <a:t>MySQL</a:t>
            </a:r>
            <a:endParaRPr lang="en-US" sz="1400" dirty="0"/>
          </a:p>
          <a:p>
            <a:pPr algn="ctr" indent="0" marL="0">
              <a:buNone/>
            </a:pPr>
            <a:r>
              <a:rPr lang="en-US" sz="1400" b="1" dirty="0">
                <a:solidFill>
                  <a:schemeClr val="bg1"/>
                </a:solidFill>
              </a:rPr>
              <a:t>fitpro database</a:t>
            </a:r>
            <a:endParaRPr lang="en-US" sz="1400" dirty="0"/>
          </a:p>
        </p:txBody>
      </p:sp>
      <p:sp>
        <p:nvSpPr>
          <p:cNvPr id="18" name="Text 15"/>
          <p:cNvSpPr txBox="1"/>
          <p:nvPr/>
        </p:nvSpPr>
        <p:spPr>
          <a:xfrm>
            <a:off x="2788920" y="2880360"/>
            <a:ext cx="1920240" cy="365760"/>
          </a:xfrm>
          <a:prstGeom prst="rect">
            <a:avLst/>
          </a:prstGeom>
          <a:noFill/>
          <a:ln/>
        </p:spPr>
        <p:txBody>
          <a:bodyPr wrap="square" lIns="0" tIns="0" rIns="0" bIns="0" rtlCol="0" anchor="t"/>
          <a:lstStyle/>
          <a:p>
            <a:pPr algn="ctr" indent="0" marL="0">
              <a:buNone/>
            </a:pPr>
            <a:r>
              <a:rPr lang="en-US" sz="1400" dirty="0">
                <a:solidFill>
                  <a:schemeClr val="accent5"/>
                </a:solidFill>
              </a:rPr>
              <a:t>com.fitpro.servlet</a:t>
            </a:r>
            <a:endParaRPr lang="en-US" sz="1400" dirty="0"/>
          </a:p>
        </p:txBody>
      </p:sp>
      <p:sp>
        <p:nvSpPr>
          <p:cNvPr id="19" name="Text 16"/>
          <p:cNvSpPr txBox="1"/>
          <p:nvPr/>
        </p:nvSpPr>
        <p:spPr>
          <a:xfrm>
            <a:off x="5120640" y="2880360"/>
            <a:ext cx="1920240" cy="365760"/>
          </a:xfrm>
          <a:prstGeom prst="rect">
            <a:avLst/>
          </a:prstGeom>
          <a:noFill/>
          <a:ln/>
        </p:spPr>
        <p:txBody>
          <a:bodyPr wrap="square" lIns="0" tIns="0" rIns="0" bIns="0" rtlCol="0" anchor="t"/>
          <a:lstStyle/>
          <a:p>
            <a:pPr algn="ctr" indent="0" marL="0">
              <a:buNone/>
            </a:pPr>
            <a:r>
              <a:rPr lang="en-US" sz="1400" dirty="0">
                <a:solidFill>
                  <a:schemeClr val="accent5"/>
                </a:solidFill>
              </a:rPr>
              <a:t>com.fitpro.service</a:t>
            </a:r>
            <a:endParaRPr lang="en-US" sz="1400" dirty="0"/>
          </a:p>
        </p:txBody>
      </p:sp>
      <p:sp>
        <p:nvSpPr>
          <p:cNvPr id="20" name="Text 17"/>
          <p:cNvSpPr txBox="1"/>
          <p:nvPr/>
        </p:nvSpPr>
        <p:spPr>
          <a:xfrm>
            <a:off x="7452360" y="2880360"/>
            <a:ext cx="1920240" cy="365760"/>
          </a:xfrm>
          <a:prstGeom prst="rect">
            <a:avLst/>
          </a:prstGeom>
          <a:noFill/>
          <a:ln/>
        </p:spPr>
        <p:txBody>
          <a:bodyPr wrap="square" lIns="0" tIns="0" rIns="0" bIns="0" rtlCol="0" anchor="t"/>
          <a:lstStyle/>
          <a:p>
            <a:pPr algn="ctr" indent="0" marL="0">
              <a:buNone/>
            </a:pPr>
            <a:r>
              <a:rPr lang="en-US" sz="1400" dirty="0">
                <a:solidFill>
                  <a:schemeClr val="accent5"/>
                </a:solidFill>
              </a:rPr>
              <a:t>com.fitpro.dao</a:t>
            </a:r>
            <a:endParaRPr lang="en-US" sz="1400" dirty="0"/>
          </a:p>
        </p:txBody>
      </p:sp>
      <p:sp>
        <p:nvSpPr>
          <p:cNvPr id="21" name="layer-card"/>
          <p:cNvSpPr/>
          <p:nvPr/>
        </p:nvSpPr>
        <p:spPr>
          <a:xfrm>
            <a:off x="548640" y="3749040"/>
            <a:ext cx="3566160" cy="2286000"/>
          </a:xfrm>
          <a:prstGeom prst="roundRect">
            <a:avLst>
              <a:gd name="adj" fmla="val 4800"/>
            </a:avLst>
          </a:prstGeom>
          <a:solidFill>
            <a:schemeClr val="bg2"/>
          </a:solidFill>
          <a:ln/>
        </p:spPr>
      </p:sp>
      <p:sp>
        <p:nvSpPr>
          <p:cNvPr id="22" name="Text 19"/>
          <p:cNvSpPr txBox="1"/>
          <p:nvPr/>
        </p:nvSpPr>
        <p:spPr>
          <a:xfrm>
            <a:off x="822960" y="3977640"/>
            <a:ext cx="3017520" cy="411480"/>
          </a:xfrm>
          <a:prstGeom prst="rect">
            <a:avLst/>
          </a:prstGeom>
          <a:noFill/>
          <a:ln/>
        </p:spPr>
        <p:txBody>
          <a:bodyPr wrap="square" lIns="0" tIns="0" rIns="0" bIns="0" rtlCol="0" anchor="t"/>
          <a:lstStyle/>
          <a:p>
            <a:pPr indent="0" marL="0">
              <a:buNone/>
            </a:pPr>
            <a:r>
              <a:rPr lang="en-US" sz="1800" b="1" dirty="0">
                <a:solidFill>
                  <a:schemeClr val="tx1"/>
                </a:solidFill>
              </a:rPr>
              <a:t>AuthFilter</a:t>
            </a:r>
            <a:endParaRPr lang="en-US" sz="1800" dirty="0"/>
          </a:p>
        </p:txBody>
      </p:sp>
      <p:sp>
        <p:nvSpPr>
          <p:cNvPr id="23" name="Text 20"/>
          <p:cNvSpPr txBox="1"/>
          <p:nvPr/>
        </p:nvSpPr>
        <p:spPr>
          <a:xfrm>
            <a:off x="822960" y="4526280"/>
            <a:ext cx="3017520" cy="1371600"/>
          </a:xfrm>
          <a:prstGeom prst="rect">
            <a:avLst/>
          </a:prstGeom>
          <a:noFill/>
          <a:ln/>
        </p:spPr>
        <p:txBody>
          <a:bodyPr wrap="square" lIns="0" tIns="0" rIns="0" bIns="0" rtlCol="0" anchor="t"/>
          <a:lstStyle/>
          <a:p>
            <a:pPr indent="0" marL="0">
              <a:buNone/>
            </a:pPr>
            <a:r>
              <a:rPr lang="en-US" sz="1400" dirty="0">
                <a:solidFill>
                  <a:schemeClr val="tx1"/>
                </a:solidFill>
              </a:rPr>
              <a:t>Every /app/* request is checked for a logged-in session before it reaches a servlet.</a:t>
            </a:r>
            <a:endParaRPr lang="en-US" sz="1400" dirty="0"/>
          </a:p>
        </p:txBody>
      </p:sp>
      <p:sp>
        <p:nvSpPr>
          <p:cNvPr id="24" name="layer-card"/>
          <p:cNvSpPr/>
          <p:nvPr/>
        </p:nvSpPr>
        <p:spPr>
          <a:xfrm>
            <a:off x="4389120" y="3749040"/>
            <a:ext cx="3566160" cy="2286000"/>
          </a:xfrm>
          <a:prstGeom prst="roundRect">
            <a:avLst>
              <a:gd name="adj" fmla="val 4800"/>
            </a:avLst>
          </a:prstGeom>
          <a:solidFill>
            <a:schemeClr val="bg2"/>
          </a:solidFill>
          <a:ln/>
        </p:spPr>
      </p:sp>
      <p:sp>
        <p:nvSpPr>
          <p:cNvPr id="25" name="Text 22"/>
          <p:cNvSpPr txBox="1"/>
          <p:nvPr/>
        </p:nvSpPr>
        <p:spPr>
          <a:xfrm>
            <a:off x="4663440" y="3977640"/>
            <a:ext cx="3017520" cy="411480"/>
          </a:xfrm>
          <a:prstGeom prst="rect">
            <a:avLst/>
          </a:prstGeom>
          <a:noFill/>
          <a:ln/>
        </p:spPr>
        <p:txBody>
          <a:bodyPr wrap="square" lIns="0" tIns="0" rIns="0" bIns="0" rtlCol="0" anchor="t"/>
          <a:lstStyle/>
          <a:p>
            <a:pPr indent="0" marL="0">
              <a:buNone/>
            </a:pPr>
            <a:r>
              <a:rPr lang="en-US" sz="1800" b="1" dirty="0">
                <a:solidFill>
                  <a:schemeClr val="tx1"/>
                </a:solidFill>
              </a:rPr>
              <a:t>Service layer</a:t>
            </a:r>
            <a:endParaRPr lang="en-US" sz="1800" dirty="0"/>
          </a:p>
        </p:txBody>
      </p:sp>
      <p:sp>
        <p:nvSpPr>
          <p:cNvPr id="26" name="Text 23"/>
          <p:cNvSpPr txBox="1"/>
          <p:nvPr/>
        </p:nvSpPr>
        <p:spPr>
          <a:xfrm>
            <a:off x="4663440" y="4526280"/>
            <a:ext cx="3017520" cy="1371600"/>
          </a:xfrm>
          <a:prstGeom prst="rect">
            <a:avLst/>
          </a:prstGeom>
          <a:noFill/>
          <a:ln/>
        </p:spPr>
        <p:txBody>
          <a:bodyPr wrap="square" lIns="0" tIns="0" rIns="0" bIns="0" rtlCol="0" anchor="t"/>
          <a:lstStyle/>
          <a:p>
            <a:pPr indent="0" marL="0">
              <a:buNone/>
            </a:pPr>
            <a:r>
              <a:rPr lang="en-US" sz="1400" dirty="0">
                <a:solidFill>
                  <a:schemeClr val="tx1"/>
                </a:solidFill>
              </a:rPr>
              <a:t>Validation and rules live here, so servlets stay thin and DAOs contain only SQL.</a:t>
            </a:r>
            <a:endParaRPr lang="en-US" sz="1400" dirty="0"/>
          </a:p>
        </p:txBody>
      </p:sp>
      <p:sp>
        <p:nvSpPr>
          <p:cNvPr id="27" name="layer-card"/>
          <p:cNvSpPr/>
          <p:nvPr/>
        </p:nvSpPr>
        <p:spPr>
          <a:xfrm>
            <a:off x="8229600" y="3749040"/>
            <a:ext cx="3566160" cy="2286000"/>
          </a:xfrm>
          <a:prstGeom prst="roundRect">
            <a:avLst>
              <a:gd name="adj" fmla="val 4800"/>
            </a:avLst>
          </a:prstGeom>
          <a:solidFill>
            <a:schemeClr val="bg2"/>
          </a:solidFill>
          <a:ln/>
        </p:spPr>
      </p:sp>
      <p:sp>
        <p:nvSpPr>
          <p:cNvPr id="28" name="Text 25"/>
          <p:cNvSpPr txBox="1"/>
          <p:nvPr/>
        </p:nvSpPr>
        <p:spPr>
          <a:xfrm>
            <a:off x="8503920" y="3977640"/>
            <a:ext cx="3017520" cy="411480"/>
          </a:xfrm>
          <a:prstGeom prst="rect">
            <a:avLst/>
          </a:prstGeom>
          <a:noFill/>
          <a:ln/>
        </p:spPr>
        <p:txBody>
          <a:bodyPr wrap="square" lIns="0" tIns="0" rIns="0" bIns="0" rtlCol="0" anchor="t"/>
          <a:lstStyle/>
          <a:p>
            <a:pPr indent="0" marL="0">
              <a:buNone/>
            </a:pPr>
            <a:r>
              <a:rPr lang="en-US" sz="1800" b="1" dirty="0">
                <a:solidFill>
                  <a:schemeClr val="tx1"/>
                </a:solidFill>
              </a:rPr>
              <a:t>Listener and threads</a:t>
            </a:r>
            <a:endParaRPr lang="en-US" sz="1800" dirty="0"/>
          </a:p>
        </p:txBody>
      </p:sp>
      <p:sp>
        <p:nvSpPr>
          <p:cNvPr id="29" name="Text 26"/>
          <p:cNvSpPr txBox="1"/>
          <p:nvPr/>
        </p:nvSpPr>
        <p:spPr>
          <a:xfrm>
            <a:off x="8503920" y="4526280"/>
            <a:ext cx="3017520" cy="1371600"/>
          </a:xfrm>
          <a:prstGeom prst="rect">
            <a:avLst/>
          </a:prstGeom>
          <a:noFill/>
          <a:ln/>
        </p:spPr>
        <p:txBody>
          <a:bodyPr wrap="square" lIns="0" tIns="0" rIns="0" bIns="0" rtlCol="0" anchor="t"/>
          <a:lstStyle/>
          <a:p>
            <a:pPr indent="0" marL="0">
              <a:buNone/>
            </a:pPr>
            <a:r>
              <a:rPr lang="en-US" sz="1400" dirty="0">
                <a:solidFill>
                  <a:schemeClr val="tx1"/>
                </a:solidFill>
              </a:rPr>
              <a:t>AppContextListener stops the notification thread pool when the app is undeployed.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Project structure</a:t>
            </a:r>
            <a:endParaRPr lang="en-US" sz="3400" dirty="0"/>
          </a:p>
        </p:txBody>
      </p:sp>
      <p:sp>
        <p:nvSpPr>
          <p:cNvPr id="4" name="tree-card"/>
          <p:cNvSpPr/>
          <p:nvPr/>
        </p:nvSpPr>
        <p:spPr>
          <a:xfrm>
            <a:off x="548640" y="1463040"/>
            <a:ext cx="6766560" cy="4572000"/>
          </a:xfrm>
          <a:prstGeom prst="roundRect">
            <a:avLst>
              <a:gd name="adj" fmla="val 2400"/>
            </a:avLst>
          </a:prstGeom>
          <a:solidFill>
            <a:schemeClr val="tx1"/>
          </a:solidFill>
          <a:ln/>
        </p:spPr>
      </p:sp>
      <p:sp>
        <p:nvSpPr>
          <p:cNvPr id="5" name="Text 2"/>
          <p:cNvSpPr txBox="1"/>
          <p:nvPr/>
        </p:nvSpPr>
        <p:spPr>
          <a:xfrm>
            <a:off x="868680" y="1737360"/>
            <a:ext cx="6217920" cy="402336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fitpro/</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pom.xml</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README.md</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database/schema.sql</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src/main/</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 java/com/fitpro/</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   |-- model/     entities (OOP)</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   |-- dao/       JDBC classes</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   |-- service/   business logic</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   |-- servlet/   controllers</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   |-- filter/ listener/</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   `-- util/ exception/</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 resources/db.properties</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 webapp/ css, js, JSP views</a:t>
            </a:r>
            <a:endParaRPr lang="en-US" sz="1500" dirty="0"/>
          </a:p>
        </p:txBody>
      </p:sp>
      <p:sp>
        <p:nvSpPr>
          <p:cNvPr id="6" name="stat-card"/>
          <p:cNvSpPr/>
          <p:nvPr/>
        </p:nvSpPr>
        <p:spPr>
          <a:xfrm>
            <a:off x="7680960" y="1463040"/>
            <a:ext cx="1920240" cy="2103120"/>
          </a:xfrm>
          <a:prstGeom prst="roundRect">
            <a:avLst>
              <a:gd name="adj" fmla="val 5714"/>
            </a:avLst>
          </a:prstGeom>
          <a:solidFill>
            <a:schemeClr val="bg2"/>
          </a:solidFill>
          <a:ln/>
        </p:spPr>
      </p:sp>
      <p:sp>
        <p:nvSpPr>
          <p:cNvPr id="7" name="Text 4"/>
          <p:cNvSpPr txBox="1"/>
          <p:nvPr/>
        </p:nvSpPr>
        <p:spPr>
          <a:xfrm>
            <a:off x="7680960" y="1783080"/>
            <a:ext cx="1920240" cy="914400"/>
          </a:xfrm>
          <a:prstGeom prst="rect">
            <a:avLst/>
          </a:prstGeom>
          <a:noFill/>
          <a:ln/>
        </p:spPr>
        <p:txBody>
          <a:bodyPr wrap="square" lIns="0" tIns="0" rIns="0" bIns="0" rtlCol="0" anchor="t"/>
          <a:lstStyle/>
          <a:p>
            <a:pPr algn="ctr" indent="0" marL="0">
              <a:buNone/>
            </a:pPr>
            <a:r>
              <a:rPr lang="en-US" sz="5400" b="1" dirty="0">
                <a:solidFill>
                  <a:schemeClr val="accent1"/>
                </a:solidFill>
              </a:rPr>
              <a:t>29</a:t>
            </a:r>
            <a:endParaRPr lang="en-US" sz="5400" dirty="0"/>
          </a:p>
        </p:txBody>
      </p:sp>
      <p:sp>
        <p:nvSpPr>
          <p:cNvPr id="8" name="Text 5"/>
          <p:cNvSpPr txBox="1"/>
          <p:nvPr/>
        </p:nvSpPr>
        <p:spPr>
          <a:xfrm>
            <a:off x="7680960" y="2834640"/>
            <a:ext cx="1920240" cy="365760"/>
          </a:xfrm>
          <a:prstGeom prst="rect">
            <a:avLst/>
          </a:prstGeom>
          <a:noFill/>
          <a:ln/>
        </p:spPr>
        <p:txBody>
          <a:bodyPr wrap="square" lIns="0" tIns="0" rIns="0" bIns="0" rtlCol="0" anchor="t"/>
          <a:lstStyle/>
          <a:p>
            <a:pPr algn="ctr" indent="0" marL="0">
              <a:buNone/>
            </a:pPr>
            <a:r>
              <a:rPr lang="en-US" sz="1600" dirty="0">
                <a:solidFill>
                  <a:schemeClr val="tx1"/>
                </a:solidFill>
              </a:rPr>
              <a:t>Java classes</a:t>
            </a:r>
            <a:endParaRPr lang="en-US" sz="1600" dirty="0"/>
          </a:p>
        </p:txBody>
      </p:sp>
      <p:sp>
        <p:nvSpPr>
          <p:cNvPr id="9" name="stat-card"/>
          <p:cNvSpPr/>
          <p:nvPr/>
        </p:nvSpPr>
        <p:spPr>
          <a:xfrm>
            <a:off x="9829800" y="1463040"/>
            <a:ext cx="1920240" cy="2103120"/>
          </a:xfrm>
          <a:prstGeom prst="roundRect">
            <a:avLst>
              <a:gd name="adj" fmla="val 5714"/>
            </a:avLst>
          </a:prstGeom>
          <a:solidFill>
            <a:schemeClr val="bg2"/>
          </a:solidFill>
          <a:ln/>
        </p:spPr>
      </p:sp>
      <p:sp>
        <p:nvSpPr>
          <p:cNvPr id="10" name="Text 7"/>
          <p:cNvSpPr txBox="1"/>
          <p:nvPr/>
        </p:nvSpPr>
        <p:spPr>
          <a:xfrm>
            <a:off x="9829800" y="1783080"/>
            <a:ext cx="1920240" cy="914400"/>
          </a:xfrm>
          <a:prstGeom prst="rect">
            <a:avLst/>
          </a:prstGeom>
          <a:noFill/>
          <a:ln/>
        </p:spPr>
        <p:txBody>
          <a:bodyPr wrap="square" lIns="0" tIns="0" rIns="0" bIns="0" rtlCol="0" anchor="t"/>
          <a:lstStyle/>
          <a:p>
            <a:pPr algn="ctr" indent="0" marL="0">
              <a:buNone/>
            </a:pPr>
            <a:r>
              <a:rPr lang="en-US" sz="5400" b="1" dirty="0">
                <a:solidFill>
                  <a:schemeClr val="accent1"/>
                </a:solidFill>
              </a:rPr>
              <a:t>7</a:t>
            </a:r>
            <a:endParaRPr lang="en-US" sz="5400" dirty="0"/>
          </a:p>
        </p:txBody>
      </p:sp>
      <p:sp>
        <p:nvSpPr>
          <p:cNvPr id="11" name="Text 8"/>
          <p:cNvSpPr txBox="1"/>
          <p:nvPr/>
        </p:nvSpPr>
        <p:spPr>
          <a:xfrm>
            <a:off x="9829800" y="2834640"/>
            <a:ext cx="1920240" cy="365760"/>
          </a:xfrm>
          <a:prstGeom prst="rect">
            <a:avLst/>
          </a:prstGeom>
          <a:noFill/>
          <a:ln/>
        </p:spPr>
        <p:txBody>
          <a:bodyPr wrap="square" lIns="0" tIns="0" rIns="0" bIns="0" rtlCol="0" anchor="t"/>
          <a:lstStyle/>
          <a:p>
            <a:pPr algn="ctr" indent="0" marL="0">
              <a:buNone/>
            </a:pPr>
            <a:r>
              <a:rPr lang="en-US" sz="1600" dirty="0">
                <a:solidFill>
                  <a:schemeClr val="tx1"/>
                </a:solidFill>
              </a:rPr>
              <a:t>JSP pages</a:t>
            </a:r>
            <a:endParaRPr lang="en-US" sz="1600" dirty="0"/>
          </a:p>
        </p:txBody>
      </p:sp>
      <p:sp>
        <p:nvSpPr>
          <p:cNvPr id="12" name="stat-card"/>
          <p:cNvSpPr/>
          <p:nvPr/>
        </p:nvSpPr>
        <p:spPr>
          <a:xfrm>
            <a:off x="7680960" y="3749040"/>
            <a:ext cx="1920240" cy="2103120"/>
          </a:xfrm>
          <a:prstGeom prst="roundRect">
            <a:avLst>
              <a:gd name="adj" fmla="val 5714"/>
            </a:avLst>
          </a:prstGeom>
          <a:solidFill>
            <a:schemeClr val="bg2"/>
          </a:solidFill>
          <a:ln/>
        </p:spPr>
      </p:sp>
      <p:sp>
        <p:nvSpPr>
          <p:cNvPr id="13" name="Text 10"/>
          <p:cNvSpPr txBox="1"/>
          <p:nvPr/>
        </p:nvSpPr>
        <p:spPr>
          <a:xfrm>
            <a:off x="7680960" y="4069080"/>
            <a:ext cx="1920240" cy="914400"/>
          </a:xfrm>
          <a:prstGeom prst="rect">
            <a:avLst/>
          </a:prstGeom>
          <a:noFill/>
          <a:ln/>
        </p:spPr>
        <p:txBody>
          <a:bodyPr wrap="square" lIns="0" tIns="0" rIns="0" bIns="0" rtlCol="0" anchor="t"/>
          <a:lstStyle/>
          <a:p>
            <a:pPr algn="ctr" indent="0" marL="0">
              <a:buNone/>
            </a:pPr>
            <a:r>
              <a:rPr lang="en-US" sz="5400" b="1" dirty="0">
                <a:solidFill>
                  <a:schemeClr val="accent1"/>
                </a:solidFill>
              </a:rPr>
              <a:t>4</a:t>
            </a:r>
            <a:endParaRPr lang="en-US" sz="5400" dirty="0"/>
          </a:p>
        </p:txBody>
      </p:sp>
      <p:sp>
        <p:nvSpPr>
          <p:cNvPr id="14" name="Text 11"/>
          <p:cNvSpPr txBox="1"/>
          <p:nvPr/>
        </p:nvSpPr>
        <p:spPr>
          <a:xfrm>
            <a:off x="7680960" y="5120640"/>
            <a:ext cx="1920240" cy="365760"/>
          </a:xfrm>
          <a:prstGeom prst="rect">
            <a:avLst/>
          </a:prstGeom>
          <a:noFill/>
          <a:ln/>
        </p:spPr>
        <p:txBody>
          <a:bodyPr wrap="square" lIns="0" tIns="0" rIns="0" bIns="0" rtlCol="0" anchor="t"/>
          <a:lstStyle/>
          <a:p>
            <a:pPr algn="ctr" indent="0" marL="0">
              <a:buNone/>
            </a:pPr>
            <a:r>
              <a:rPr lang="en-US" sz="1600" dirty="0">
                <a:solidFill>
                  <a:schemeClr val="tx1"/>
                </a:solidFill>
              </a:rPr>
              <a:t>DB tables</a:t>
            </a:r>
            <a:endParaRPr lang="en-US" sz="1600" dirty="0"/>
          </a:p>
        </p:txBody>
      </p:sp>
      <p:sp>
        <p:nvSpPr>
          <p:cNvPr id="15" name="stat-card"/>
          <p:cNvSpPr/>
          <p:nvPr/>
        </p:nvSpPr>
        <p:spPr>
          <a:xfrm>
            <a:off x="9829800" y="3749040"/>
            <a:ext cx="1920240" cy="2103120"/>
          </a:xfrm>
          <a:prstGeom prst="roundRect">
            <a:avLst>
              <a:gd name="adj" fmla="val 5714"/>
            </a:avLst>
          </a:prstGeom>
          <a:solidFill>
            <a:schemeClr val="bg2"/>
          </a:solidFill>
          <a:ln/>
        </p:spPr>
      </p:sp>
      <p:sp>
        <p:nvSpPr>
          <p:cNvPr id="16" name="Text 13"/>
          <p:cNvSpPr txBox="1"/>
          <p:nvPr/>
        </p:nvSpPr>
        <p:spPr>
          <a:xfrm>
            <a:off x="9829800" y="4069080"/>
            <a:ext cx="1920240" cy="914400"/>
          </a:xfrm>
          <a:prstGeom prst="rect">
            <a:avLst/>
          </a:prstGeom>
          <a:noFill/>
          <a:ln/>
        </p:spPr>
        <p:txBody>
          <a:bodyPr wrap="square" lIns="0" tIns="0" rIns="0" bIns="0" rtlCol="0" anchor="t"/>
          <a:lstStyle/>
          <a:p>
            <a:pPr algn="ctr" indent="0" marL="0">
              <a:buNone/>
            </a:pPr>
            <a:r>
              <a:rPr lang="en-US" sz="5400" b="1" dirty="0">
                <a:solidFill>
                  <a:schemeClr val="accent1"/>
                </a:solidFill>
              </a:rPr>
              <a:t>6</a:t>
            </a:r>
            <a:endParaRPr lang="en-US" sz="5400" dirty="0"/>
          </a:p>
        </p:txBody>
      </p:sp>
      <p:sp>
        <p:nvSpPr>
          <p:cNvPr id="17" name="Text 14"/>
          <p:cNvSpPr txBox="1"/>
          <p:nvPr/>
        </p:nvSpPr>
        <p:spPr>
          <a:xfrm>
            <a:off x="9829800" y="5120640"/>
            <a:ext cx="1920240" cy="365760"/>
          </a:xfrm>
          <a:prstGeom prst="rect">
            <a:avLst/>
          </a:prstGeom>
          <a:noFill/>
          <a:ln/>
        </p:spPr>
        <p:txBody>
          <a:bodyPr wrap="square" lIns="0" tIns="0" rIns="0" bIns="0" rtlCol="0" anchor="t"/>
          <a:lstStyle/>
          <a:p>
            <a:pPr algn="ctr" indent="0" marL="0">
              <a:buNone/>
            </a:pPr>
            <a:r>
              <a:rPr lang="en-US" sz="1600" dirty="0">
                <a:solidFill>
                  <a:schemeClr val="tx1"/>
                </a:solidFill>
              </a:rPr>
              <a:t>Servlets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Database design</a:t>
            </a:r>
            <a:endParaRPr lang="en-US" sz="3400" dirty="0"/>
          </a:p>
        </p:txBody>
      </p:sp>
      <p:sp>
        <p:nvSpPr>
          <p:cNvPr id="4" name="table-card"/>
          <p:cNvSpPr/>
          <p:nvPr/>
        </p:nvSpPr>
        <p:spPr>
          <a:xfrm>
            <a:off x="457200" y="1463040"/>
            <a:ext cx="2651760" cy="3383280"/>
          </a:xfrm>
          <a:prstGeom prst="roundRect">
            <a:avLst>
              <a:gd name="adj" fmla="val 4138"/>
            </a:avLst>
          </a:prstGeom>
          <a:solidFill>
            <a:schemeClr val="bg2"/>
          </a:solidFill>
          <a:ln/>
        </p:spPr>
      </p:sp>
      <p:sp>
        <p:nvSpPr>
          <p:cNvPr id="5" name="table-head"/>
          <p:cNvSpPr/>
          <p:nvPr/>
        </p:nvSpPr>
        <p:spPr>
          <a:xfrm>
            <a:off x="457200" y="1463040"/>
            <a:ext cx="2651760" cy="594360"/>
          </a:xfrm>
          <a:prstGeom prst="roundRect">
            <a:avLst>
              <a:gd name="adj" fmla="val 15385"/>
            </a:avLst>
          </a:prstGeom>
          <a:solidFill>
            <a:schemeClr val="tx1"/>
          </a:solidFill>
          <a:ln/>
        </p:spPr>
      </p:sp>
      <p:sp>
        <p:nvSpPr>
          <p:cNvPr id="6" name="Text 3"/>
          <p:cNvSpPr txBox="1"/>
          <p:nvPr/>
        </p:nvSpPr>
        <p:spPr>
          <a:xfrm>
            <a:off x="457200" y="1463040"/>
            <a:ext cx="2651760" cy="594360"/>
          </a:xfrm>
          <a:prstGeom prst="rect">
            <a:avLst/>
          </a:prstGeom>
          <a:noFill/>
          <a:ln/>
        </p:spPr>
        <p:txBody>
          <a:bodyPr wrap="square" lIns="0" tIns="0" rIns="0" bIns="0" rtlCol="0" anchor="ctr"/>
          <a:lstStyle/>
          <a:p>
            <a:pPr algn="ctr" indent="0" marL="0">
              <a:buNone/>
            </a:pPr>
            <a:r>
              <a:rPr lang="en-US" sz="1800" b="1" dirty="0">
                <a:solidFill>
                  <a:schemeClr val="bg1"/>
                </a:solidFill>
              </a:rPr>
              <a:t>users</a:t>
            </a:r>
            <a:endParaRPr lang="en-US" sz="1800" dirty="0"/>
          </a:p>
        </p:txBody>
      </p:sp>
      <p:sp>
        <p:nvSpPr>
          <p:cNvPr id="7" name="Text 4"/>
          <p:cNvSpPr txBox="1"/>
          <p:nvPr/>
        </p:nvSpPr>
        <p:spPr>
          <a:xfrm>
            <a:off x="685800" y="2286000"/>
            <a:ext cx="2286000" cy="237744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id (PK)</a:t>
            </a:r>
            <a:endParaRPr lang="en-US" sz="1400" dirty="0"/>
          </a:p>
          <a:p>
            <a:pPr indent="0" marL="0">
              <a:spcAft>
                <a:spcPts val="600"/>
              </a:spcAft>
              <a:buNone/>
            </a:pPr>
            <a:r>
              <a:rPr lang="en-US" sz="1400" dirty="0">
                <a:solidFill>
                  <a:schemeClr val="tx1"/>
                </a:solidFill>
              </a:rPr>
              <a:t>full_name</a:t>
            </a:r>
            <a:endParaRPr lang="en-US" sz="1400" dirty="0"/>
          </a:p>
          <a:p>
            <a:pPr indent="0" marL="0">
              <a:spcAft>
                <a:spcPts val="600"/>
              </a:spcAft>
              <a:buNone/>
            </a:pPr>
            <a:r>
              <a:rPr lang="en-US" sz="1400" dirty="0">
                <a:solidFill>
                  <a:schemeClr val="tx1"/>
                </a:solidFill>
              </a:rPr>
              <a:t>email (UNIQUE)</a:t>
            </a:r>
            <a:endParaRPr lang="en-US" sz="1400" dirty="0"/>
          </a:p>
          <a:p>
            <a:pPr indent="0" marL="0">
              <a:spcAft>
                <a:spcPts val="600"/>
              </a:spcAft>
              <a:buNone/>
            </a:pPr>
            <a:r>
              <a:rPr lang="en-US" sz="1400" dirty="0">
                <a:solidFill>
                  <a:schemeClr val="tx1"/>
                </a:solidFill>
              </a:rPr>
              <a:t>password_hash</a:t>
            </a:r>
            <a:endParaRPr lang="en-US" sz="1400" dirty="0"/>
          </a:p>
          <a:p>
            <a:pPr indent="0" marL="0">
              <a:spcAft>
                <a:spcPts val="600"/>
              </a:spcAft>
              <a:buNone/>
            </a:pPr>
            <a:r>
              <a:rPr lang="en-US" sz="1400" dirty="0">
                <a:solidFill>
                  <a:schemeClr val="tx1"/>
                </a:solidFill>
              </a:rPr>
              <a:t>role: MEMBER / TRAINER</a:t>
            </a:r>
            <a:endParaRPr lang="en-US" sz="1400" dirty="0"/>
          </a:p>
        </p:txBody>
      </p:sp>
      <p:sp>
        <p:nvSpPr>
          <p:cNvPr id="8" name="table-card"/>
          <p:cNvSpPr/>
          <p:nvPr/>
        </p:nvSpPr>
        <p:spPr>
          <a:xfrm>
            <a:off x="3291840" y="1463040"/>
            <a:ext cx="2651760" cy="3383280"/>
          </a:xfrm>
          <a:prstGeom prst="roundRect">
            <a:avLst>
              <a:gd name="adj" fmla="val 4138"/>
            </a:avLst>
          </a:prstGeom>
          <a:solidFill>
            <a:schemeClr val="bg2"/>
          </a:solidFill>
          <a:ln/>
        </p:spPr>
      </p:sp>
      <p:sp>
        <p:nvSpPr>
          <p:cNvPr id="9" name="table-head"/>
          <p:cNvSpPr/>
          <p:nvPr/>
        </p:nvSpPr>
        <p:spPr>
          <a:xfrm>
            <a:off x="3291840" y="1463040"/>
            <a:ext cx="2651760" cy="594360"/>
          </a:xfrm>
          <a:prstGeom prst="roundRect">
            <a:avLst>
              <a:gd name="adj" fmla="val 15385"/>
            </a:avLst>
          </a:prstGeom>
          <a:solidFill>
            <a:schemeClr val="tx1"/>
          </a:solidFill>
          <a:ln/>
        </p:spPr>
      </p:sp>
      <p:sp>
        <p:nvSpPr>
          <p:cNvPr id="10" name="Text 7"/>
          <p:cNvSpPr txBox="1"/>
          <p:nvPr/>
        </p:nvSpPr>
        <p:spPr>
          <a:xfrm>
            <a:off x="3291840" y="1463040"/>
            <a:ext cx="2651760" cy="594360"/>
          </a:xfrm>
          <a:prstGeom prst="rect">
            <a:avLst/>
          </a:prstGeom>
          <a:noFill/>
          <a:ln/>
        </p:spPr>
        <p:txBody>
          <a:bodyPr wrap="square" lIns="0" tIns="0" rIns="0" bIns="0" rtlCol="0" anchor="ctr"/>
          <a:lstStyle/>
          <a:p>
            <a:pPr algn="ctr" indent="0" marL="0">
              <a:buNone/>
            </a:pPr>
            <a:r>
              <a:rPr lang="en-US" sz="1800" b="1" dirty="0">
                <a:solidFill>
                  <a:schemeClr val="bg1"/>
                </a:solidFill>
              </a:rPr>
              <a:t>workouts</a:t>
            </a:r>
            <a:endParaRPr lang="en-US" sz="1800" dirty="0"/>
          </a:p>
        </p:txBody>
      </p:sp>
      <p:sp>
        <p:nvSpPr>
          <p:cNvPr id="11" name="Text 8"/>
          <p:cNvSpPr txBox="1"/>
          <p:nvPr/>
        </p:nvSpPr>
        <p:spPr>
          <a:xfrm>
            <a:off x="3520440" y="2286000"/>
            <a:ext cx="2286000" cy="237744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id (PK)</a:t>
            </a:r>
            <a:endParaRPr lang="en-US" sz="1400" dirty="0"/>
          </a:p>
          <a:p>
            <a:pPr indent="0" marL="0">
              <a:spcAft>
                <a:spcPts val="600"/>
              </a:spcAft>
              <a:buNone/>
            </a:pPr>
            <a:r>
              <a:rPr lang="en-US" sz="1400" dirty="0">
                <a:solidFill>
                  <a:schemeClr val="tx1"/>
                </a:solidFill>
              </a:rPr>
              <a:t>title, description</a:t>
            </a:r>
            <a:endParaRPr lang="en-US" sz="1400" dirty="0"/>
          </a:p>
          <a:p>
            <a:pPr indent="0" marL="0">
              <a:spcAft>
                <a:spcPts val="600"/>
              </a:spcAft>
              <a:buNone/>
            </a:pPr>
            <a:r>
              <a:rPr lang="en-US" sz="1400" dirty="0">
                <a:solidFill>
                  <a:schemeClr val="tx1"/>
                </a:solidFill>
              </a:rPr>
              <a:t>type, level</a:t>
            </a:r>
            <a:endParaRPr lang="en-US" sz="1400" dirty="0"/>
          </a:p>
          <a:p>
            <a:pPr indent="0" marL="0">
              <a:spcAft>
                <a:spcPts val="600"/>
              </a:spcAft>
              <a:buNone/>
            </a:pPr>
            <a:r>
              <a:rPr lang="en-US" sz="1400" dirty="0">
                <a:solidFill>
                  <a:schemeClr val="tx1"/>
                </a:solidFill>
              </a:rPr>
              <a:t>duration_min</a:t>
            </a:r>
            <a:endParaRPr lang="en-US" sz="1400" dirty="0"/>
          </a:p>
          <a:p>
            <a:pPr indent="0" marL="0">
              <a:spcAft>
                <a:spcPts val="600"/>
              </a:spcAft>
              <a:buNone/>
            </a:pPr>
            <a:r>
              <a:rPr lang="en-US" sz="1400" dirty="0">
                <a:solidFill>
                  <a:schemeClr val="tx1"/>
                </a:solidFill>
              </a:rPr>
              <a:t>met_value</a:t>
            </a:r>
            <a:endParaRPr lang="en-US" sz="1400" dirty="0"/>
          </a:p>
          <a:p>
            <a:pPr indent="0" marL="0">
              <a:spcAft>
                <a:spcPts val="600"/>
              </a:spcAft>
              <a:buNone/>
            </a:pPr>
            <a:r>
              <a:rPr lang="en-US" sz="1400" dirty="0">
                <a:solidFill>
                  <a:schemeClr val="tx1"/>
                </a:solidFill>
              </a:rPr>
              <a:t>trainer_id (FK)</a:t>
            </a:r>
            <a:endParaRPr lang="en-US" sz="1400" dirty="0"/>
          </a:p>
        </p:txBody>
      </p:sp>
      <p:sp>
        <p:nvSpPr>
          <p:cNvPr id="12" name="table-card"/>
          <p:cNvSpPr/>
          <p:nvPr/>
        </p:nvSpPr>
        <p:spPr>
          <a:xfrm>
            <a:off x="6126480" y="1463040"/>
            <a:ext cx="2651760" cy="3383280"/>
          </a:xfrm>
          <a:prstGeom prst="roundRect">
            <a:avLst>
              <a:gd name="adj" fmla="val 4138"/>
            </a:avLst>
          </a:prstGeom>
          <a:solidFill>
            <a:schemeClr val="bg2"/>
          </a:solidFill>
          <a:ln/>
        </p:spPr>
      </p:sp>
      <p:sp>
        <p:nvSpPr>
          <p:cNvPr id="13" name="table-head"/>
          <p:cNvSpPr/>
          <p:nvPr/>
        </p:nvSpPr>
        <p:spPr>
          <a:xfrm>
            <a:off x="6126480" y="1463040"/>
            <a:ext cx="2651760" cy="594360"/>
          </a:xfrm>
          <a:prstGeom prst="roundRect">
            <a:avLst>
              <a:gd name="adj" fmla="val 15385"/>
            </a:avLst>
          </a:prstGeom>
          <a:solidFill>
            <a:schemeClr val="tx1"/>
          </a:solidFill>
          <a:ln/>
        </p:spPr>
      </p:sp>
      <p:sp>
        <p:nvSpPr>
          <p:cNvPr id="14" name="Text 11"/>
          <p:cNvSpPr txBox="1"/>
          <p:nvPr/>
        </p:nvSpPr>
        <p:spPr>
          <a:xfrm>
            <a:off x="6126480" y="1463040"/>
            <a:ext cx="2651760" cy="594360"/>
          </a:xfrm>
          <a:prstGeom prst="rect">
            <a:avLst/>
          </a:prstGeom>
          <a:noFill/>
          <a:ln/>
        </p:spPr>
        <p:txBody>
          <a:bodyPr wrap="square" lIns="0" tIns="0" rIns="0" bIns="0" rtlCol="0" anchor="ctr"/>
          <a:lstStyle/>
          <a:p>
            <a:pPr algn="ctr" indent="0" marL="0">
              <a:buNone/>
            </a:pPr>
            <a:r>
              <a:rPr lang="en-US" sz="1800" b="1" dirty="0">
                <a:solidFill>
                  <a:schemeClr val="bg1"/>
                </a:solidFill>
              </a:rPr>
              <a:t>enrollments</a:t>
            </a:r>
            <a:endParaRPr lang="en-US" sz="1800" dirty="0"/>
          </a:p>
        </p:txBody>
      </p:sp>
      <p:sp>
        <p:nvSpPr>
          <p:cNvPr id="15" name="Text 12"/>
          <p:cNvSpPr txBox="1"/>
          <p:nvPr/>
        </p:nvSpPr>
        <p:spPr>
          <a:xfrm>
            <a:off x="6355080" y="2286000"/>
            <a:ext cx="2286000" cy="237744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id (PK)</a:t>
            </a:r>
            <a:endParaRPr lang="en-US" sz="1400" dirty="0"/>
          </a:p>
          <a:p>
            <a:pPr indent="0" marL="0">
              <a:spcAft>
                <a:spcPts val="600"/>
              </a:spcAft>
              <a:buNone/>
            </a:pPr>
            <a:r>
              <a:rPr lang="en-US" sz="1400" dirty="0">
                <a:solidFill>
                  <a:schemeClr val="tx1"/>
                </a:solidFill>
              </a:rPr>
              <a:t>user_id (FK)</a:t>
            </a:r>
            <a:endParaRPr lang="en-US" sz="1400" dirty="0"/>
          </a:p>
          <a:p>
            <a:pPr indent="0" marL="0">
              <a:spcAft>
                <a:spcPts val="600"/>
              </a:spcAft>
              <a:buNone/>
            </a:pPr>
            <a:r>
              <a:rPr lang="en-US" sz="1400" dirty="0">
                <a:solidFill>
                  <a:schemeClr val="tx1"/>
                </a:solidFill>
              </a:rPr>
              <a:t>workout_id (FK)</a:t>
            </a:r>
            <a:endParaRPr lang="en-US" sz="1400" dirty="0"/>
          </a:p>
          <a:p>
            <a:pPr indent="0" marL="0">
              <a:spcAft>
                <a:spcPts val="600"/>
              </a:spcAft>
              <a:buNone/>
            </a:pPr>
            <a:r>
              <a:rPr lang="en-US" sz="1400" dirty="0">
                <a:solidFill>
                  <a:schemeClr val="tx1"/>
                </a:solidFill>
              </a:rPr>
              <a:t>enrolled_at</a:t>
            </a:r>
            <a:endParaRPr lang="en-US" sz="1400" dirty="0"/>
          </a:p>
          <a:p>
            <a:pPr indent="0" marL="0">
              <a:spcAft>
                <a:spcPts val="600"/>
              </a:spcAft>
              <a:buNone/>
            </a:pPr>
            <a:r>
              <a:rPr lang="en-US" sz="1400" dirty="0">
                <a:solidFill>
                  <a:schemeClr val="tx1"/>
                </a:solidFill>
              </a:rPr>
              <a:t>UNIQUE(user, workout)</a:t>
            </a:r>
            <a:endParaRPr lang="en-US" sz="1400" dirty="0"/>
          </a:p>
        </p:txBody>
      </p:sp>
      <p:sp>
        <p:nvSpPr>
          <p:cNvPr id="16" name="table-card"/>
          <p:cNvSpPr/>
          <p:nvPr/>
        </p:nvSpPr>
        <p:spPr>
          <a:xfrm>
            <a:off x="8961120" y="1463040"/>
            <a:ext cx="2651760" cy="3383280"/>
          </a:xfrm>
          <a:prstGeom prst="roundRect">
            <a:avLst>
              <a:gd name="adj" fmla="val 4138"/>
            </a:avLst>
          </a:prstGeom>
          <a:solidFill>
            <a:schemeClr val="bg2"/>
          </a:solidFill>
          <a:ln/>
        </p:spPr>
      </p:sp>
      <p:sp>
        <p:nvSpPr>
          <p:cNvPr id="17" name="table-head"/>
          <p:cNvSpPr/>
          <p:nvPr/>
        </p:nvSpPr>
        <p:spPr>
          <a:xfrm>
            <a:off x="8961120" y="1463040"/>
            <a:ext cx="2651760" cy="594360"/>
          </a:xfrm>
          <a:prstGeom prst="roundRect">
            <a:avLst>
              <a:gd name="adj" fmla="val 15385"/>
            </a:avLst>
          </a:prstGeom>
          <a:solidFill>
            <a:schemeClr val="tx1"/>
          </a:solidFill>
          <a:ln/>
        </p:spPr>
      </p:sp>
      <p:sp>
        <p:nvSpPr>
          <p:cNvPr id="18" name="Text 15"/>
          <p:cNvSpPr txBox="1"/>
          <p:nvPr/>
        </p:nvSpPr>
        <p:spPr>
          <a:xfrm>
            <a:off x="8961120" y="1463040"/>
            <a:ext cx="2651760" cy="594360"/>
          </a:xfrm>
          <a:prstGeom prst="rect">
            <a:avLst/>
          </a:prstGeom>
          <a:noFill/>
          <a:ln/>
        </p:spPr>
        <p:txBody>
          <a:bodyPr wrap="square" lIns="0" tIns="0" rIns="0" bIns="0" rtlCol="0" anchor="ctr"/>
          <a:lstStyle/>
          <a:p>
            <a:pPr algn="ctr" indent="0" marL="0">
              <a:buNone/>
            </a:pPr>
            <a:r>
              <a:rPr lang="en-US" sz="1800" b="1" dirty="0">
                <a:solidFill>
                  <a:schemeClr val="bg1"/>
                </a:solidFill>
              </a:rPr>
              <a:t>progress_logs</a:t>
            </a:r>
            <a:endParaRPr lang="en-US" sz="1800" dirty="0"/>
          </a:p>
        </p:txBody>
      </p:sp>
      <p:sp>
        <p:nvSpPr>
          <p:cNvPr id="19" name="Text 16"/>
          <p:cNvSpPr txBox="1"/>
          <p:nvPr/>
        </p:nvSpPr>
        <p:spPr>
          <a:xfrm>
            <a:off x="9189720" y="2286000"/>
            <a:ext cx="2286000" cy="237744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id (PK)</a:t>
            </a:r>
            <a:endParaRPr lang="en-US" sz="1400" dirty="0"/>
          </a:p>
          <a:p>
            <a:pPr indent="0" marL="0">
              <a:spcAft>
                <a:spcPts val="600"/>
              </a:spcAft>
              <a:buNone/>
            </a:pPr>
            <a:r>
              <a:rPr lang="en-US" sz="1400" dirty="0">
                <a:solidFill>
                  <a:schemeClr val="tx1"/>
                </a:solidFill>
              </a:rPr>
              <a:t>user_id (FK)</a:t>
            </a:r>
            <a:endParaRPr lang="en-US" sz="1400" dirty="0"/>
          </a:p>
          <a:p>
            <a:pPr indent="0" marL="0">
              <a:spcAft>
                <a:spcPts val="600"/>
              </a:spcAft>
              <a:buNone/>
            </a:pPr>
            <a:r>
              <a:rPr lang="en-US" sz="1400" dirty="0">
                <a:solidFill>
                  <a:schemeClr val="tx1"/>
                </a:solidFill>
              </a:rPr>
              <a:t>workout_id (FK)</a:t>
            </a:r>
            <a:endParaRPr lang="en-US" sz="1400" dirty="0"/>
          </a:p>
          <a:p>
            <a:pPr indent="0" marL="0">
              <a:spcAft>
                <a:spcPts val="600"/>
              </a:spcAft>
              <a:buNone/>
            </a:pPr>
            <a:r>
              <a:rPr lang="en-US" sz="1400" dirty="0">
                <a:solidFill>
                  <a:schemeClr val="tx1"/>
                </a:solidFill>
              </a:rPr>
              <a:t>minutes, weight_kg</a:t>
            </a:r>
            <a:endParaRPr lang="en-US" sz="1400" dirty="0"/>
          </a:p>
          <a:p>
            <a:pPr indent="0" marL="0">
              <a:spcAft>
                <a:spcPts val="600"/>
              </a:spcAft>
              <a:buNone/>
            </a:pPr>
            <a:r>
              <a:rPr lang="en-US" sz="1400" dirty="0">
                <a:solidFill>
                  <a:schemeClr val="tx1"/>
                </a:solidFill>
              </a:rPr>
              <a:t>calories</a:t>
            </a:r>
            <a:endParaRPr lang="en-US" sz="1400" dirty="0"/>
          </a:p>
          <a:p>
            <a:pPr indent="0" marL="0">
              <a:spcAft>
                <a:spcPts val="600"/>
              </a:spcAft>
              <a:buNone/>
            </a:pPr>
            <a:r>
              <a:rPr lang="en-US" sz="1400" dirty="0">
                <a:solidFill>
                  <a:schemeClr val="tx1"/>
                </a:solidFill>
              </a:rPr>
              <a:t>logged_on</a:t>
            </a:r>
            <a:endParaRPr lang="en-US" sz="1400" dirty="0"/>
          </a:p>
        </p:txBody>
      </p:sp>
      <p:sp>
        <p:nvSpPr>
          <p:cNvPr id="20" name="relations"/>
          <p:cNvSpPr/>
          <p:nvPr/>
        </p:nvSpPr>
        <p:spPr>
          <a:xfrm>
            <a:off x="457200" y="5120640"/>
            <a:ext cx="11247120" cy="1005840"/>
          </a:xfrm>
          <a:prstGeom prst="roundRect">
            <a:avLst>
              <a:gd name="adj" fmla="val 10909"/>
            </a:avLst>
          </a:prstGeom>
          <a:solidFill>
            <a:schemeClr val="tx1"/>
          </a:solidFill>
          <a:ln/>
        </p:spPr>
      </p:sp>
      <p:sp>
        <p:nvSpPr>
          <p:cNvPr id="21" name="Text 18"/>
          <p:cNvSpPr txBox="1"/>
          <p:nvPr/>
        </p:nvSpPr>
        <p:spPr>
          <a:xfrm>
            <a:off x="777240" y="5120640"/>
            <a:ext cx="10607040" cy="1005840"/>
          </a:xfrm>
          <a:prstGeom prst="rect">
            <a:avLst/>
          </a:prstGeom>
          <a:noFill/>
          <a:ln/>
        </p:spPr>
        <p:txBody>
          <a:bodyPr wrap="square" lIns="0" tIns="0" rIns="0" bIns="0" rtlCol="0" anchor="ctr"/>
          <a:lstStyle/>
          <a:p>
            <a:pPr indent="0" marL="0">
              <a:buNone/>
            </a:pPr>
            <a:r>
              <a:rPr lang="en-US" sz="1600" dirty="0">
                <a:solidFill>
                  <a:schemeClr val="bg1"/>
                </a:solidFill>
              </a:rPr>
              <a:t>users 1 : N workouts (trainer publishes)</a:t>
            </a:r>
            <a:endParaRPr lang="en-US" sz="1600" dirty="0"/>
          </a:p>
          <a:p>
            <a:pPr indent="0" marL="0">
              <a:buNone/>
            </a:pPr>
            <a:r>
              <a:rPr lang="en-US" sz="1600" dirty="0">
                <a:solidFill>
                  <a:schemeClr val="bg1"/>
                </a:solidFill>
              </a:rPr>
              <a:t>users N : M workouts through enrollments   |   users 1 : N progress_logs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OOP: inheritance, interfaces, polymorphism</a:t>
            </a:r>
            <a:endParaRPr lang="en-US" sz="3400" dirty="0"/>
          </a:p>
        </p:txBody>
      </p:sp>
      <p:sp>
        <p:nvSpPr>
          <p:cNvPr id="4" name="Text 1"/>
          <p:cNvSpPr txBox="1"/>
          <p:nvPr/>
        </p:nvSpPr>
        <p:spPr>
          <a:xfrm>
            <a:off x="548640" y="1371600"/>
            <a:ext cx="5212080" cy="320040"/>
          </a:xfrm>
          <a:prstGeom prst="rect">
            <a:avLst/>
          </a:prstGeom>
          <a:noFill/>
          <a:ln/>
        </p:spPr>
        <p:txBody>
          <a:bodyPr wrap="square" lIns="0" tIns="0" rIns="0" bIns="0" rtlCol="0" anchor="t"/>
          <a:lstStyle/>
          <a:p>
            <a:pPr indent="0" marL="0">
              <a:buNone/>
            </a:pPr>
            <a:r>
              <a:rPr lang="en-US" sz="1600" b="1" dirty="0">
                <a:solidFill>
                  <a:schemeClr val="accent5"/>
                </a:solidFill>
              </a:rPr>
              <a:t>Inheritance and abstraction</a:t>
            </a:r>
            <a:endParaRPr lang="en-US" sz="1600" dirty="0"/>
          </a:p>
        </p:txBody>
      </p:sp>
      <p:sp>
        <p:nvSpPr>
          <p:cNvPr id="5" name="Text 2"/>
          <p:cNvSpPr txBox="1"/>
          <p:nvPr/>
        </p:nvSpPr>
        <p:spPr>
          <a:xfrm>
            <a:off x="6309360" y="1371600"/>
            <a:ext cx="5394960" cy="320040"/>
          </a:xfrm>
          <a:prstGeom prst="rect">
            <a:avLst/>
          </a:prstGeom>
          <a:noFill/>
          <a:ln/>
        </p:spPr>
        <p:txBody>
          <a:bodyPr wrap="square" lIns="0" tIns="0" rIns="0" bIns="0" rtlCol="0" anchor="t"/>
          <a:lstStyle/>
          <a:p>
            <a:pPr indent="0" marL="0">
              <a:buNone/>
            </a:pPr>
            <a:r>
              <a:rPr lang="en-US" sz="1600" b="1" dirty="0">
                <a:solidFill>
                  <a:schemeClr val="accent5"/>
                </a:solidFill>
              </a:rPr>
              <a:t>Interface and polymorphism</a:t>
            </a:r>
            <a:endParaRPr lang="en-US" sz="1600" dirty="0"/>
          </a:p>
        </p:txBody>
      </p:sp>
      <p:sp>
        <p:nvSpPr>
          <p:cNvPr id="6" name="node"/>
          <p:cNvSpPr/>
          <p:nvPr/>
        </p:nvSpPr>
        <p:spPr>
          <a:xfrm>
            <a:off x="1828800" y="2011680"/>
            <a:ext cx="2377440" cy="685800"/>
          </a:xfrm>
          <a:prstGeom prst="roundRect">
            <a:avLst>
              <a:gd name="adj" fmla="val 13333"/>
            </a:avLst>
          </a:prstGeom>
          <a:solidFill>
            <a:schemeClr val="tx1"/>
          </a:solidFill>
          <a:ln/>
        </p:spPr>
      </p:sp>
      <p:sp>
        <p:nvSpPr>
          <p:cNvPr id="7" name="Text 4"/>
          <p:cNvSpPr txBox="1"/>
          <p:nvPr/>
        </p:nvSpPr>
        <p:spPr>
          <a:xfrm>
            <a:off x="1828800" y="2011680"/>
            <a:ext cx="2377440" cy="685800"/>
          </a:xfrm>
          <a:prstGeom prst="rect">
            <a:avLst/>
          </a:prstGeom>
          <a:noFill/>
          <a:ln/>
        </p:spPr>
        <p:txBody>
          <a:bodyPr wrap="square" lIns="0" tIns="0" rIns="0" bIns="0" rtlCol="0" anchor="ctr"/>
          <a:lstStyle/>
          <a:p>
            <a:pPr algn="ctr" indent="0" marL="0">
              <a:buNone/>
            </a:pPr>
            <a:r>
              <a:rPr lang="en-US" sz="1400" b="1" dirty="0">
                <a:solidFill>
                  <a:schemeClr val="bg1"/>
                </a:solidFill>
              </a:rPr>
              <a:t>User (abstract)</a:t>
            </a:r>
            <a:endParaRPr lang="en-US" sz="1400" dirty="0"/>
          </a:p>
        </p:txBody>
      </p:sp>
      <p:sp>
        <p:nvSpPr>
          <p:cNvPr id="8" name="node"/>
          <p:cNvSpPr/>
          <p:nvPr/>
        </p:nvSpPr>
        <p:spPr>
          <a:xfrm>
            <a:off x="548640" y="3657600"/>
            <a:ext cx="2286000" cy="731520"/>
          </a:xfrm>
          <a:prstGeom prst="roundRect">
            <a:avLst>
              <a:gd name="adj" fmla="val 12500"/>
            </a:avLst>
          </a:prstGeom>
          <a:solidFill>
            <a:schemeClr val="accent2"/>
          </a:solidFill>
          <a:ln/>
        </p:spPr>
      </p:sp>
      <p:sp>
        <p:nvSpPr>
          <p:cNvPr id="9" name="Text 6"/>
          <p:cNvSpPr txBox="1"/>
          <p:nvPr/>
        </p:nvSpPr>
        <p:spPr>
          <a:xfrm>
            <a:off x="548640" y="3657600"/>
            <a:ext cx="2286000" cy="731520"/>
          </a:xfrm>
          <a:prstGeom prst="rect">
            <a:avLst/>
          </a:prstGeom>
          <a:noFill/>
          <a:ln/>
        </p:spPr>
        <p:txBody>
          <a:bodyPr wrap="square" lIns="0" tIns="0" rIns="0" bIns="0" rtlCol="0" anchor="ctr"/>
          <a:lstStyle/>
          <a:p>
            <a:pPr algn="ctr" indent="0" marL="0">
              <a:buNone/>
            </a:pPr>
            <a:r>
              <a:rPr lang="en-US" sz="1400" b="1" dirty="0">
                <a:solidFill>
                  <a:schemeClr val="bg1"/>
                </a:solidFill>
              </a:rPr>
              <a:t>Member</a:t>
            </a:r>
            <a:endParaRPr lang="en-US" sz="1400" dirty="0"/>
          </a:p>
        </p:txBody>
      </p:sp>
      <p:sp>
        <p:nvSpPr>
          <p:cNvPr id="10" name="node"/>
          <p:cNvSpPr/>
          <p:nvPr/>
        </p:nvSpPr>
        <p:spPr>
          <a:xfrm>
            <a:off x="3200400" y="3657600"/>
            <a:ext cx="2286000" cy="731520"/>
          </a:xfrm>
          <a:prstGeom prst="roundRect">
            <a:avLst>
              <a:gd name="adj" fmla="val 12500"/>
            </a:avLst>
          </a:prstGeom>
          <a:solidFill>
            <a:schemeClr val="accent2"/>
          </a:solidFill>
          <a:ln/>
        </p:spPr>
      </p:sp>
      <p:sp>
        <p:nvSpPr>
          <p:cNvPr id="11" name="Text 8"/>
          <p:cNvSpPr txBox="1"/>
          <p:nvPr/>
        </p:nvSpPr>
        <p:spPr>
          <a:xfrm>
            <a:off x="3200400" y="3657600"/>
            <a:ext cx="2286000" cy="731520"/>
          </a:xfrm>
          <a:prstGeom prst="rect">
            <a:avLst/>
          </a:prstGeom>
          <a:noFill/>
          <a:ln/>
        </p:spPr>
        <p:txBody>
          <a:bodyPr wrap="square" lIns="0" tIns="0" rIns="0" bIns="0" rtlCol="0" anchor="ctr"/>
          <a:lstStyle/>
          <a:p>
            <a:pPr algn="ctr" indent="0" marL="0">
              <a:buNone/>
            </a:pPr>
            <a:r>
              <a:rPr lang="en-US" sz="1400" b="1" dirty="0">
                <a:solidFill>
                  <a:schemeClr val="bg1"/>
                </a:solidFill>
              </a:rPr>
              <a:t>Trainer</a:t>
            </a:r>
            <a:endParaRPr lang="en-US" sz="1400" dirty="0"/>
          </a:p>
        </p:txBody>
      </p:sp>
      <p:sp>
        <p:nvSpPr>
          <p:cNvPr id="12" name="connector"/>
          <p:cNvSpPr/>
          <p:nvPr/>
        </p:nvSpPr>
        <p:spPr>
          <a:xfrm>
            <a:off x="3017520" y="2697480"/>
            <a:ext cx="0" cy="457200"/>
          </a:xfrm>
          <a:prstGeom prst="line">
            <a:avLst/>
          </a:prstGeom>
          <a:noFill/>
          <a:ln w="19050">
            <a:solidFill>
              <a:schemeClr val="accent5"/>
            </a:solidFill>
            <a:prstDash val="solid"/>
          </a:ln>
        </p:spPr>
      </p:sp>
      <p:sp>
        <p:nvSpPr>
          <p:cNvPr id="13" name="connector"/>
          <p:cNvSpPr/>
          <p:nvPr/>
        </p:nvSpPr>
        <p:spPr>
          <a:xfrm>
            <a:off x="1691640" y="3154680"/>
            <a:ext cx="2651760" cy="0"/>
          </a:xfrm>
          <a:prstGeom prst="line">
            <a:avLst/>
          </a:prstGeom>
          <a:noFill/>
          <a:ln w="19050">
            <a:solidFill>
              <a:schemeClr val="accent5"/>
            </a:solidFill>
            <a:prstDash val="solid"/>
          </a:ln>
        </p:spPr>
      </p:sp>
      <p:sp>
        <p:nvSpPr>
          <p:cNvPr id="14" name="connector"/>
          <p:cNvSpPr/>
          <p:nvPr/>
        </p:nvSpPr>
        <p:spPr>
          <a:xfrm>
            <a:off x="1691640" y="3154680"/>
            <a:ext cx="0" cy="502920"/>
          </a:xfrm>
          <a:prstGeom prst="line">
            <a:avLst/>
          </a:prstGeom>
          <a:noFill/>
          <a:ln w="19050">
            <a:solidFill>
              <a:schemeClr val="accent5"/>
            </a:solidFill>
            <a:prstDash val="solid"/>
          </a:ln>
        </p:spPr>
      </p:sp>
      <p:sp>
        <p:nvSpPr>
          <p:cNvPr id="15" name="connector"/>
          <p:cNvSpPr/>
          <p:nvPr/>
        </p:nvSpPr>
        <p:spPr>
          <a:xfrm>
            <a:off x="4343400" y="3154680"/>
            <a:ext cx="0" cy="502920"/>
          </a:xfrm>
          <a:prstGeom prst="line">
            <a:avLst/>
          </a:prstGeom>
          <a:noFill/>
          <a:ln w="19050">
            <a:solidFill>
              <a:schemeClr val="accent5"/>
            </a:solidFill>
            <a:prstDash val="solid"/>
          </a:ln>
        </p:spPr>
      </p:sp>
      <p:sp>
        <p:nvSpPr>
          <p:cNvPr id="16" name="node"/>
          <p:cNvSpPr/>
          <p:nvPr/>
        </p:nvSpPr>
        <p:spPr>
          <a:xfrm>
            <a:off x="7635240" y="1783080"/>
            <a:ext cx="2743200" cy="685800"/>
          </a:xfrm>
          <a:prstGeom prst="roundRect">
            <a:avLst>
              <a:gd name="adj" fmla="val 13333"/>
            </a:avLst>
          </a:prstGeom>
          <a:solidFill>
            <a:schemeClr val="accent1"/>
          </a:solidFill>
          <a:ln/>
        </p:spPr>
      </p:sp>
      <p:sp>
        <p:nvSpPr>
          <p:cNvPr id="17" name="Text 14"/>
          <p:cNvSpPr txBox="1"/>
          <p:nvPr/>
        </p:nvSpPr>
        <p:spPr>
          <a:xfrm>
            <a:off x="7635240" y="1783080"/>
            <a:ext cx="2743200" cy="685800"/>
          </a:xfrm>
          <a:prstGeom prst="rect">
            <a:avLst/>
          </a:prstGeom>
          <a:noFill/>
          <a:ln/>
        </p:spPr>
        <p:txBody>
          <a:bodyPr wrap="square" lIns="0" tIns="0" rIns="0" bIns="0" rtlCol="0" anchor="ctr"/>
          <a:lstStyle/>
          <a:p>
            <a:pPr algn="ctr" indent="0" marL="0">
              <a:buNone/>
            </a:pPr>
            <a:r>
              <a:rPr lang="en-US" sz="1200" b="1" dirty="0">
                <a:solidFill>
                  <a:schemeClr val="bg1"/>
                </a:solidFill>
              </a:rPr>
              <a:t>&lt;&lt;interface&gt;&gt;</a:t>
            </a:r>
            <a:endParaRPr lang="en-US" sz="1400" dirty="0"/>
          </a:p>
          <a:p>
            <a:pPr algn="ctr" indent="0" marL="0">
              <a:buNone/>
            </a:pPr>
            <a:r>
              <a:rPr lang="en-US" sz="1400" b="1" dirty="0">
                <a:solidFill>
                  <a:schemeClr val="bg1"/>
                </a:solidFill>
              </a:rPr>
              <a:t>CalorieCalculable</a:t>
            </a:r>
            <a:endParaRPr lang="en-US" sz="1400" dirty="0"/>
          </a:p>
        </p:txBody>
      </p:sp>
      <p:sp>
        <p:nvSpPr>
          <p:cNvPr id="18" name="node"/>
          <p:cNvSpPr/>
          <p:nvPr/>
        </p:nvSpPr>
        <p:spPr>
          <a:xfrm>
            <a:off x="7635240" y="2743200"/>
            <a:ext cx="2743200" cy="640080"/>
          </a:xfrm>
          <a:prstGeom prst="roundRect">
            <a:avLst>
              <a:gd name="adj" fmla="val 14286"/>
            </a:avLst>
          </a:prstGeom>
          <a:solidFill>
            <a:schemeClr val="tx1"/>
          </a:solidFill>
          <a:ln/>
        </p:spPr>
      </p:sp>
      <p:sp>
        <p:nvSpPr>
          <p:cNvPr id="19" name="Text 16"/>
          <p:cNvSpPr txBox="1"/>
          <p:nvPr/>
        </p:nvSpPr>
        <p:spPr>
          <a:xfrm>
            <a:off x="7635240" y="2743200"/>
            <a:ext cx="2743200" cy="640080"/>
          </a:xfrm>
          <a:prstGeom prst="rect">
            <a:avLst/>
          </a:prstGeom>
          <a:noFill/>
          <a:ln/>
        </p:spPr>
        <p:txBody>
          <a:bodyPr wrap="square" lIns="0" tIns="0" rIns="0" bIns="0" rtlCol="0" anchor="ctr"/>
          <a:lstStyle/>
          <a:p>
            <a:pPr algn="ctr" indent="0" marL="0">
              <a:buNone/>
            </a:pPr>
            <a:r>
              <a:rPr lang="en-US" sz="1400" b="1" dirty="0">
                <a:solidFill>
                  <a:schemeClr val="bg1"/>
                </a:solidFill>
              </a:rPr>
              <a:t>Workout (abstract)</a:t>
            </a:r>
            <a:endParaRPr lang="en-US" sz="1400" dirty="0"/>
          </a:p>
        </p:txBody>
      </p:sp>
      <p:sp>
        <p:nvSpPr>
          <p:cNvPr id="20" name="node"/>
          <p:cNvSpPr/>
          <p:nvPr/>
        </p:nvSpPr>
        <p:spPr>
          <a:xfrm>
            <a:off x="6309360" y="3657600"/>
            <a:ext cx="1645920" cy="731520"/>
          </a:xfrm>
          <a:prstGeom prst="roundRect">
            <a:avLst>
              <a:gd name="adj" fmla="val 12500"/>
            </a:avLst>
          </a:prstGeom>
          <a:solidFill>
            <a:schemeClr val="accent2"/>
          </a:solidFill>
          <a:ln/>
        </p:spPr>
      </p:sp>
      <p:sp>
        <p:nvSpPr>
          <p:cNvPr id="21" name="Text 18"/>
          <p:cNvSpPr txBox="1"/>
          <p:nvPr/>
        </p:nvSpPr>
        <p:spPr>
          <a:xfrm>
            <a:off x="6309360" y="3657600"/>
            <a:ext cx="1645920" cy="731520"/>
          </a:xfrm>
          <a:prstGeom prst="rect">
            <a:avLst/>
          </a:prstGeom>
          <a:noFill/>
          <a:ln/>
        </p:spPr>
        <p:txBody>
          <a:bodyPr wrap="square" lIns="0" tIns="0" rIns="0" bIns="0" rtlCol="0" anchor="ctr"/>
          <a:lstStyle/>
          <a:p>
            <a:pPr algn="ctr" indent="0" marL="0">
              <a:buNone/>
            </a:pPr>
            <a:r>
              <a:rPr lang="en-US" sz="1400" b="1" dirty="0">
                <a:solidFill>
                  <a:schemeClr val="bg1"/>
                </a:solidFill>
              </a:rPr>
              <a:t>Cardio</a:t>
            </a:r>
            <a:endParaRPr lang="en-US" sz="1400" dirty="0"/>
          </a:p>
        </p:txBody>
      </p:sp>
      <p:sp>
        <p:nvSpPr>
          <p:cNvPr id="22" name="node"/>
          <p:cNvSpPr/>
          <p:nvPr/>
        </p:nvSpPr>
        <p:spPr>
          <a:xfrm>
            <a:off x="8183880" y="3657600"/>
            <a:ext cx="1645920" cy="731520"/>
          </a:xfrm>
          <a:prstGeom prst="roundRect">
            <a:avLst>
              <a:gd name="adj" fmla="val 12500"/>
            </a:avLst>
          </a:prstGeom>
          <a:solidFill>
            <a:schemeClr val="accent2"/>
          </a:solidFill>
          <a:ln/>
        </p:spPr>
      </p:sp>
      <p:sp>
        <p:nvSpPr>
          <p:cNvPr id="23" name="Text 20"/>
          <p:cNvSpPr txBox="1"/>
          <p:nvPr/>
        </p:nvSpPr>
        <p:spPr>
          <a:xfrm>
            <a:off x="8183880" y="3657600"/>
            <a:ext cx="1645920" cy="731520"/>
          </a:xfrm>
          <a:prstGeom prst="rect">
            <a:avLst/>
          </a:prstGeom>
          <a:noFill/>
          <a:ln/>
        </p:spPr>
        <p:txBody>
          <a:bodyPr wrap="square" lIns="0" tIns="0" rIns="0" bIns="0" rtlCol="0" anchor="ctr"/>
          <a:lstStyle/>
          <a:p>
            <a:pPr algn="ctr" indent="0" marL="0">
              <a:buNone/>
            </a:pPr>
            <a:r>
              <a:rPr lang="en-US" sz="1400" b="1" dirty="0">
                <a:solidFill>
                  <a:schemeClr val="bg1"/>
                </a:solidFill>
              </a:rPr>
              <a:t>Strength</a:t>
            </a:r>
            <a:endParaRPr lang="en-US" sz="1400" dirty="0"/>
          </a:p>
        </p:txBody>
      </p:sp>
      <p:sp>
        <p:nvSpPr>
          <p:cNvPr id="24" name="node"/>
          <p:cNvSpPr/>
          <p:nvPr/>
        </p:nvSpPr>
        <p:spPr>
          <a:xfrm>
            <a:off x="10058400" y="3657600"/>
            <a:ext cx="1645920" cy="731520"/>
          </a:xfrm>
          <a:prstGeom prst="roundRect">
            <a:avLst>
              <a:gd name="adj" fmla="val 12500"/>
            </a:avLst>
          </a:prstGeom>
          <a:solidFill>
            <a:schemeClr val="accent2"/>
          </a:solidFill>
          <a:ln/>
        </p:spPr>
      </p:sp>
      <p:sp>
        <p:nvSpPr>
          <p:cNvPr id="25" name="Text 22"/>
          <p:cNvSpPr txBox="1"/>
          <p:nvPr/>
        </p:nvSpPr>
        <p:spPr>
          <a:xfrm>
            <a:off x="10058400" y="3657600"/>
            <a:ext cx="1645920" cy="731520"/>
          </a:xfrm>
          <a:prstGeom prst="rect">
            <a:avLst/>
          </a:prstGeom>
          <a:noFill/>
          <a:ln/>
        </p:spPr>
        <p:txBody>
          <a:bodyPr wrap="square" lIns="0" tIns="0" rIns="0" bIns="0" rtlCol="0" anchor="ctr"/>
          <a:lstStyle/>
          <a:p>
            <a:pPr algn="ctr" indent="0" marL="0">
              <a:buNone/>
            </a:pPr>
            <a:r>
              <a:rPr lang="en-US" sz="1400" b="1" dirty="0">
                <a:solidFill>
                  <a:schemeClr val="bg1"/>
                </a:solidFill>
              </a:rPr>
              <a:t>Yoga</a:t>
            </a:r>
            <a:endParaRPr lang="en-US" sz="1400" dirty="0"/>
          </a:p>
        </p:txBody>
      </p:sp>
      <p:sp>
        <p:nvSpPr>
          <p:cNvPr id="26" name="connector"/>
          <p:cNvSpPr/>
          <p:nvPr/>
        </p:nvSpPr>
        <p:spPr>
          <a:xfrm>
            <a:off x="9006840" y="2468880"/>
            <a:ext cx="0" cy="274320"/>
          </a:xfrm>
          <a:prstGeom prst="line">
            <a:avLst/>
          </a:prstGeom>
          <a:noFill/>
          <a:ln w="19050">
            <a:solidFill>
              <a:schemeClr val="accent5"/>
            </a:solidFill>
            <a:prstDash val="solid"/>
          </a:ln>
        </p:spPr>
      </p:sp>
      <p:sp>
        <p:nvSpPr>
          <p:cNvPr id="27" name="connector"/>
          <p:cNvSpPr/>
          <p:nvPr/>
        </p:nvSpPr>
        <p:spPr>
          <a:xfrm>
            <a:off x="9006840" y="3383280"/>
            <a:ext cx="0" cy="137160"/>
          </a:xfrm>
          <a:prstGeom prst="line">
            <a:avLst/>
          </a:prstGeom>
          <a:noFill/>
          <a:ln w="19050">
            <a:solidFill>
              <a:schemeClr val="accent5"/>
            </a:solidFill>
            <a:prstDash val="solid"/>
          </a:ln>
        </p:spPr>
      </p:sp>
      <p:sp>
        <p:nvSpPr>
          <p:cNvPr id="28" name="connector"/>
          <p:cNvSpPr/>
          <p:nvPr/>
        </p:nvSpPr>
        <p:spPr>
          <a:xfrm>
            <a:off x="7132320" y="3520440"/>
            <a:ext cx="3749040" cy="0"/>
          </a:xfrm>
          <a:prstGeom prst="line">
            <a:avLst/>
          </a:prstGeom>
          <a:noFill/>
          <a:ln w="19050">
            <a:solidFill>
              <a:schemeClr val="accent5"/>
            </a:solidFill>
            <a:prstDash val="solid"/>
          </a:ln>
        </p:spPr>
      </p:sp>
      <p:sp>
        <p:nvSpPr>
          <p:cNvPr id="29" name="connector"/>
          <p:cNvSpPr/>
          <p:nvPr/>
        </p:nvSpPr>
        <p:spPr>
          <a:xfrm>
            <a:off x="7132320" y="3520440"/>
            <a:ext cx="0" cy="137160"/>
          </a:xfrm>
          <a:prstGeom prst="line">
            <a:avLst/>
          </a:prstGeom>
          <a:noFill/>
          <a:ln w="19050">
            <a:solidFill>
              <a:schemeClr val="accent5"/>
            </a:solidFill>
            <a:prstDash val="solid"/>
          </a:ln>
        </p:spPr>
      </p:sp>
      <p:sp>
        <p:nvSpPr>
          <p:cNvPr id="30" name="connector"/>
          <p:cNvSpPr/>
          <p:nvPr/>
        </p:nvSpPr>
        <p:spPr>
          <a:xfrm>
            <a:off x="9006840" y="3520440"/>
            <a:ext cx="0" cy="137160"/>
          </a:xfrm>
          <a:prstGeom prst="line">
            <a:avLst/>
          </a:prstGeom>
          <a:noFill/>
          <a:ln w="19050">
            <a:solidFill>
              <a:schemeClr val="accent5"/>
            </a:solidFill>
            <a:prstDash val="solid"/>
          </a:ln>
        </p:spPr>
      </p:sp>
      <p:sp>
        <p:nvSpPr>
          <p:cNvPr id="31" name="connector"/>
          <p:cNvSpPr/>
          <p:nvPr/>
        </p:nvSpPr>
        <p:spPr>
          <a:xfrm>
            <a:off x="10881360" y="3520440"/>
            <a:ext cx="0" cy="137160"/>
          </a:xfrm>
          <a:prstGeom prst="line">
            <a:avLst/>
          </a:prstGeom>
          <a:noFill/>
          <a:ln w="19050">
            <a:solidFill>
              <a:schemeClr val="accent5"/>
            </a:solidFill>
            <a:prstDash val="solid"/>
          </a:ln>
        </p:spPr>
      </p:sp>
      <p:sp>
        <p:nvSpPr>
          <p:cNvPr id="32" name="poly-card"/>
          <p:cNvSpPr/>
          <p:nvPr/>
        </p:nvSpPr>
        <p:spPr>
          <a:xfrm>
            <a:off x="548640" y="4846320"/>
            <a:ext cx="11155680" cy="1325880"/>
          </a:xfrm>
          <a:prstGeom prst="roundRect">
            <a:avLst>
              <a:gd name="adj" fmla="val 8276"/>
            </a:avLst>
          </a:prstGeom>
          <a:solidFill>
            <a:schemeClr val="tx1"/>
          </a:solidFill>
          <a:ln/>
        </p:spPr>
      </p:sp>
      <p:sp>
        <p:nvSpPr>
          <p:cNvPr id="33" name="Text 30"/>
          <p:cNvSpPr txBox="1"/>
          <p:nvPr/>
        </p:nvSpPr>
        <p:spPr>
          <a:xfrm>
            <a:off x="868680" y="4846320"/>
            <a:ext cx="10515600" cy="1325880"/>
          </a:xfrm>
          <a:prstGeom prst="rect">
            <a:avLst/>
          </a:prstGeom>
          <a:noFill/>
          <a:ln/>
        </p:spPr>
        <p:txBody>
          <a:bodyPr wrap="square" lIns="0" tIns="0" rIns="0" bIns="0" rtlCol="0" anchor="ctr"/>
          <a:lstStyle/>
          <a:p>
            <a:pPr indent="0" marL="0">
              <a:buNone/>
            </a:pPr>
            <a:r>
              <a:rPr lang="en-US" sz="1800" b="1" dirty="0">
                <a:solidFill>
                  <a:schemeClr val="bg1"/>
                </a:solidFill>
              </a:rPr>
              <a:t>One call, different behaviour: workout.caloriesBurned(70 kg, 30 min)</a:t>
            </a:r>
            <a:endParaRPr lang="en-US" sz="1400" dirty="0"/>
          </a:p>
          <a:p>
            <a:pPr indent="0" marL="0">
              <a:buNone/>
            </a:pPr>
            <a:r>
              <a:rPr lang="en-US" sz="1600" dirty="0">
                <a:solidFill>
                  <a:schemeClr val="bg1"/>
                </a:solidFill>
              </a:rPr>
              <a:t>MET 5  -&gt;  Cardio 183.8 kcal   |   Strength 202.1 kcal (+10% afterburn)   |   Yoga 165.4 kcal (-10%)</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Collections, generics and exception handling</a:t>
            </a:r>
            <a:endParaRPr lang="en-US" sz="3400" dirty="0"/>
          </a:p>
        </p:txBody>
      </p:sp>
      <p:sp>
        <p:nvSpPr>
          <p:cNvPr id="4" name="coll-card"/>
          <p:cNvSpPr/>
          <p:nvPr/>
        </p:nvSpPr>
        <p:spPr>
          <a:xfrm>
            <a:off x="548640" y="1463040"/>
            <a:ext cx="5394960" cy="3383280"/>
          </a:xfrm>
          <a:prstGeom prst="roundRect">
            <a:avLst>
              <a:gd name="adj" fmla="val 3243"/>
            </a:avLst>
          </a:prstGeom>
          <a:solidFill>
            <a:schemeClr val="bg2"/>
          </a:solidFill>
          <a:ln/>
        </p:spPr>
      </p:sp>
      <p:sp>
        <p:nvSpPr>
          <p:cNvPr id="5" name="Text 2"/>
          <p:cNvSpPr txBox="1"/>
          <p:nvPr/>
        </p:nvSpPr>
        <p:spPr>
          <a:xfrm>
            <a:off x="868680" y="1691640"/>
            <a:ext cx="4754880" cy="457200"/>
          </a:xfrm>
          <a:prstGeom prst="rect">
            <a:avLst/>
          </a:prstGeom>
          <a:noFill/>
          <a:ln/>
        </p:spPr>
        <p:txBody>
          <a:bodyPr wrap="square" lIns="0" tIns="0" rIns="0" bIns="0" rtlCol="0" anchor="t"/>
          <a:lstStyle/>
          <a:p>
            <a:pPr indent="0" marL="0">
              <a:buNone/>
            </a:pPr>
            <a:r>
              <a:rPr lang="en-US" sz="2000" b="1" dirty="0">
                <a:solidFill>
                  <a:schemeClr val="tx1"/>
                </a:solidFill>
              </a:rPr>
              <a:t>Collections and generics</a:t>
            </a:r>
            <a:endParaRPr lang="en-US" sz="2000" dirty="0"/>
          </a:p>
        </p:txBody>
      </p:sp>
      <p:sp>
        <p:nvSpPr>
          <p:cNvPr id="6" name="Text 3"/>
          <p:cNvSpPr txBox="1"/>
          <p:nvPr/>
        </p:nvSpPr>
        <p:spPr>
          <a:xfrm>
            <a:off x="868680" y="2286000"/>
            <a:ext cx="475488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Generic interface BaseDAO&lt;T, ID&gt;</a:t>
            </a:r>
            <a:endParaRPr lang="en-US" sz="1500" dirty="0"/>
          </a:p>
          <a:p>
            <a:pPr marL="342900" indent="-342900">
              <a:spcAft>
                <a:spcPts val="800"/>
              </a:spcAft>
              <a:buSzPct val="100000"/>
              <a:buChar char="•"/>
            </a:pPr>
            <a:r>
              <a:rPr lang="en-US" sz="1500" dirty="0">
                <a:solidFill>
                  <a:schemeClr val="tx1"/>
                </a:solidFill>
              </a:rPr>
              <a:t>List&lt;Workout&gt; for the catalogue</a:t>
            </a:r>
            <a:endParaRPr lang="en-US" sz="1500" dirty="0"/>
          </a:p>
          <a:p>
            <a:pPr marL="342900" indent="-342900">
              <a:spcAft>
                <a:spcPts val="800"/>
              </a:spcAft>
              <a:buSzPct val="100000"/>
              <a:buChar char="•"/>
            </a:pPr>
            <a:r>
              <a:rPr lang="en-US" sz="1500" dirty="0">
                <a:solidFill>
                  <a:schemeClr val="tx1"/>
                </a:solidFill>
              </a:rPr>
              <a:t>Set&lt;Integer&gt; for fast enrolled checks</a:t>
            </a:r>
            <a:endParaRPr lang="en-US" sz="1500" dirty="0"/>
          </a:p>
          <a:p>
            <a:pPr marL="342900" indent="-342900">
              <a:spcAft>
                <a:spcPts val="800"/>
              </a:spcAft>
              <a:buSzPct val="100000"/>
              <a:buChar char="•"/>
            </a:pPr>
            <a:r>
              <a:rPr lang="en-US" sz="1500" dirty="0">
                <a:solidFill>
                  <a:schemeClr val="tx1"/>
                </a:solidFill>
              </a:rPr>
              <a:t>TreeMap + streams: calories per workout</a:t>
            </a:r>
            <a:endParaRPr lang="en-US" sz="1500" dirty="0"/>
          </a:p>
          <a:p>
            <a:pPr marL="342900" indent="-342900">
              <a:spcAft>
                <a:spcPts val="800"/>
              </a:spcAft>
              <a:buSzPct val="100000"/>
              <a:buChar char="•"/>
            </a:pPr>
            <a:r>
              <a:rPr lang="en-US" sz="1500" dirty="0">
                <a:solidFill>
                  <a:schemeClr val="tx1"/>
                </a:solidFill>
              </a:rPr>
              <a:t>Optional&lt;T&gt; instead of null returns</a:t>
            </a:r>
            <a:endParaRPr lang="en-US" sz="1500" dirty="0"/>
          </a:p>
        </p:txBody>
      </p:sp>
      <p:sp>
        <p:nvSpPr>
          <p:cNvPr id="7" name="exc-card"/>
          <p:cNvSpPr/>
          <p:nvPr/>
        </p:nvSpPr>
        <p:spPr>
          <a:xfrm>
            <a:off x="6263640" y="1463040"/>
            <a:ext cx="5394960" cy="3383280"/>
          </a:xfrm>
          <a:prstGeom prst="roundRect">
            <a:avLst>
              <a:gd name="adj" fmla="val 3243"/>
            </a:avLst>
          </a:prstGeom>
          <a:solidFill>
            <a:schemeClr val="bg2"/>
          </a:solidFill>
          <a:ln/>
        </p:spPr>
      </p:sp>
      <p:sp>
        <p:nvSpPr>
          <p:cNvPr id="8" name="Text 5"/>
          <p:cNvSpPr txBox="1"/>
          <p:nvPr/>
        </p:nvSpPr>
        <p:spPr>
          <a:xfrm>
            <a:off x="6583680" y="1691640"/>
            <a:ext cx="4754880" cy="457200"/>
          </a:xfrm>
          <a:prstGeom prst="rect">
            <a:avLst/>
          </a:prstGeom>
          <a:noFill/>
          <a:ln/>
        </p:spPr>
        <p:txBody>
          <a:bodyPr wrap="square" lIns="0" tIns="0" rIns="0" bIns="0" rtlCol="0" anchor="t"/>
          <a:lstStyle/>
          <a:p>
            <a:pPr indent="0" marL="0">
              <a:buNone/>
            </a:pPr>
            <a:r>
              <a:rPr lang="en-US" sz="2000" b="1" dirty="0">
                <a:solidFill>
                  <a:schemeClr val="tx1"/>
                </a:solidFill>
              </a:rPr>
              <a:t>Exception handling</a:t>
            </a:r>
            <a:endParaRPr lang="en-US" sz="2000" dirty="0"/>
          </a:p>
        </p:txBody>
      </p:sp>
      <p:sp>
        <p:nvSpPr>
          <p:cNvPr id="9" name="Text 6"/>
          <p:cNvSpPr txBox="1"/>
          <p:nvPr/>
        </p:nvSpPr>
        <p:spPr>
          <a:xfrm>
            <a:off x="6583680" y="2286000"/>
            <a:ext cx="475488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Custom checked AppException</a:t>
            </a:r>
            <a:endParaRPr lang="en-US" sz="1500" dirty="0"/>
          </a:p>
          <a:p>
            <a:pPr marL="342900" indent="-342900">
              <a:spcAft>
                <a:spcPts val="800"/>
              </a:spcAft>
              <a:buSzPct val="100000"/>
              <a:buChar char="•"/>
            </a:pPr>
            <a:r>
              <a:rPr lang="en-US" sz="1500" dirty="0">
                <a:solidFill>
                  <a:schemeClr val="tx1"/>
                </a:solidFill>
              </a:rPr>
              <a:t>DAOs wrap SQLException with clear messages</a:t>
            </a:r>
            <a:endParaRPr lang="en-US" sz="1500" dirty="0"/>
          </a:p>
          <a:p>
            <a:pPr marL="342900" indent="-342900">
              <a:spcAft>
                <a:spcPts val="800"/>
              </a:spcAft>
              <a:buSzPct val="100000"/>
              <a:buChar char="•"/>
            </a:pPr>
            <a:r>
              <a:rPr lang="en-US" sz="1500" dirty="0">
                <a:solidFill>
                  <a:schemeClr val="tx1"/>
                </a:solidFill>
              </a:rPr>
              <a:t>try-with-resources closes every connection</a:t>
            </a:r>
            <a:endParaRPr lang="en-US" sz="1500" dirty="0"/>
          </a:p>
          <a:p>
            <a:pPr marL="342900" indent="-342900">
              <a:spcAft>
                <a:spcPts val="800"/>
              </a:spcAft>
              <a:buSzPct val="100000"/>
              <a:buChar char="•"/>
            </a:pPr>
            <a:r>
              <a:rPr lang="en-US" sz="1500" dirty="0">
                <a:solidFill>
                  <a:schemeClr val="tx1"/>
                </a:solidFill>
              </a:rPr>
              <a:t>Servlets catch and show a friendly alert</a:t>
            </a:r>
            <a:endParaRPr lang="en-US" sz="1500" dirty="0"/>
          </a:p>
          <a:p>
            <a:pPr marL="342900" indent="-342900">
              <a:spcAft>
                <a:spcPts val="800"/>
              </a:spcAft>
              <a:buSzPct val="100000"/>
              <a:buChar char="•"/>
            </a:pPr>
            <a:r>
              <a:rPr lang="en-US" sz="1500" dirty="0">
                <a:solidFill>
                  <a:schemeClr val="tx1"/>
                </a:solidFill>
              </a:rPr>
              <a:t>Login errors stay generic (no user hints)</a:t>
            </a:r>
            <a:endParaRPr lang="en-US" sz="1500" dirty="0"/>
          </a:p>
        </p:txBody>
      </p:sp>
      <p:sp>
        <p:nvSpPr>
          <p:cNvPr id="10" name="code-card"/>
          <p:cNvSpPr/>
          <p:nvPr/>
        </p:nvSpPr>
        <p:spPr>
          <a:xfrm>
            <a:off x="548640" y="5074920"/>
            <a:ext cx="11109960" cy="1097280"/>
          </a:xfrm>
          <a:prstGeom prst="roundRect">
            <a:avLst>
              <a:gd name="adj" fmla="val 10000"/>
            </a:avLst>
          </a:prstGeom>
          <a:solidFill>
            <a:schemeClr val="tx1"/>
          </a:solidFill>
          <a:ln/>
        </p:spPr>
      </p:sp>
      <p:sp>
        <p:nvSpPr>
          <p:cNvPr id="11" name="Text 8"/>
          <p:cNvSpPr txBox="1"/>
          <p:nvPr/>
        </p:nvSpPr>
        <p:spPr>
          <a:xfrm>
            <a:off x="868680" y="5074920"/>
            <a:ext cx="10424160" cy="1097280"/>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public interface BaseDAO&lt;T, ID&gt;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Optional&lt;T&gt; findById(ID id) throws AppException;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List&lt;T&gt; findAll() throws AppException;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Multithreading and synchronization</a:t>
            </a:r>
            <a:endParaRPr lang="en-US" sz="3400" dirty="0"/>
          </a:p>
        </p:txBody>
      </p:sp>
      <p:sp>
        <p:nvSpPr>
          <p:cNvPr id="4" name="thread-card"/>
          <p:cNvSpPr/>
          <p:nvPr/>
        </p:nvSpPr>
        <p:spPr>
          <a:xfrm>
            <a:off x="548640" y="1463040"/>
            <a:ext cx="5120640" cy="4572000"/>
          </a:xfrm>
          <a:prstGeom prst="roundRect">
            <a:avLst>
              <a:gd name="adj" fmla="val 2400"/>
            </a:avLst>
          </a:prstGeom>
          <a:solidFill>
            <a:schemeClr val="bg2"/>
          </a:solidFill>
          <a:ln/>
        </p:spPr>
      </p:sp>
      <p:sp>
        <p:nvSpPr>
          <p:cNvPr id="5" name="Text 2"/>
          <p:cNvSpPr txBox="1"/>
          <p:nvPr/>
        </p:nvSpPr>
        <p:spPr>
          <a:xfrm>
            <a:off x="868680" y="1691640"/>
            <a:ext cx="4480560" cy="457200"/>
          </a:xfrm>
          <a:prstGeom prst="rect">
            <a:avLst/>
          </a:prstGeom>
          <a:noFill/>
          <a:ln/>
        </p:spPr>
        <p:txBody>
          <a:bodyPr wrap="square" lIns="0" tIns="0" rIns="0" bIns="0" rtlCol="0" anchor="t"/>
          <a:lstStyle/>
          <a:p>
            <a:pPr indent="0" marL="0">
              <a:buNone/>
            </a:pPr>
            <a:r>
              <a:rPr lang="en-US" sz="2000" b="1" dirty="0">
                <a:solidFill>
                  <a:schemeClr val="tx1"/>
                </a:solidFill>
              </a:rPr>
              <a:t>Why threads here?</a:t>
            </a:r>
            <a:endParaRPr lang="en-US" sz="2000" dirty="0"/>
          </a:p>
        </p:txBody>
      </p:sp>
      <p:sp>
        <p:nvSpPr>
          <p:cNvPr id="6" name="Text 3"/>
          <p:cNvSpPr txBox="1"/>
          <p:nvPr/>
        </p:nvSpPr>
        <p:spPr>
          <a:xfrm>
            <a:off x="868680" y="2286000"/>
            <a:ext cx="4480560" cy="3566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Registration returns instantly</a:t>
            </a:r>
            <a:endParaRPr lang="en-US" sz="1600" dirty="0"/>
          </a:p>
          <a:p>
            <a:pPr marL="342900" indent="-342900">
              <a:spcAft>
                <a:spcPts val="800"/>
              </a:spcAft>
              <a:buSzPct val="100000"/>
              <a:buChar char="•"/>
            </a:pPr>
            <a:r>
              <a:rPr lang="en-US" sz="1600" dirty="0">
                <a:solidFill>
                  <a:schemeClr val="tx1"/>
                </a:solidFill>
              </a:rPr>
              <a:t>ExecutorService with 2 worker threads</a:t>
            </a:r>
            <a:endParaRPr lang="en-US" sz="1600" dirty="0"/>
          </a:p>
          <a:p>
            <a:pPr marL="342900" indent="-342900">
              <a:spcAft>
                <a:spcPts val="800"/>
              </a:spcAft>
              <a:buSzPct val="100000"/>
              <a:buChar char="•"/>
            </a:pPr>
            <a:r>
              <a:rPr lang="en-US" sz="1600" dirty="0">
                <a:solidFill>
                  <a:schemeClr val="tx1"/>
                </a:solidFill>
              </a:rPr>
              <a:t>Shared counter guarded by synchronized</a:t>
            </a:r>
            <a:endParaRPr lang="en-US" sz="1600" dirty="0"/>
          </a:p>
          <a:p>
            <a:pPr marL="342900" indent="-342900">
              <a:spcAft>
                <a:spcPts val="800"/>
              </a:spcAft>
              <a:buSzPct val="100000"/>
              <a:buChar char="•"/>
            </a:pPr>
            <a:r>
              <a:rPr lang="en-US" sz="1600" dirty="0">
                <a:solidFill>
                  <a:schemeClr val="tx1"/>
                </a:solidFill>
              </a:rPr>
              <a:t>Pool shut down cleanly by the listener</a:t>
            </a:r>
            <a:endParaRPr lang="en-US" sz="1600" dirty="0"/>
          </a:p>
          <a:p>
            <a:pPr marL="342900" indent="-342900">
              <a:spcAft>
                <a:spcPts val="800"/>
              </a:spcAft>
              <a:buSzPct val="100000"/>
              <a:buChar char="•"/>
            </a:pPr>
            <a:r>
              <a:rPr lang="en-US" sz="1600" dirty="0">
                <a:solidFill>
                  <a:schemeClr val="tx1"/>
                </a:solidFill>
              </a:rPr>
              <a:t>Real gateway (email/SMS) can replace the stub</a:t>
            </a:r>
            <a:endParaRPr lang="en-US" sz="1600" dirty="0"/>
          </a:p>
        </p:txBody>
      </p:sp>
      <p:sp>
        <p:nvSpPr>
          <p:cNvPr id="7" name="node"/>
          <p:cNvSpPr/>
          <p:nvPr/>
        </p:nvSpPr>
        <p:spPr>
          <a:xfrm>
            <a:off x="5943600" y="1463040"/>
            <a:ext cx="1645920" cy="1097280"/>
          </a:xfrm>
          <a:prstGeom prst="roundRect">
            <a:avLst>
              <a:gd name="adj" fmla="val 8333"/>
            </a:avLst>
          </a:prstGeom>
          <a:solidFill>
            <a:schemeClr val="tx1"/>
          </a:solidFill>
          <a:ln/>
        </p:spPr>
      </p:sp>
      <p:sp>
        <p:nvSpPr>
          <p:cNvPr id="8" name="Text 5"/>
          <p:cNvSpPr txBox="1"/>
          <p:nvPr/>
        </p:nvSpPr>
        <p:spPr>
          <a:xfrm>
            <a:off x="5943600" y="1463040"/>
            <a:ext cx="1645920" cy="1097280"/>
          </a:xfrm>
          <a:prstGeom prst="rect">
            <a:avLst/>
          </a:prstGeom>
          <a:noFill/>
          <a:ln/>
        </p:spPr>
        <p:txBody>
          <a:bodyPr wrap="square" lIns="0" tIns="0" rIns="0" bIns="0" rtlCol="0" anchor="ctr"/>
          <a:lstStyle/>
          <a:p>
            <a:pPr algn="ctr" indent="0" marL="0">
              <a:buNone/>
            </a:pPr>
            <a:r>
              <a:rPr lang="en-US" sz="1400" b="1" dirty="0">
                <a:solidFill>
                  <a:schemeClr val="bg1"/>
                </a:solidFill>
              </a:rPr>
              <a:t>Request</a:t>
            </a:r>
            <a:endParaRPr lang="en-US" sz="1400" dirty="0"/>
          </a:p>
          <a:p>
            <a:pPr algn="ctr" indent="0" marL="0">
              <a:buNone/>
            </a:pPr>
            <a:r>
              <a:rPr lang="en-US" sz="1400" b="1" dirty="0">
                <a:solidFill>
                  <a:schemeClr val="bg1"/>
                </a:solidFill>
              </a:rPr>
              <a:t>thread</a:t>
            </a:r>
            <a:endParaRPr lang="en-US" sz="1400" dirty="0"/>
          </a:p>
        </p:txBody>
      </p:sp>
      <p:sp>
        <p:nvSpPr>
          <p:cNvPr id="9" name="arrow"/>
          <p:cNvSpPr/>
          <p:nvPr/>
        </p:nvSpPr>
        <p:spPr>
          <a:xfrm>
            <a:off x="7616952" y="1874520"/>
            <a:ext cx="320040" cy="274320"/>
          </a:xfrm>
          <a:prstGeom prst="rightArrow">
            <a:avLst/>
          </a:prstGeom>
          <a:solidFill>
            <a:schemeClr val="accent1"/>
          </a:solidFill>
          <a:ln/>
        </p:spPr>
      </p:sp>
      <p:sp>
        <p:nvSpPr>
          <p:cNvPr id="10" name="node"/>
          <p:cNvSpPr/>
          <p:nvPr/>
        </p:nvSpPr>
        <p:spPr>
          <a:xfrm>
            <a:off x="8001000" y="1463040"/>
            <a:ext cx="1645920" cy="1097280"/>
          </a:xfrm>
          <a:prstGeom prst="roundRect">
            <a:avLst>
              <a:gd name="adj" fmla="val 8333"/>
            </a:avLst>
          </a:prstGeom>
          <a:solidFill>
            <a:schemeClr val="accent2"/>
          </a:solidFill>
          <a:ln/>
        </p:spPr>
      </p:sp>
      <p:sp>
        <p:nvSpPr>
          <p:cNvPr id="11" name="Text 8"/>
          <p:cNvSpPr txBox="1"/>
          <p:nvPr/>
        </p:nvSpPr>
        <p:spPr>
          <a:xfrm>
            <a:off x="8001000" y="1463040"/>
            <a:ext cx="1645920" cy="1097280"/>
          </a:xfrm>
          <a:prstGeom prst="rect">
            <a:avLst/>
          </a:prstGeom>
          <a:noFill/>
          <a:ln/>
        </p:spPr>
        <p:txBody>
          <a:bodyPr wrap="square" lIns="0" tIns="0" rIns="0" bIns="0" rtlCol="0" anchor="ctr"/>
          <a:lstStyle/>
          <a:p>
            <a:pPr algn="ctr" indent="0" marL="0">
              <a:buNone/>
            </a:pPr>
            <a:r>
              <a:rPr lang="en-US" sz="1400" b="1" dirty="0">
                <a:solidFill>
                  <a:schemeClr val="bg1"/>
                </a:solidFill>
              </a:rPr>
              <a:t>Thread pool</a:t>
            </a:r>
            <a:endParaRPr lang="en-US" sz="1400" dirty="0"/>
          </a:p>
          <a:p>
            <a:pPr algn="ctr" indent="0" marL="0">
              <a:buNone/>
            </a:pPr>
            <a:r>
              <a:rPr lang="en-US" sz="1400" b="1" dirty="0">
                <a:solidFill>
                  <a:schemeClr val="bg1"/>
                </a:solidFill>
              </a:rPr>
              <a:t>(2 workers)</a:t>
            </a:r>
            <a:endParaRPr lang="en-US" sz="1400" dirty="0"/>
          </a:p>
        </p:txBody>
      </p:sp>
      <p:sp>
        <p:nvSpPr>
          <p:cNvPr id="12" name="arrow"/>
          <p:cNvSpPr/>
          <p:nvPr/>
        </p:nvSpPr>
        <p:spPr>
          <a:xfrm>
            <a:off x="9674352" y="1874520"/>
            <a:ext cx="320040" cy="274320"/>
          </a:xfrm>
          <a:prstGeom prst="rightArrow">
            <a:avLst/>
          </a:prstGeom>
          <a:solidFill>
            <a:schemeClr val="accent1"/>
          </a:solidFill>
          <a:ln/>
        </p:spPr>
      </p:sp>
      <p:sp>
        <p:nvSpPr>
          <p:cNvPr id="13" name="node"/>
          <p:cNvSpPr/>
          <p:nvPr/>
        </p:nvSpPr>
        <p:spPr>
          <a:xfrm>
            <a:off x="10058400" y="1463040"/>
            <a:ext cx="1645920" cy="1097280"/>
          </a:xfrm>
          <a:prstGeom prst="roundRect">
            <a:avLst>
              <a:gd name="adj" fmla="val 8333"/>
            </a:avLst>
          </a:prstGeom>
          <a:solidFill>
            <a:schemeClr val="accent1"/>
          </a:solidFill>
          <a:ln/>
        </p:spPr>
      </p:sp>
      <p:sp>
        <p:nvSpPr>
          <p:cNvPr id="14" name="Text 11"/>
          <p:cNvSpPr txBox="1"/>
          <p:nvPr/>
        </p:nvSpPr>
        <p:spPr>
          <a:xfrm>
            <a:off x="10058400" y="1463040"/>
            <a:ext cx="1645920" cy="1097280"/>
          </a:xfrm>
          <a:prstGeom prst="rect">
            <a:avLst/>
          </a:prstGeom>
          <a:noFill/>
          <a:ln/>
        </p:spPr>
        <p:txBody>
          <a:bodyPr wrap="square" lIns="0" tIns="0" rIns="0" bIns="0" rtlCol="0" anchor="ctr"/>
          <a:lstStyle/>
          <a:p>
            <a:pPr algn="ctr" indent="0" marL="0">
              <a:buNone/>
            </a:pPr>
            <a:r>
              <a:rPr lang="en-US" sz="1400" b="1" dirty="0">
                <a:solidFill>
                  <a:schemeClr val="bg1"/>
                </a:solidFill>
              </a:rPr>
              <a:t>Synchronized</a:t>
            </a:r>
            <a:endParaRPr lang="en-US" sz="1400" dirty="0"/>
          </a:p>
          <a:p>
            <a:pPr algn="ctr" indent="0" marL="0">
              <a:buNone/>
            </a:pPr>
            <a:r>
              <a:rPr lang="en-US" sz="1400" b="1" dirty="0">
                <a:solidFill>
                  <a:schemeClr val="bg1"/>
                </a:solidFill>
              </a:rPr>
              <a:t>counter</a:t>
            </a:r>
            <a:endParaRPr lang="en-US" sz="1400" dirty="0"/>
          </a:p>
        </p:txBody>
      </p:sp>
      <p:sp>
        <p:nvSpPr>
          <p:cNvPr id="15" name="thread-code"/>
          <p:cNvSpPr/>
          <p:nvPr/>
        </p:nvSpPr>
        <p:spPr>
          <a:xfrm>
            <a:off x="5943600" y="2926080"/>
            <a:ext cx="5760720" cy="3108960"/>
          </a:xfrm>
          <a:prstGeom prst="roundRect">
            <a:avLst>
              <a:gd name="adj" fmla="val 3529"/>
            </a:avLst>
          </a:prstGeom>
          <a:solidFill>
            <a:schemeClr val="tx1"/>
          </a:solidFill>
          <a:ln/>
        </p:spPr>
      </p:sp>
      <p:sp>
        <p:nvSpPr>
          <p:cNvPr id="16" name="Text 13"/>
          <p:cNvSpPr txBox="1"/>
          <p:nvPr/>
        </p:nvSpPr>
        <p:spPr>
          <a:xfrm>
            <a:off x="6217920" y="3108960"/>
            <a:ext cx="5303520" cy="2743200"/>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pool.submit(() -&gt;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Thread.sleep(300);      // gateway delay</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int n = increment();    // thread-safe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LOG.info("notification #" + 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private synchronized int increment()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return ++sentCount;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JDBC and servlet integration</a:t>
            </a:r>
            <a:endParaRPr lang="en-US" sz="3400" dirty="0"/>
          </a:p>
        </p:txBody>
      </p:sp>
      <p:sp>
        <p:nvSpPr>
          <p:cNvPr id="4" name="jdbc-card"/>
          <p:cNvSpPr/>
          <p:nvPr/>
        </p:nvSpPr>
        <p:spPr>
          <a:xfrm>
            <a:off x="548640" y="1463040"/>
            <a:ext cx="5212080" cy="4572000"/>
          </a:xfrm>
          <a:prstGeom prst="roundRect">
            <a:avLst>
              <a:gd name="adj" fmla="val 2400"/>
            </a:avLst>
          </a:prstGeom>
          <a:solidFill>
            <a:schemeClr val="bg2"/>
          </a:solidFill>
          <a:ln/>
        </p:spPr>
      </p:sp>
      <p:sp>
        <p:nvSpPr>
          <p:cNvPr id="5" name="icon-circle"/>
          <p:cNvSpPr/>
          <p:nvPr/>
        </p:nvSpPr>
        <p:spPr>
          <a:xfrm>
            <a:off x="868680" y="1737360"/>
            <a:ext cx="640080" cy="640080"/>
          </a:xfrm>
          <a:prstGeom prst="ellipse">
            <a:avLst/>
          </a:prstGeom>
          <a:solidFill>
            <a:schemeClr val="accent1"/>
          </a:solidFill>
          <a:ln/>
        </p:spPr>
      </p:sp>
      <p:pic>
        <p:nvPicPr>
          <p:cNvPr id="6" name="icon" descr="preencoded.png">    </p:cNvPr>
          <p:cNvPicPr>
            <a:picLocks noChangeAspect="1"/>
          </p:cNvPicPr>
          <p:nvPr/>
        </p:nvPicPr>
        <p:blipFill>
          <a:blip r:embed="rId1"/>
          <a:stretch>
            <a:fillRect/>
          </a:stretch>
        </p:blipFill>
        <p:spPr>
          <a:xfrm>
            <a:off x="1009498" y="1878178"/>
            <a:ext cx="358445" cy="358445"/>
          </a:xfrm>
          <a:prstGeom prst="rect">
            <a:avLst/>
          </a:prstGeom>
        </p:spPr>
      </p:pic>
      <p:sp>
        <p:nvSpPr>
          <p:cNvPr id="7" name="Text 3"/>
          <p:cNvSpPr txBox="1"/>
          <p:nvPr/>
        </p:nvSpPr>
        <p:spPr>
          <a:xfrm>
            <a:off x="1691640" y="1828800"/>
            <a:ext cx="3657600" cy="457200"/>
          </a:xfrm>
          <a:prstGeom prst="rect">
            <a:avLst/>
          </a:prstGeom>
          <a:noFill/>
          <a:ln/>
        </p:spPr>
        <p:txBody>
          <a:bodyPr wrap="square" lIns="0" tIns="0" rIns="0" bIns="0" rtlCol="0" anchor="t"/>
          <a:lstStyle/>
          <a:p>
            <a:pPr indent="0" marL="0">
              <a:buNone/>
            </a:pPr>
            <a:r>
              <a:rPr lang="en-US" sz="2000" b="1" dirty="0">
                <a:solidFill>
                  <a:schemeClr val="tx1"/>
                </a:solidFill>
              </a:rPr>
              <a:t>JDBC layer</a:t>
            </a:r>
            <a:endParaRPr lang="en-US" sz="2000" dirty="0"/>
          </a:p>
        </p:txBody>
      </p:sp>
      <p:sp>
        <p:nvSpPr>
          <p:cNvPr id="8" name="Text 4"/>
          <p:cNvSpPr txBox="1"/>
          <p:nvPr/>
        </p:nvSpPr>
        <p:spPr>
          <a:xfrm>
            <a:off x="868680" y="2697480"/>
            <a:ext cx="4572000" cy="3200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DBConnection loads the driver and settings once</a:t>
            </a:r>
            <a:endParaRPr lang="en-US" sz="1500" dirty="0"/>
          </a:p>
          <a:p>
            <a:pPr marL="342900" indent="-342900">
              <a:spcAft>
                <a:spcPts val="800"/>
              </a:spcAft>
              <a:buSzPct val="100000"/>
              <a:buChar char="•"/>
            </a:pPr>
            <a:r>
              <a:rPr lang="en-US" sz="1500" dirty="0">
                <a:solidFill>
                  <a:schemeClr val="tx1"/>
                </a:solidFill>
              </a:rPr>
              <a:t>db.properties, overridable by environment variables</a:t>
            </a:r>
            <a:endParaRPr lang="en-US" sz="1500" dirty="0"/>
          </a:p>
          <a:p>
            <a:pPr marL="342900" indent="-342900">
              <a:spcAft>
                <a:spcPts val="800"/>
              </a:spcAft>
              <a:buSzPct val="100000"/>
              <a:buChar char="•"/>
            </a:pPr>
            <a:r>
              <a:rPr lang="en-US" sz="1500" dirty="0">
                <a:solidFill>
                  <a:schemeClr val="tx1"/>
                </a:solidFill>
              </a:rPr>
              <a:t>PreparedStatement for every query</a:t>
            </a:r>
            <a:endParaRPr lang="en-US" sz="1500" dirty="0"/>
          </a:p>
          <a:p>
            <a:pPr marL="342900" indent="-342900">
              <a:spcAft>
                <a:spcPts val="800"/>
              </a:spcAft>
              <a:buSzPct val="100000"/>
              <a:buChar char="•"/>
            </a:pPr>
            <a:r>
              <a:rPr lang="en-US" sz="1500" dirty="0">
                <a:solidFill>
                  <a:schemeClr val="tx1"/>
                </a:solidFill>
              </a:rPr>
              <a:t>try-with-resources for connections and results</a:t>
            </a:r>
            <a:endParaRPr lang="en-US" sz="1500" dirty="0"/>
          </a:p>
          <a:p>
            <a:pPr marL="342900" indent="-342900">
              <a:spcAft>
                <a:spcPts val="800"/>
              </a:spcAft>
              <a:buSzPct val="100000"/>
              <a:buChar char="•"/>
            </a:pPr>
            <a:r>
              <a:rPr lang="en-US" sz="1500" dirty="0">
                <a:solidFill>
                  <a:schemeClr val="tx1"/>
                </a:solidFill>
              </a:rPr>
              <a:t>Four DAOs: User, Workout, Enrollment, Progress</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035040" y="1463040"/>
          <a:ext cx="5669280" cy="914400"/>
        </p:xfrm>
        <a:graphic>
          <a:graphicData uri="http://schemas.openxmlformats.org/drawingml/2006/table">
            <a:tbl>
              <a:tblPr/>
              <a:tblGrid>
                <a:gridCol w="1828800"/>
                <a:gridCol w="3840480"/>
              </a:tblGrid>
              <a:tr h="502920">
                <a:tc>
                  <a:txBody>
                    <a:bodyPr/>
                    <a:lstStyle/>
                    <a:p>
                      <a:pPr indent="0" marL="0">
                        <a:buNone/>
                      </a:pPr>
                      <a:r>
                        <a:rPr lang="en-US" sz="1400" b="1" dirty="0">
                          <a:solidFill>
                            <a:srgbClr val="FFFFFF"/>
                          </a:solidFill>
                        </a:rPr>
                        <a:t>URL</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rPr>
                        <a:t>Servlet and purpose</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4213D"/>
                    </a:solidFill>
                  </a:tcPr>
                </a:tc>
              </a:tr>
              <a:tr h="502920">
                <a:tc>
                  <a:txBody>
                    <a:bodyPr/>
                    <a:lstStyle/>
                    <a:p>
                      <a:pPr indent="0" marL="0">
                        <a:buNone/>
                      </a:pPr>
                      <a:r>
                        <a:rPr lang="en-US" sz="1400" dirty="0">
                          <a:solidFill>
                            <a:srgbClr val="14213D"/>
                          </a:solidFill>
                        </a:rPr>
                        <a:t>/login</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4213D"/>
                          </a:solidFill>
                        </a:rPr>
                        <a:t>LoginServlet: authenticate</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400" dirty="0">
                          <a:solidFill>
                            <a:srgbClr val="14213D"/>
                          </a:solidFill>
                        </a:rPr>
                        <a:t>/register</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4213D"/>
                          </a:solidFill>
                        </a:rPr>
                        <a:t>RegisterServlet: sign up</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400" dirty="0">
                          <a:solidFill>
                            <a:srgbClr val="14213D"/>
                          </a:solidFill>
                        </a:rPr>
                        <a:t>/app/dashboard</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4213D"/>
                          </a:solidFill>
                        </a:rPr>
                        <a:t>DashboardServlet: statistics</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400" dirty="0">
                          <a:solidFill>
                            <a:srgbClr val="14213D"/>
                          </a:solidFill>
                        </a:rPr>
                        <a:t>/app/workouts</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4213D"/>
                          </a:solidFill>
                        </a:rPr>
                        <a:t>WorkoutServlet: list, enrol, publish</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400" dirty="0">
                          <a:solidFill>
                            <a:srgbClr val="14213D"/>
                          </a:solidFill>
                        </a:rPr>
                        <a:t>/app/progress</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4213D"/>
                          </a:solidFill>
                        </a:rPr>
                        <a:t>ProgressServlet: log sessions</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400" dirty="0">
                          <a:solidFill>
                            <a:srgbClr val="14213D"/>
                          </a:solidFill>
                        </a:rPr>
                        <a:t>/app/logout</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4213D"/>
                          </a:solidFill>
                        </a:rPr>
                        <a:t>LogoutServlet: end session</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10" name="Text 5"/>
          <p:cNvSpPr txBox="1"/>
          <p:nvPr/>
        </p:nvSpPr>
        <p:spPr>
          <a:xfrm>
            <a:off x="6035040" y="5257800"/>
            <a:ext cx="5669280" cy="365760"/>
          </a:xfrm>
          <a:prstGeom prst="rect">
            <a:avLst/>
          </a:prstGeom>
          <a:noFill/>
          <a:ln/>
        </p:spPr>
        <p:txBody>
          <a:bodyPr wrap="square" lIns="0" tIns="0" rIns="0" bIns="0" rtlCol="0" anchor="t"/>
          <a:lstStyle/>
          <a:p>
            <a:pPr indent="0" marL="0">
              <a:buNone/>
            </a:pPr>
            <a:r>
              <a:rPr lang="en-US" sz="1400" dirty="0">
                <a:solidFill>
                  <a:schemeClr val="accent5"/>
                </a:solidFill>
              </a:rPr>
              <a:t>Every /app/* URL passes through AuthFilter first.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Security measures</a:t>
            </a:r>
            <a:endParaRPr lang="en-US" sz="3400" dirty="0"/>
          </a:p>
        </p:txBody>
      </p:sp>
      <p:sp>
        <p:nvSpPr>
          <p:cNvPr id="4" name="sec-card"/>
          <p:cNvSpPr/>
          <p:nvPr/>
        </p:nvSpPr>
        <p:spPr>
          <a:xfrm>
            <a:off x="548640" y="1463040"/>
            <a:ext cx="5394960" cy="2148840"/>
          </a:xfrm>
          <a:prstGeom prst="roundRect">
            <a:avLst>
              <a:gd name="adj" fmla="val 5106"/>
            </a:avLst>
          </a:prstGeom>
          <a:solidFill>
            <a:schemeClr val="bg2"/>
          </a:solidFill>
          <a:ln/>
        </p:spPr>
      </p:sp>
      <p:sp>
        <p:nvSpPr>
          <p:cNvPr id="5" name="icon-circle"/>
          <p:cNvSpPr/>
          <p:nvPr/>
        </p:nvSpPr>
        <p:spPr>
          <a:xfrm>
            <a:off x="868680" y="1828800"/>
            <a:ext cx="777240" cy="777240"/>
          </a:xfrm>
          <a:prstGeom prst="ellipse">
            <a:avLst/>
          </a:prstGeom>
          <a:solidFill>
            <a:schemeClr val="accent1"/>
          </a:solidFill>
          <a:ln/>
        </p:spPr>
      </p:sp>
      <p:pic>
        <p:nvPicPr>
          <p:cNvPr id="6" name="icon" descr="preencoded.png">    </p:cNvPr>
          <p:cNvPicPr>
            <a:picLocks noChangeAspect="1"/>
          </p:cNvPicPr>
          <p:nvPr/>
        </p:nvPicPr>
        <p:blipFill>
          <a:blip r:embed="rId1"/>
          <a:stretch>
            <a:fillRect/>
          </a:stretch>
        </p:blipFill>
        <p:spPr>
          <a:xfrm>
            <a:off x="1039673" y="1999793"/>
            <a:ext cx="435254" cy="435254"/>
          </a:xfrm>
          <a:prstGeom prst="rect">
            <a:avLst/>
          </a:prstGeom>
        </p:spPr>
      </p:pic>
      <p:sp>
        <p:nvSpPr>
          <p:cNvPr id="7" name="Text 3"/>
          <p:cNvSpPr txBox="1"/>
          <p:nvPr/>
        </p:nvSpPr>
        <p:spPr>
          <a:xfrm>
            <a:off x="1920240" y="1828800"/>
            <a:ext cx="3749040" cy="457200"/>
          </a:xfrm>
          <a:prstGeom prst="rect">
            <a:avLst/>
          </a:prstGeom>
          <a:noFill/>
          <a:ln/>
        </p:spPr>
        <p:txBody>
          <a:bodyPr wrap="square" lIns="0" tIns="0" rIns="0" bIns="0" rtlCol="0" anchor="t"/>
          <a:lstStyle/>
          <a:p>
            <a:pPr indent="0" marL="0">
              <a:buNone/>
            </a:pPr>
            <a:r>
              <a:rPr lang="en-US" sz="2000" b="1" dirty="0">
                <a:solidFill>
                  <a:schemeClr val="tx1"/>
                </a:solidFill>
              </a:rPr>
              <a:t>Password hashing</a:t>
            </a:r>
            <a:endParaRPr lang="en-US" sz="2000" dirty="0"/>
          </a:p>
        </p:txBody>
      </p:sp>
      <p:sp>
        <p:nvSpPr>
          <p:cNvPr id="8" name="Text 4"/>
          <p:cNvSpPr txBox="1"/>
          <p:nvPr/>
        </p:nvSpPr>
        <p:spPr>
          <a:xfrm>
            <a:off x="1920240" y="2377440"/>
            <a:ext cx="3749040" cy="1097280"/>
          </a:xfrm>
          <a:prstGeom prst="rect">
            <a:avLst/>
          </a:prstGeom>
          <a:noFill/>
          <a:ln/>
        </p:spPr>
        <p:txBody>
          <a:bodyPr wrap="square" lIns="0" tIns="0" rIns="0" bIns="0" rtlCol="0" anchor="t"/>
          <a:lstStyle/>
          <a:p>
            <a:pPr indent="0" marL="0">
              <a:buNone/>
            </a:pPr>
            <a:r>
              <a:rPr lang="en-US" sz="1400" dirty="0">
                <a:solidFill>
                  <a:schemeClr val="tx1"/>
                </a:solidFill>
              </a:rPr>
              <a:t>PBKDF2-HMAC-SHA256 with a random salt. Plain passwords are never stored.</a:t>
            </a:r>
            <a:endParaRPr lang="en-US" sz="1400" dirty="0"/>
          </a:p>
        </p:txBody>
      </p:sp>
      <p:sp>
        <p:nvSpPr>
          <p:cNvPr id="9" name="sec-card"/>
          <p:cNvSpPr/>
          <p:nvPr/>
        </p:nvSpPr>
        <p:spPr>
          <a:xfrm>
            <a:off x="6263640" y="1463040"/>
            <a:ext cx="5394960" cy="2148840"/>
          </a:xfrm>
          <a:prstGeom prst="roundRect">
            <a:avLst>
              <a:gd name="adj" fmla="val 5106"/>
            </a:avLst>
          </a:prstGeom>
          <a:solidFill>
            <a:schemeClr val="bg2"/>
          </a:solidFill>
          <a:ln/>
        </p:spPr>
      </p:sp>
      <p:sp>
        <p:nvSpPr>
          <p:cNvPr id="10" name="icon-circle"/>
          <p:cNvSpPr/>
          <p:nvPr/>
        </p:nvSpPr>
        <p:spPr>
          <a:xfrm>
            <a:off x="6583680" y="1828800"/>
            <a:ext cx="777240" cy="777240"/>
          </a:xfrm>
          <a:prstGeom prst="ellipse">
            <a:avLst/>
          </a:prstGeom>
          <a:solidFill>
            <a:schemeClr val="accent2"/>
          </a:solidFill>
          <a:ln/>
        </p:spPr>
      </p:sp>
      <p:pic>
        <p:nvPicPr>
          <p:cNvPr id="11" name="icon" descr="preencoded.png">    </p:cNvPr>
          <p:cNvPicPr>
            <a:picLocks noChangeAspect="1"/>
          </p:cNvPicPr>
          <p:nvPr/>
        </p:nvPicPr>
        <p:blipFill>
          <a:blip r:embed="rId2"/>
          <a:stretch>
            <a:fillRect/>
          </a:stretch>
        </p:blipFill>
        <p:spPr>
          <a:xfrm>
            <a:off x="6754673" y="1999793"/>
            <a:ext cx="435254" cy="435254"/>
          </a:xfrm>
          <a:prstGeom prst="rect">
            <a:avLst/>
          </a:prstGeom>
        </p:spPr>
      </p:pic>
      <p:sp>
        <p:nvSpPr>
          <p:cNvPr id="12" name="Text 7"/>
          <p:cNvSpPr txBox="1"/>
          <p:nvPr/>
        </p:nvSpPr>
        <p:spPr>
          <a:xfrm>
            <a:off x="7635240" y="1828800"/>
            <a:ext cx="3749040" cy="457200"/>
          </a:xfrm>
          <a:prstGeom prst="rect">
            <a:avLst/>
          </a:prstGeom>
          <a:noFill/>
          <a:ln/>
        </p:spPr>
        <p:txBody>
          <a:bodyPr wrap="square" lIns="0" tIns="0" rIns="0" bIns="0" rtlCol="0" anchor="t"/>
          <a:lstStyle/>
          <a:p>
            <a:pPr indent="0" marL="0">
              <a:buNone/>
            </a:pPr>
            <a:r>
              <a:rPr lang="en-US" sz="2000" b="1" dirty="0">
                <a:solidFill>
                  <a:schemeClr val="tx1"/>
                </a:solidFill>
              </a:rPr>
              <a:t>SQL injection</a:t>
            </a:r>
            <a:endParaRPr lang="en-US" sz="2000" dirty="0"/>
          </a:p>
        </p:txBody>
      </p:sp>
      <p:sp>
        <p:nvSpPr>
          <p:cNvPr id="13" name="Text 8"/>
          <p:cNvSpPr txBox="1"/>
          <p:nvPr/>
        </p:nvSpPr>
        <p:spPr>
          <a:xfrm>
            <a:off x="7635240" y="2377440"/>
            <a:ext cx="3749040" cy="1097280"/>
          </a:xfrm>
          <a:prstGeom prst="rect">
            <a:avLst/>
          </a:prstGeom>
          <a:noFill/>
          <a:ln/>
        </p:spPr>
        <p:txBody>
          <a:bodyPr wrap="square" lIns="0" tIns="0" rIns="0" bIns="0" rtlCol="0" anchor="t"/>
          <a:lstStyle/>
          <a:p>
            <a:pPr indent="0" marL="0">
              <a:buNone/>
            </a:pPr>
            <a:r>
              <a:rPr lang="en-US" sz="1400" dirty="0">
                <a:solidFill>
                  <a:schemeClr val="tx1"/>
                </a:solidFill>
              </a:rPr>
              <a:t>Every query uses PreparedStatement with bound parameters.</a:t>
            </a:r>
            <a:endParaRPr lang="en-US" sz="1400" dirty="0"/>
          </a:p>
        </p:txBody>
      </p:sp>
      <p:sp>
        <p:nvSpPr>
          <p:cNvPr id="14" name="sec-card"/>
          <p:cNvSpPr/>
          <p:nvPr/>
        </p:nvSpPr>
        <p:spPr>
          <a:xfrm>
            <a:off x="548640" y="3840480"/>
            <a:ext cx="5394960" cy="2148840"/>
          </a:xfrm>
          <a:prstGeom prst="roundRect">
            <a:avLst>
              <a:gd name="adj" fmla="val 5106"/>
            </a:avLst>
          </a:prstGeom>
          <a:solidFill>
            <a:schemeClr val="bg2"/>
          </a:solidFill>
          <a:ln/>
        </p:spPr>
      </p:sp>
      <p:sp>
        <p:nvSpPr>
          <p:cNvPr id="15" name="icon-circle"/>
          <p:cNvSpPr/>
          <p:nvPr/>
        </p:nvSpPr>
        <p:spPr>
          <a:xfrm>
            <a:off x="868680" y="4206240"/>
            <a:ext cx="777240" cy="777240"/>
          </a:xfrm>
          <a:prstGeom prst="ellipse">
            <a:avLst/>
          </a:prstGeom>
          <a:solidFill>
            <a:schemeClr val="accent1"/>
          </a:solidFill>
          <a:ln/>
        </p:spPr>
      </p:sp>
      <p:pic>
        <p:nvPicPr>
          <p:cNvPr id="16" name="icon" descr="preencoded.png">    </p:cNvPr>
          <p:cNvPicPr>
            <a:picLocks noChangeAspect="1"/>
          </p:cNvPicPr>
          <p:nvPr/>
        </p:nvPicPr>
        <p:blipFill>
          <a:blip r:embed="rId3"/>
          <a:stretch>
            <a:fillRect/>
          </a:stretch>
        </p:blipFill>
        <p:spPr>
          <a:xfrm>
            <a:off x="1039673" y="4377233"/>
            <a:ext cx="435254" cy="435254"/>
          </a:xfrm>
          <a:prstGeom prst="rect">
            <a:avLst/>
          </a:prstGeom>
        </p:spPr>
      </p:pic>
      <p:sp>
        <p:nvSpPr>
          <p:cNvPr id="17" name="Text 11"/>
          <p:cNvSpPr txBox="1"/>
          <p:nvPr/>
        </p:nvSpPr>
        <p:spPr>
          <a:xfrm>
            <a:off x="1920240" y="4206240"/>
            <a:ext cx="3749040" cy="457200"/>
          </a:xfrm>
          <a:prstGeom prst="rect">
            <a:avLst/>
          </a:prstGeom>
          <a:noFill/>
          <a:ln/>
        </p:spPr>
        <p:txBody>
          <a:bodyPr wrap="square" lIns="0" tIns="0" rIns="0" bIns="0" rtlCol="0" anchor="t"/>
          <a:lstStyle/>
          <a:p>
            <a:pPr indent="0" marL="0">
              <a:buNone/>
            </a:pPr>
            <a:r>
              <a:rPr lang="en-US" sz="2000" b="1" dirty="0">
                <a:solidFill>
                  <a:schemeClr val="tx1"/>
                </a:solidFill>
              </a:rPr>
              <a:t>Cross-site scripting</a:t>
            </a:r>
            <a:endParaRPr lang="en-US" sz="2000" dirty="0"/>
          </a:p>
        </p:txBody>
      </p:sp>
      <p:sp>
        <p:nvSpPr>
          <p:cNvPr id="18" name="Text 12"/>
          <p:cNvSpPr txBox="1"/>
          <p:nvPr/>
        </p:nvSpPr>
        <p:spPr>
          <a:xfrm>
            <a:off x="1920240" y="4754880"/>
            <a:ext cx="3749040" cy="1097280"/>
          </a:xfrm>
          <a:prstGeom prst="rect">
            <a:avLst/>
          </a:prstGeom>
          <a:noFill/>
          <a:ln/>
        </p:spPr>
        <p:txBody>
          <a:bodyPr wrap="square" lIns="0" tIns="0" rIns="0" bIns="0" rtlCol="0" anchor="t"/>
          <a:lstStyle/>
          <a:p>
            <a:pPr indent="0" marL="0">
              <a:buNone/>
            </a:pPr>
            <a:r>
              <a:rPr lang="en-US" sz="1400" dirty="0">
                <a:solidFill>
                  <a:schemeClr val="tx1"/>
                </a:solidFill>
              </a:rPr>
              <a:t>All JSP output goes through c:out so user text is escaped.</a:t>
            </a:r>
            <a:endParaRPr lang="en-US" sz="1400" dirty="0"/>
          </a:p>
        </p:txBody>
      </p:sp>
      <p:sp>
        <p:nvSpPr>
          <p:cNvPr id="19" name="sec-card"/>
          <p:cNvSpPr/>
          <p:nvPr/>
        </p:nvSpPr>
        <p:spPr>
          <a:xfrm>
            <a:off x="6263640" y="3840480"/>
            <a:ext cx="5394960" cy="2148840"/>
          </a:xfrm>
          <a:prstGeom prst="roundRect">
            <a:avLst>
              <a:gd name="adj" fmla="val 5106"/>
            </a:avLst>
          </a:prstGeom>
          <a:solidFill>
            <a:schemeClr val="bg2"/>
          </a:solidFill>
          <a:ln/>
        </p:spPr>
      </p:sp>
      <p:sp>
        <p:nvSpPr>
          <p:cNvPr id="20" name="icon-circle"/>
          <p:cNvSpPr/>
          <p:nvPr/>
        </p:nvSpPr>
        <p:spPr>
          <a:xfrm>
            <a:off x="6583680" y="4206240"/>
            <a:ext cx="777240" cy="777240"/>
          </a:xfrm>
          <a:prstGeom prst="ellipse">
            <a:avLst/>
          </a:prstGeom>
          <a:solidFill>
            <a:schemeClr val="accent2"/>
          </a:solidFill>
          <a:ln/>
        </p:spPr>
      </p:sp>
      <p:pic>
        <p:nvPicPr>
          <p:cNvPr id="21" name="icon" descr="preencoded.png">    </p:cNvPr>
          <p:cNvPicPr>
            <a:picLocks noChangeAspect="1"/>
          </p:cNvPicPr>
          <p:nvPr/>
        </p:nvPicPr>
        <p:blipFill>
          <a:blip r:embed="rId4"/>
          <a:stretch>
            <a:fillRect/>
          </a:stretch>
        </p:blipFill>
        <p:spPr>
          <a:xfrm>
            <a:off x="6754673" y="4377233"/>
            <a:ext cx="435254" cy="435254"/>
          </a:xfrm>
          <a:prstGeom prst="rect">
            <a:avLst/>
          </a:prstGeom>
        </p:spPr>
      </p:pic>
      <p:sp>
        <p:nvSpPr>
          <p:cNvPr id="22" name="Text 15"/>
          <p:cNvSpPr txBox="1"/>
          <p:nvPr/>
        </p:nvSpPr>
        <p:spPr>
          <a:xfrm>
            <a:off x="7635240" y="4206240"/>
            <a:ext cx="3749040" cy="457200"/>
          </a:xfrm>
          <a:prstGeom prst="rect">
            <a:avLst/>
          </a:prstGeom>
          <a:noFill/>
          <a:ln/>
        </p:spPr>
        <p:txBody>
          <a:bodyPr wrap="square" lIns="0" tIns="0" rIns="0" bIns="0" rtlCol="0" anchor="t"/>
          <a:lstStyle/>
          <a:p>
            <a:pPr indent="0" marL="0">
              <a:buNone/>
            </a:pPr>
            <a:r>
              <a:rPr lang="en-US" sz="2000" b="1" dirty="0">
                <a:solidFill>
                  <a:schemeClr val="tx1"/>
                </a:solidFill>
              </a:rPr>
              <a:t>Sessions and roles</a:t>
            </a:r>
            <a:endParaRPr lang="en-US" sz="2000" dirty="0"/>
          </a:p>
        </p:txBody>
      </p:sp>
      <p:sp>
        <p:nvSpPr>
          <p:cNvPr id="23" name="Text 16"/>
          <p:cNvSpPr txBox="1"/>
          <p:nvPr/>
        </p:nvSpPr>
        <p:spPr>
          <a:xfrm>
            <a:off x="7635240" y="4754880"/>
            <a:ext cx="3749040" cy="1097280"/>
          </a:xfrm>
          <a:prstGeom prst="rect">
            <a:avLst/>
          </a:prstGeom>
          <a:noFill/>
          <a:ln/>
        </p:spPr>
        <p:txBody>
          <a:bodyPr wrap="square" lIns="0" tIns="0" rIns="0" bIns="0" rtlCol="0" anchor="t"/>
          <a:lstStyle/>
          <a:p>
            <a:pPr indent="0" marL="0">
              <a:buNone/>
            </a:pPr>
            <a:r>
              <a:rPr lang="en-US" sz="1400" dirty="0">
                <a:solidFill>
                  <a:schemeClr val="tx1"/>
                </a:solidFill>
              </a:rPr>
              <a:t>Session regenerated at login, HttpOnly cookies, role checks on the server.</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Rubric coverage</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680960" cy="914400"/>
        </p:xfrm>
        <a:graphic>
          <a:graphicData uri="http://schemas.openxmlformats.org/drawingml/2006/table">
            <a:tbl>
              <a:tblPr/>
              <a:tblGrid>
                <a:gridCol w="3108960"/>
                <a:gridCol w="822960"/>
                <a:gridCol w="3749040"/>
              </a:tblGrid>
              <a:tr h="777240">
                <a:tc>
                  <a:txBody>
                    <a:bodyPr/>
                    <a:lstStyle/>
                    <a:p>
                      <a:pPr indent="0" marL="0">
                        <a:buNone/>
                      </a:pPr>
                      <a:r>
                        <a:rPr lang="en-US" sz="1400" b="1" dirty="0">
                          <a:solidFill>
                            <a:srgbClr val="FFFFFF"/>
                          </a:solidFill>
                        </a:rPr>
                        <a:t>Criterion</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rPr>
                        <a:t>Marks</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rPr>
                        <a:t>Evidence in FitPro</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4213D"/>
                    </a:solidFill>
                  </a:tcPr>
                </a:tc>
              </a:tr>
              <a:tr h="777240">
                <a:tc>
                  <a:txBody>
                    <a:bodyPr/>
                    <a:lstStyle/>
                    <a:p>
                      <a:pPr indent="0" marL="0">
                        <a:buNone/>
                      </a:pPr>
                      <a:r>
                        <a:rPr lang="en-US" sz="1400" dirty="0">
                          <a:solidFill>
                            <a:srgbClr val="14213D"/>
                          </a:solidFill>
                        </a:rPr>
                        <a:t>Problem understanding and solution design</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4213D"/>
                          </a:solidFill>
                        </a:rPr>
                        <a:t>8</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4213D"/>
                          </a:solidFill>
                        </a:rPr>
                        <a:t>Role-based platform, layered MVC design</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777240">
                <a:tc>
                  <a:txBody>
                    <a:bodyPr/>
                    <a:lstStyle/>
                    <a:p>
                      <a:pPr indent="0" marL="0">
                        <a:buNone/>
                      </a:pPr>
                      <a:r>
                        <a:rPr lang="en-US" sz="1400" dirty="0">
                          <a:solidFill>
                            <a:srgbClr val="14213D"/>
                          </a:solidFill>
                        </a:rPr>
                        <a:t>Core Java concepts</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4213D"/>
                          </a:solidFill>
                        </a:rPr>
                        <a:t>10</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4213D"/>
                          </a:solidFill>
                        </a:rPr>
                        <a:t>OOP, collections, generics, exceptions, threads</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777240">
                <a:tc>
                  <a:txBody>
                    <a:bodyPr/>
                    <a:lstStyle/>
                    <a:p>
                      <a:pPr indent="0" marL="0">
                        <a:buNone/>
                      </a:pPr>
                      <a:r>
                        <a:rPr lang="en-US" sz="1400" dirty="0">
                          <a:solidFill>
                            <a:srgbClr val="14213D"/>
                          </a:solidFill>
                        </a:rPr>
                        <a:t>Database integration (JDBC)</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4213D"/>
                          </a:solidFill>
                        </a:rPr>
                        <a:t>8</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4213D"/>
                          </a:solidFill>
                        </a:rPr>
                        <a:t>DBConnection, 4 DAOs, PreparedStatement</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777240">
                <a:tc>
                  <a:txBody>
                    <a:bodyPr/>
                    <a:lstStyle/>
                    <a:p>
                      <a:pPr indent="0" marL="0">
                        <a:buNone/>
                      </a:pPr>
                      <a:r>
                        <a:rPr lang="en-US" sz="1400" dirty="0">
                          <a:solidFill>
                            <a:srgbClr val="14213D"/>
                          </a:solidFill>
                        </a:rPr>
                        <a:t>Servlets and web integration</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4213D"/>
                          </a:solidFill>
                        </a:rPr>
                        <a:t>7</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4213D"/>
                          </a:solidFill>
                        </a:rPr>
                        <a:t>6 servlets, filter, listener, JSP and JSTL</a:t>
                      </a:r>
                      <a:endParaRPr lang="en-US" sz="1400" dirty="0"/>
                    </a:p>
                  </a:txBody>
                  <a:tcPr marL="91440" marR="91440"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5" name="marks-card"/>
          <p:cNvSpPr/>
          <p:nvPr/>
        </p:nvSpPr>
        <p:spPr>
          <a:xfrm>
            <a:off x="8595360" y="1463040"/>
            <a:ext cx="3108960" cy="2468880"/>
          </a:xfrm>
          <a:prstGeom prst="roundRect">
            <a:avLst>
              <a:gd name="adj" fmla="val 4444"/>
            </a:avLst>
          </a:prstGeom>
          <a:solidFill>
            <a:schemeClr val="tx1"/>
          </a:solidFill>
          <a:ln/>
        </p:spPr>
      </p:sp>
      <p:sp>
        <p:nvSpPr>
          <p:cNvPr id="6" name="Text 2"/>
          <p:cNvSpPr txBox="1"/>
          <p:nvPr/>
        </p:nvSpPr>
        <p:spPr>
          <a:xfrm>
            <a:off x="8595360" y="1645920"/>
            <a:ext cx="3108960" cy="1188720"/>
          </a:xfrm>
          <a:prstGeom prst="rect">
            <a:avLst/>
          </a:prstGeom>
          <a:noFill/>
          <a:ln/>
        </p:spPr>
        <p:txBody>
          <a:bodyPr wrap="square" lIns="0" tIns="0" rIns="0" bIns="0" rtlCol="0" anchor="t"/>
          <a:lstStyle/>
          <a:p>
            <a:pPr algn="ctr" indent="0" marL="0">
              <a:buNone/>
            </a:pPr>
            <a:r>
              <a:rPr lang="en-US" sz="8000" b="1" dirty="0">
                <a:solidFill>
                  <a:schemeClr val="accent1"/>
                </a:solidFill>
              </a:rPr>
              <a:t>33</a:t>
            </a:r>
            <a:endParaRPr lang="en-US" sz="8000" dirty="0"/>
          </a:p>
        </p:txBody>
      </p:sp>
      <p:sp>
        <p:nvSpPr>
          <p:cNvPr id="7" name="Text 3"/>
          <p:cNvSpPr txBox="1"/>
          <p:nvPr/>
        </p:nvSpPr>
        <p:spPr>
          <a:xfrm>
            <a:off x="8595360" y="3017520"/>
            <a:ext cx="3108960" cy="457200"/>
          </a:xfrm>
          <a:prstGeom prst="rect">
            <a:avLst/>
          </a:prstGeom>
          <a:noFill/>
          <a:ln/>
        </p:spPr>
        <p:txBody>
          <a:bodyPr wrap="square" lIns="0" tIns="0" rIns="0" bIns="0" rtlCol="0" anchor="t"/>
          <a:lstStyle/>
          <a:p>
            <a:pPr algn="ctr" indent="0" marL="0">
              <a:buNone/>
            </a:pPr>
            <a:r>
              <a:rPr lang="en-US" sz="1800" dirty="0">
                <a:solidFill>
                  <a:schemeClr val="bg1"/>
                </a:solidFill>
              </a:rPr>
              <a:t>marks addressed</a:t>
            </a:r>
            <a:endParaRPr lang="en-US" sz="1800" dirty="0"/>
          </a:p>
        </p:txBody>
      </p:sp>
      <p:sp>
        <p:nvSpPr>
          <p:cNvPr id="8" name="bonus-card"/>
          <p:cNvSpPr/>
          <p:nvPr/>
        </p:nvSpPr>
        <p:spPr>
          <a:xfrm>
            <a:off x="8595360" y="4160520"/>
            <a:ext cx="3108960" cy="1874520"/>
          </a:xfrm>
          <a:prstGeom prst="roundRect">
            <a:avLst>
              <a:gd name="adj" fmla="val 5854"/>
            </a:avLst>
          </a:prstGeom>
          <a:solidFill>
            <a:schemeClr val="bg2"/>
          </a:solidFill>
          <a:ln/>
        </p:spPr>
      </p:sp>
      <p:sp>
        <p:nvSpPr>
          <p:cNvPr id="9" name="Text 5"/>
          <p:cNvSpPr txBox="1"/>
          <p:nvPr/>
        </p:nvSpPr>
        <p:spPr>
          <a:xfrm>
            <a:off x="8823960" y="4297680"/>
            <a:ext cx="2651760" cy="1645920"/>
          </a:xfrm>
          <a:prstGeom prst="rect">
            <a:avLst/>
          </a:prstGeom>
          <a:noFill/>
          <a:ln/>
        </p:spPr>
        <p:txBody>
          <a:bodyPr wrap="square" lIns="0" tIns="0" rIns="0" bIns="0" rtlCol="0" anchor="ctr"/>
          <a:lstStyle/>
          <a:p>
            <a:pPr indent="0" marL="0">
              <a:buNone/>
            </a:pPr>
            <a:r>
              <a:rPr lang="en-US" sz="1400" dirty="0">
                <a:solidFill>
                  <a:schemeClr val="tx1"/>
                </a:solidFill>
              </a:rPr>
              <a:t>Bonus: topics from the GUI rubric are also covered (collections, threads, DB classes).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bg1"/>
                </a:solidFill>
              </a:rPr>
              <a:t>Live demo flow and future scope</a:t>
            </a:r>
            <a:endParaRPr lang="en-US" sz="3400" dirty="0"/>
          </a:p>
        </p:txBody>
      </p:sp>
      <p:sp>
        <p:nvSpPr>
          <p:cNvPr id="4" name="step-circle"/>
          <p:cNvSpPr/>
          <p:nvPr/>
        </p:nvSpPr>
        <p:spPr>
          <a:xfrm>
            <a:off x="640080" y="1554480"/>
            <a:ext cx="731520" cy="731520"/>
          </a:xfrm>
          <a:prstGeom prst="ellipse">
            <a:avLst/>
          </a:prstGeom>
          <a:solidFill>
            <a:schemeClr val="accent1"/>
          </a:solidFill>
          <a:ln/>
        </p:spPr>
      </p:sp>
      <p:sp>
        <p:nvSpPr>
          <p:cNvPr id="5" name="Text 2"/>
          <p:cNvSpPr txBox="1"/>
          <p:nvPr/>
        </p:nvSpPr>
        <p:spPr>
          <a:xfrm>
            <a:off x="640080" y="155448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6" name="Text 3"/>
          <p:cNvSpPr txBox="1"/>
          <p:nvPr/>
        </p:nvSpPr>
        <p:spPr>
          <a:xfrm>
            <a:off x="1645920" y="1554480"/>
            <a:ext cx="4572000" cy="731520"/>
          </a:xfrm>
          <a:prstGeom prst="rect">
            <a:avLst/>
          </a:prstGeom>
          <a:noFill/>
          <a:ln/>
        </p:spPr>
        <p:txBody>
          <a:bodyPr wrap="square" lIns="0" tIns="0" rIns="0" bIns="0" rtlCol="0" anchor="ctr"/>
          <a:lstStyle/>
          <a:p>
            <a:pPr indent="0" marL="0">
              <a:buNone/>
            </a:pPr>
            <a:r>
              <a:rPr lang="en-US" sz="1800" dirty="0">
                <a:solidFill>
                  <a:schemeClr val="bg1"/>
                </a:solidFill>
              </a:rPr>
              <a:t>Register a Trainer and publish a program</a:t>
            </a:r>
            <a:endParaRPr lang="en-US" sz="1800" dirty="0"/>
          </a:p>
        </p:txBody>
      </p:sp>
      <p:sp>
        <p:nvSpPr>
          <p:cNvPr id="7" name="step-circle"/>
          <p:cNvSpPr/>
          <p:nvPr/>
        </p:nvSpPr>
        <p:spPr>
          <a:xfrm>
            <a:off x="640080" y="2651760"/>
            <a:ext cx="731520" cy="731520"/>
          </a:xfrm>
          <a:prstGeom prst="ellipse">
            <a:avLst/>
          </a:prstGeom>
          <a:solidFill>
            <a:schemeClr val="accent1"/>
          </a:solidFill>
          <a:ln/>
        </p:spPr>
      </p:sp>
      <p:sp>
        <p:nvSpPr>
          <p:cNvPr id="8" name="Text 5"/>
          <p:cNvSpPr txBox="1"/>
          <p:nvPr/>
        </p:nvSpPr>
        <p:spPr>
          <a:xfrm>
            <a:off x="640080" y="265176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9" name="Text 6"/>
          <p:cNvSpPr txBox="1"/>
          <p:nvPr/>
        </p:nvSpPr>
        <p:spPr>
          <a:xfrm>
            <a:off x="1645920" y="2651760"/>
            <a:ext cx="4572000" cy="731520"/>
          </a:xfrm>
          <a:prstGeom prst="rect">
            <a:avLst/>
          </a:prstGeom>
          <a:noFill/>
          <a:ln/>
        </p:spPr>
        <p:txBody>
          <a:bodyPr wrap="square" lIns="0" tIns="0" rIns="0" bIns="0" rtlCol="0" anchor="ctr"/>
          <a:lstStyle/>
          <a:p>
            <a:pPr indent="0" marL="0">
              <a:buNone/>
            </a:pPr>
            <a:r>
              <a:rPr lang="en-US" sz="1800" dirty="0">
                <a:solidFill>
                  <a:schemeClr val="bg1"/>
                </a:solidFill>
              </a:rPr>
              <a:t>Register a Member and browse workouts</a:t>
            </a:r>
            <a:endParaRPr lang="en-US" sz="1800" dirty="0"/>
          </a:p>
        </p:txBody>
      </p:sp>
      <p:sp>
        <p:nvSpPr>
          <p:cNvPr id="10" name="step-circle"/>
          <p:cNvSpPr/>
          <p:nvPr/>
        </p:nvSpPr>
        <p:spPr>
          <a:xfrm>
            <a:off x="640080" y="3749040"/>
            <a:ext cx="731520" cy="731520"/>
          </a:xfrm>
          <a:prstGeom prst="ellipse">
            <a:avLst/>
          </a:prstGeom>
          <a:solidFill>
            <a:schemeClr val="accent1"/>
          </a:solidFill>
          <a:ln/>
        </p:spPr>
      </p:sp>
      <p:sp>
        <p:nvSpPr>
          <p:cNvPr id="11" name="Text 8"/>
          <p:cNvSpPr txBox="1"/>
          <p:nvPr/>
        </p:nvSpPr>
        <p:spPr>
          <a:xfrm>
            <a:off x="640080" y="374904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2" name="Text 9"/>
          <p:cNvSpPr txBox="1"/>
          <p:nvPr/>
        </p:nvSpPr>
        <p:spPr>
          <a:xfrm>
            <a:off x="1645920" y="3749040"/>
            <a:ext cx="4572000" cy="731520"/>
          </a:xfrm>
          <a:prstGeom prst="rect">
            <a:avLst/>
          </a:prstGeom>
          <a:noFill/>
          <a:ln/>
        </p:spPr>
        <p:txBody>
          <a:bodyPr wrap="square" lIns="0" tIns="0" rIns="0" bIns="0" rtlCol="0" anchor="ctr"/>
          <a:lstStyle/>
          <a:p>
            <a:pPr indent="0" marL="0">
              <a:buNone/>
            </a:pPr>
            <a:r>
              <a:rPr lang="en-US" sz="1800" dirty="0">
                <a:solidFill>
                  <a:schemeClr val="bg1"/>
                </a:solidFill>
              </a:rPr>
              <a:t>Enrol in a program from the catalogue</a:t>
            </a:r>
            <a:endParaRPr lang="en-US" sz="1800" dirty="0"/>
          </a:p>
        </p:txBody>
      </p:sp>
      <p:sp>
        <p:nvSpPr>
          <p:cNvPr id="13" name="step-circle"/>
          <p:cNvSpPr/>
          <p:nvPr/>
        </p:nvSpPr>
        <p:spPr>
          <a:xfrm>
            <a:off x="640080" y="4846320"/>
            <a:ext cx="731520" cy="731520"/>
          </a:xfrm>
          <a:prstGeom prst="ellipse">
            <a:avLst/>
          </a:prstGeom>
          <a:solidFill>
            <a:schemeClr val="accent1"/>
          </a:solidFill>
          <a:ln/>
        </p:spPr>
      </p:sp>
      <p:sp>
        <p:nvSpPr>
          <p:cNvPr id="14" name="Text 11"/>
          <p:cNvSpPr txBox="1"/>
          <p:nvPr/>
        </p:nvSpPr>
        <p:spPr>
          <a:xfrm>
            <a:off x="640080" y="48463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15" name="Text 12"/>
          <p:cNvSpPr txBox="1"/>
          <p:nvPr/>
        </p:nvSpPr>
        <p:spPr>
          <a:xfrm>
            <a:off x="1645920" y="4846320"/>
            <a:ext cx="4572000" cy="731520"/>
          </a:xfrm>
          <a:prstGeom prst="rect">
            <a:avLst/>
          </a:prstGeom>
          <a:noFill/>
          <a:ln/>
        </p:spPr>
        <p:txBody>
          <a:bodyPr wrap="square" lIns="0" tIns="0" rIns="0" bIns="0" rtlCol="0" anchor="ctr"/>
          <a:lstStyle/>
          <a:p>
            <a:pPr indent="0" marL="0">
              <a:buNone/>
            </a:pPr>
            <a:r>
              <a:rPr lang="en-US" sz="1800" dirty="0">
                <a:solidFill>
                  <a:schemeClr val="bg1"/>
                </a:solidFill>
              </a:rPr>
              <a:t>Log a session and open the dashboard</a:t>
            </a:r>
            <a:endParaRPr lang="en-US" sz="1800" dirty="0"/>
          </a:p>
        </p:txBody>
      </p:sp>
      <p:sp>
        <p:nvSpPr>
          <p:cNvPr id="16" name="future-card"/>
          <p:cNvSpPr/>
          <p:nvPr/>
        </p:nvSpPr>
        <p:spPr>
          <a:xfrm>
            <a:off x="6675120" y="1463040"/>
            <a:ext cx="5029200" cy="4572000"/>
          </a:xfrm>
          <a:prstGeom prst="roundRect">
            <a:avLst>
              <a:gd name="adj" fmla="val 2400"/>
            </a:avLst>
          </a:prstGeom>
          <a:solidFill>
            <a:schemeClr val="tx2"/>
          </a:solidFill>
          <a:ln/>
        </p:spPr>
      </p:sp>
      <p:sp>
        <p:nvSpPr>
          <p:cNvPr id="17" name="Text 14"/>
          <p:cNvSpPr txBox="1"/>
          <p:nvPr/>
        </p:nvSpPr>
        <p:spPr>
          <a:xfrm>
            <a:off x="7040880" y="1737360"/>
            <a:ext cx="4297680" cy="457200"/>
          </a:xfrm>
          <a:prstGeom prst="rect">
            <a:avLst/>
          </a:prstGeom>
          <a:noFill/>
          <a:ln/>
        </p:spPr>
        <p:txBody>
          <a:bodyPr wrap="square" lIns="0" tIns="0" rIns="0" bIns="0" rtlCol="0" anchor="t"/>
          <a:lstStyle/>
          <a:p>
            <a:pPr indent="0" marL="0">
              <a:buNone/>
            </a:pPr>
            <a:r>
              <a:rPr lang="en-US" sz="2400" b="1" dirty="0">
                <a:solidFill>
                  <a:schemeClr val="bg1"/>
                </a:solidFill>
              </a:rPr>
              <a:t>Future scope</a:t>
            </a:r>
            <a:endParaRPr lang="en-US" sz="2400" dirty="0"/>
          </a:p>
        </p:txBody>
      </p:sp>
      <p:sp>
        <p:nvSpPr>
          <p:cNvPr id="18" name="Text 15"/>
          <p:cNvSpPr txBox="1"/>
          <p:nvPr/>
        </p:nvSpPr>
        <p:spPr>
          <a:xfrm>
            <a:off x="7040880" y="2468880"/>
            <a:ext cx="4297680" cy="32918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CSRF tokens on all forms</a:t>
            </a:r>
            <a:endParaRPr lang="en-US" sz="1600" dirty="0"/>
          </a:p>
          <a:p>
            <a:pPr marL="342900" indent="-342900">
              <a:spcAft>
                <a:spcPts val="800"/>
              </a:spcAft>
              <a:buSzPct val="100000"/>
              <a:buChar char="•"/>
            </a:pPr>
            <a:r>
              <a:rPr lang="en-US" sz="1600" dirty="0">
                <a:solidFill>
                  <a:schemeClr val="bg1"/>
                </a:solidFill>
              </a:rPr>
              <a:t>Admin approval for trainer accounts</a:t>
            </a:r>
            <a:endParaRPr lang="en-US" sz="1600" dirty="0"/>
          </a:p>
          <a:p>
            <a:pPr marL="342900" indent="-342900">
              <a:spcAft>
                <a:spcPts val="800"/>
              </a:spcAft>
              <a:buSzPct val="100000"/>
              <a:buChar char="•"/>
            </a:pPr>
            <a:r>
              <a:rPr lang="en-US" sz="1600" dirty="0">
                <a:solidFill>
                  <a:schemeClr val="bg1"/>
                </a:solidFill>
              </a:rPr>
              <a:t>Video lessons and weekly goals</a:t>
            </a:r>
            <a:endParaRPr lang="en-US" sz="1600" dirty="0"/>
          </a:p>
          <a:p>
            <a:pPr marL="342900" indent="-342900">
              <a:spcAft>
                <a:spcPts val="800"/>
              </a:spcAft>
              <a:buSzPct val="100000"/>
              <a:buChar char="•"/>
            </a:pPr>
            <a:r>
              <a:rPr lang="en-US" sz="1600" dirty="0">
                <a:solidFill>
                  <a:schemeClr val="bg1"/>
                </a:solidFill>
              </a:rPr>
              <a:t>Charts with Chart.js</a:t>
            </a:r>
            <a:endParaRPr lang="en-US" sz="1600" dirty="0"/>
          </a:p>
          <a:p>
            <a:pPr marL="342900" indent="-342900">
              <a:spcAft>
                <a:spcPts val="800"/>
              </a:spcAft>
              <a:buSzPct val="100000"/>
              <a:buChar char="•"/>
            </a:pPr>
            <a:r>
              <a:rPr lang="en-US" sz="1600" dirty="0">
                <a:solidFill>
                  <a:schemeClr val="bg1"/>
                </a:solidFill>
              </a:rPr>
              <a:t>REST API / Spring Boot version</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6949440" cy="1371600"/>
          </a:xfrm>
          <a:prstGeom prst="rect">
            <a:avLst/>
          </a:prstGeom>
          <a:noFill/>
          <a:ln/>
        </p:spPr>
        <p:txBody>
          <a:bodyPr wrap="square" lIns="0" tIns="0" rIns="0" bIns="0" rtlCol="0" anchor="b"/>
          <a:lstStyle/>
          <a:p>
            <a:pPr algn="l" indent="0" marL="0">
              <a:buNone/>
            </a:pPr>
            <a:r>
              <a:rPr lang="en-US" sz="6000" b="1" dirty="0">
                <a:solidFill>
                  <a:schemeClr val="bg1"/>
                </a:solidFill>
              </a:rPr>
              <a:t>Thank you</a:t>
            </a:r>
            <a:endParaRPr lang="en-US" sz="6000" dirty="0"/>
          </a:p>
        </p:txBody>
      </p:sp>
      <p:sp>
        <p:nvSpPr>
          <p:cNvPr id="3" name="Text 1"/>
          <p:cNvSpPr txBox="1"/>
          <p:nvPr/>
        </p:nvSpPr>
        <p:spPr>
          <a:xfrm>
            <a:off x="731520" y="3566160"/>
            <a:ext cx="6949440" cy="548640"/>
          </a:xfrm>
          <a:prstGeom prst="rect">
            <a:avLst/>
          </a:prstGeom>
          <a:noFill/>
          <a:ln/>
        </p:spPr>
        <p:txBody>
          <a:bodyPr wrap="square" lIns="0" tIns="0" rIns="0" bIns="0" rtlCol="0" anchor="t"/>
          <a:lstStyle/>
          <a:p>
            <a:pPr indent="0" marL="0">
              <a:buNone/>
            </a:pPr>
            <a:r>
              <a:rPr lang="en-US" sz="2800" b="1" dirty="0">
                <a:solidFill>
                  <a:schemeClr val="accent1"/>
                </a:solidFill>
              </a:rPr>
              <a:t>Questions?</a:t>
            </a:r>
            <a:endParaRPr lang="en-US" sz="2800" dirty="0"/>
          </a:p>
        </p:txBody>
      </p:sp>
      <p:sp>
        <p:nvSpPr>
          <p:cNvPr id="4" name="Text 2"/>
          <p:cNvSpPr txBox="1"/>
          <p:nvPr/>
        </p:nvSpPr>
        <p:spPr>
          <a:xfrm>
            <a:off x="731520" y="4297680"/>
            <a:ext cx="6949440" cy="365760"/>
          </a:xfrm>
          <a:prstGeom prst="rect">
            <a:avLst/>
          </a:prstGeom>
          <a:noFill/>
          <a:ln/>
        </p:spPr>
        <p:txBody>
          <a:bodyPr wrap="square" lIns="0" tIns="0" rIns="0" bIns="0" rtlCol="0" anchor="t"/>
          <a:lstStyle/>
          <a:p>
            <a:pPr indent="0" marL="0">
              <a:buNone/>
            </a:pPr>
            <a:r>
              <a:rPr lang="en-US" sz="1800" dirty="0">
                <a:solidFill>
                  <a:schemeClr val="bg1"/>
                </a:solidFill>
              </a:rPr>
              <a:t>github.com/&lt;your-username&gt;/fitpro</a:t>
            </a:r>
            <a:endParaRPr lang="en-US" sz="1800" dirty="0"/>
          </a:p>
        </p:txBody>
      </p:sp>
      <p:sp>
        <p:nvSpPr>
          <p:cNvPr id="5" name="hero-circle"/>
          <p:cNvSpPr/>
          <p:nvPr/>
        </p:nvSpPr>
        <p:spPr>
          <a:xfrm>
            <a:off x="8229600" y="1554480"/>
            <a:ext cx="3474720" cy="3474720"/>
          </a:xfrm>
          <a:prstGeom prst="ellipse">
            <a:avLst/>
          </a:prstGeom>
          <a:solidFill>
            <a:schemeClr val="accent1"/>
          </a:solidFill>
          <a:ln/>
        </p:spPr>
      </p:sp>
      <p:pic>
        <p:nvPicPr>
          <p:cNvPr id="6" name="hero-icon" descr="preencoded.png">    </p:cNvPr>
          <p:cNvPicPr>
            <a:picLocks noChangeAspect="1"/>
          </p:cNvPicPr>
          <p:nvPr/>
        </p:nvPicPr>
        <p:blipFill>
          <a:blip r:embed="rId1"/>
          <a:stretch>
            <a:fillRect/>
          </a:stretch>
        </p:blipFill>
        <p:spPr>
          <a:xfrm>
            <a:off x="8961120" y="2286000"/>
            <a:ext cx="2011680" cy="2011680"/>
          </a:xfrm>
          <a:prstGeom prst="rect">
            <a:avLst/>
          </a:prstGeom>
        </p:spPr>
      </p:pic>
    </p:spTree>
  </p:cSld>
  <p:clrMapOvr>
    <a:masterClrMapping/>
  </p:clrMapOvr>
</p:sld>
</file>

<file path=ppt/theme/theme1.xml><?xml version="1.0" encoding="utf-8"?>
<a:theme xmlns:a="http://schemas.openxmlformats.org/drawingml/2006/main" name="FitPro">
  <a:themeElements>
    <a:clrScheme name="FitPro">
      <a:dk1>
        <a:srgbClr val="14213D"/>
      </a:dk1>
      <a:lt1>
        <a:srgbClr val="FFFFFF"/>
      </a:lt1>
      <a:dk2>
        <a:srgbClr val="28407A"/>
      </a:dk2>
      <a:lt2>
        <a:srgbClr val="F4F6FB"/>
      </a:lt2>
      <a:accent1>
        <a:srgbClr val="FF5A1F"/>
      </a:accent1>
      <a:accent2>
        <a:srgbClr val="1E40AF"/>
      </a:accent2>
      <a:accent3>
        <a:srgbClr val="16A34A"/>
      </a:accent3>
      <a:accent4>
        <a:srgbClr val="F59E0B"/>
      </a:accent4>
      <a:accent5>
        <a:srgbClr val="6B7280"/>
      </a:accent5>
      <a:accent6>
        <a:srgbClr val="DC2626"/>
      </a:accent6>
      <a:hlink>
        <a:srgbClr val="1E40AF"/>
      </a:hlink>
      <a:folHlink>
        <a:srgbClr val="6B7280"/>
      </a:folHlink>
    </a:clrScheme>
    <a:fontScheme name="FitPr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FitPro - Online Fitness Training Platform</dc:title>
  <dc:subject>PptxGenJS Presentation</dc:subject>
  <dc:creator>PptxGenJS</dc:creator>
  <cp:lastModifiedBy>PptxGenJS</cp:lastModifiedBy>
  <cp:revision>1</cp:revision>
  <dcterms:created xsi:type="dcterms:W3CDTF">2026-10-06T05:51:39Z</dcterms:created>
  <dcterms:modified xsi:type="dcterms:W3CDTF">2026-10-06T05:51:39Z</dcterms:modified>
</cp:coreProperties>
</file>